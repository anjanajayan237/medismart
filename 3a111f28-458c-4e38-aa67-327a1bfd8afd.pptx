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6" r:id="rId14"/>
    <p:sldId id="287" r:id="rId15"/>
    <p:sldId id="288" r:id="rId16"/>
    <p:sldId id="289" r:id="rId17"/>
    <p:sldId id="290" r:id="rId18"/>
    <p:sldId id="291" r:id="rId19"/>
    <p:sldId id="292" r:id="rId20"/>
    <p:sldId id="293"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5"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sorterViewPr>
    <p:cViewPr>
      <p:scale>
        <a:sx n="150" d="100"/>
        <a:sy n="150" d="100"/>
      </p:scale>
      <p:origin x="0" y="-1827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0437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2356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2408A"/>
          </a:solidFill>
          <a:ln/>
        </p:spPr>
      </p:sp>
      <p:sp>
        <p:nvSpPr>
          <p:cNvPr id="3" name="Shape 1"/>
          <p:cNvSpPr/>
          <p:nvPr/>
        </p:nvSpPr>
        <p:spPr>
          <a:xfrm>
            <a:off x="0" y="868680"/>
            <a:ext cx="9144000" cy="36576"/>
          </a:xfrm>
          <a:prstGeom prst="rect">
            <a:avLst/>
          </a:prstGeom>
          <a:solidFill>
            <a:srgbClr val="1F6FD1"/>
          </a:solidFill>
          <a:ln/>
        </p:spPr>
      </p:sp>
      <p:sp>
        <p:nvSpPr>
          <p:cNvPr id="4" name="Shape 2"/>
          <p:cNvSpPr/>
          <p:nvPr/>
        </p:nvSpPr>
        <p:spPr>
          <a:xfrm>
            <a:off x="0" y="4754880"/>
            <a:ext cx="9144000" cy="9144"/>
          </a:xfrm>
          <a:prstGeom prst="rect">
            <a:avLst/>
          </a:prstGeom>
          <a:solidFill>
            <a:srgbClr val="D3E0F2"/>
          </a:solidFill>
          <a:ln/>
        </p:spPr>
      </p:sp>
      <p:sp>
        <p:nvSpPr>
          <p:cNvPr id="5" name="Text 3"/>
          <p:cNvSpPr/>
          <p:nvPr/>
        </p:nvSpPr>
        <p:spPr>
          <a:xfrm>
            <a:off x="457200" y="4828032"/>
            <a:ext cx="6400800" cy="228600"/>
          </a:xfrm>
          <a:prstGeom prst="rect">
            <a:avLst/>
          </a:prstGeom>
          <a:noFill/>
          <a:ln/>
        </p:spPr>
        <p:txBody>
          <a:bodyPr wrap="square" rtlCol="0" anchor="ctr"/>
          <a:lstStyle/>
          <a:p>
            <a:pPr marL="0" indent="0">
              <a:buNone/>
            </a:pPr>
            <a:r>
              <a:rPr lang="en-US" sz="800" dirty="0">
                <a:solidFill>
                  <a:srgbClr val="9DC3FF"/>
                </a:solidFill>
              </a:rPr>
              <a:t>MediSmart  |  MCA Mini Project Final Presentation  |  Anjana Jayan</a:t>
            </a:r>
            <a:endParaRPr lang="en-US" sz="800" dirty="0"/>
          </a:p>
        </p:txBody>
      </p:sp>
      <p:sp>
        <p:nvSpPr>
          <p:cNvPr id="6" name="Text 4"/>
          <p:cNvSpPr>
            <a:spLocks noGrp="1"/>
          </p:cNvSpPr>
          <p:nvPr>
            <p:ph type="title" idx="104" hasCustomPrompt="1"/>
          </p:nvPr>
        </p:nvSpPr>
        <p:spPr>
          <a:xfrm>
            <a:off x="914400" y="256032"/>
            <a:ext cx="7772400" cy="548640"/>
          </a:xfrm>
          <a:prstGeom prst="rect">
            <a:avLst/>
          </a:prstGeom>
          <a:noFill/>
          <a:ln/>
        </p:spPr>
        <p:txBody>
          <a:bodyPr wrap="square" rtlCol="0"/>
          <a:lstStyle>
            <a:lvl1pPr marL="0" indent="0" algn="l">
              <a:buNone/>
              <a:defRPr lang="en-US" sz="2400" b="1" dirty="0">
                <a:solidFill>
                  <a:srgbClr val="FFFFFF"/>
                </a:solidFill>
                <a:latin typeface="Georgia" pitchFamily="34" charset="0"/>
                <a:ea typeface="Georgia" pitchFamily="34" charset="-122"/>
                <a:cs typeface="Georgia" pitchFamily="34" charset="-120"/>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56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14.jpg"/></Relationships>
</file>

<file path=ppt/slides/_rels/slide2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jp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35040" y="-1097280"/>
            <a:ext cx="4206240" cy="4206240"/>
          </a:xfrm>
          <a:prstGeom prst="ellipse">
            <a:avLst/>
          </a:prstGeom>
          <a:solidFill>
            <a:srgbClr val="12408A"/>
          </a:solidFill>
          <a:ln/>
        </p:spPr>
      </p:sp>
      <p:sp>
        <p:nvSpPr>
          <p:cNvPr id="3" name="Shape 1"/>
          <p:cNvSpPr/>
          <p:nvPr/>
        </p:nvSpPr>
        <p:spPr>
          <a:xfrm>
            <a:off x="7315200" y="2194560"/>
            <a:ext cx="2743200" cy="2743200"/>
          </a:xfrm>
          <a:prstGeom prst="ellipse">
            <a:avLst/>
          </a:prstGeom>
          <a:solidFill>
            <a:srgbClr val="0F3577"/>
          </a:solidFill>
          <a:ln/>
        </p:spPr>
      </p:sp>
      <p:sp>
        <p:nvSpPr>
          <p:cNvPr id="4" name="Shape 2"/>
          <p:cNvSpPr/>
          <p:nvPr/>
        </p:nvSpPr>
        <p:spPr>
          <a:xfrm>
            <a:off x="7040880" y="548640"/>
            <a:ext cx="1280160" cy="1280160"/>
          </a:xfrm>
          <a:prstGeom prst="ellipse">
            <a:avLst/>
          </a:prstGeom>
          <a:solidFill>
            <a:srgbClr val="1F6FD1"/>
          </a:solidFill>
          <a:ln/>
        </p:spPr>
      </p:sp>
      <p:sp>
        <p:nvSpPr>
          <p:cNvPr id="5" name="Shape 3"/>
          <p:cNvSpPr/>
          <p:nvPr/>
        </p:nvSpPr>
        <p:spPr>
          <a:xfrm>
            <a:off x="7589520" y="868680"/>
            <a:ext cx="182880" cy="640080"/>
          </a:xfrm>
          <a:prstGeom prst="rect">
            <a:avLst/>
          </a:prstGeom>
          <a:solidFill>
            <a:srgbClr val="FFFFFF"/>
          </a:solidFill>
          <a:ln/>
        </p:spPr>
      </p:sp>
      <p:sp>
        <p:nvSpPr>
          <p:cNvPr id="6" name="Shape 4"/>
          <p:cNvSpPr/>
          <p:nvPr/>
        </p:nvSpPr>
        <p:spPr>
          <a:xfrm>
            <a:off x="7360920" y="1097280"/>
            <a:ext cx="640080" cy="182880"/>
          </a:xfrm>
          <a:prstGeom prst="rect">
            <a:avLst/>
          </a:prstGeom>
          <a:solidFill>
            <a:srgbClr val="FFFFFF"/>
          </a:solidFill>
          <a:ln/>
        </p:spPr>
      </p:sp>
      <p:sp>
        <p:nvSpPr>
          <p:cNvPr id="8" name="Text 6"/>
          <p:cNvSpPr txBox="1"/>
          <p:nvPr/>
        </p:nvSpPr>
        <p:spPr>
          <a:xfrm>
            <a:off x="548640" y="914400"/>
            <a:ext cx="6400800" cy="82296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MediSmart</a:t>
            </a:r>
            <a:endParaRPr lang="en-US" sz="4800" dirty="0"/>
          </a:p>
        </p:txBody>
      </p:sp>
      <p:sp>
        <p:nvSpPr>
          <p:cNvPr id="9" name="Text 7"/>
          <p:cNvSpPr txBox="1"/>
          <p:nvPr/>
        </p:nvSpPr>
        <p:spPr>
          <a:xfrm>
            <a:off x="548640" y="1737360"/>
            <a:ext cx="7315200" cy="457200"/>
          </a:xfrm>
          <a:prstGeom prst="rect">
            <a:avLst/>
          </a:prstGeom>
          <a:noFill/>
          <a:ln/>
        </p:spPr>
        <p:txBody>
          <a:bodyPr wrap="square" lIns="0" tIns="0" rIns="0" bIns="0" rtlCol="0" anchor="ctr"/>
          <a:lstStyle/>
          <a:p>
            <a:pPr marL="0" indent="0">
              <a:buNone/>
            </a:pPr>
            <a:r>
              <a:rPr lang="en-US" sz="2200" dirty="0">
                <a:solidFill>
                  <a:srgbClr val="D6E6FA"/>
                </a:solidFill>
                <a:latin typeface="Georgia" pitchFamily="34" charset="0"/>
                <a:ea typeface="Georgia" pitchFamily="34" charset="-122"/>
                <a:cs typeface="Georgia" pitchFamily="34" charset="-120"/>
              </a:rPr>
              <a:t>Smart Pharmacy &amp; Prescription System</a:t>
            </a:r>
            <a:endParaRPr lang="en-US" sz="2200" dirty="0"/>
          </a:p>
        </p:txBody>
      </p:sp>
      <p:sp>
        <p:nvSpPr>
          <p:cNvPr id="10" name="Text 8"/>
          <p:cNvSpPr txBox="1"/>
          <p:nvPr/>
        </p:nvSpPr>
        <p:spPr>
          <a:xfrm>
            <a:off x="548640" y="2757714"/>
            <a:ext cx="3840480" cy="1371600"/>
          </a:xfrm>
          <a:prstGeom prst="rect">
            <a:avLst/>
          </a:prstGeom>
          <a:noFill/>
          <a:ln/>
        </p:spPr>
        <p:txBody>
          <a:bodyPr wrap="square" lIns="0" tIns="0" rIns="0" bIns="0" rtlCol="0" anchor="ctr"/>
          <a:lstStyle/>
          <a:p>
            <a:pPr marL="0" indent="0">
              <a:buNone/>
            </a:pPr>
            <a:r>
              <a:rPr lang="en-US" sz="900" b="1" dirty="0">
                <a:solidFill>
                  <a:srgbClr val="9CC3F5"/>
                </a:solidFill>
              </a:rPr>
              <a:t>PRESENTED BY</a:t>
            </a:r>
            <a:endParaRPr lang="en-US" sz="900" dirty="0"/>
          </a:p>
          <a:p>
            <a:pPr marL="0" indent="0">
              <a:buNone/>
            </a:pPr>
            <a:r>
              <a:rPr lang="en-US" sz="1700" b="1" dirty="0">
                <a:solidFill>
                  <a:srgbClr val="FFFFFF"/>
                </a:solidFill>
              </a:rPr>
              <a:t>Anjana Jayan</a:t>
            </a:r>
            <a:endParaRPr lang="en-US" sz="900" dirty="0"/>
          </a:p>
          <a:p>
            <a:pPr marL="0" indent="0">
              <a:buNone/>
            </a:pPr>
            <a:r>
              <a:rPr lang="en-US" sz="1100" dirty="0">
                <a:solidFill>
                  <a:srgbClr val="FFFFFF"/>
                </a:solidFill>
              </a:rPr>
              <a:t>MLM25MCA-2020</a:t>
            </a:r>
            <a:endParaRPr lang="en-US" sz="900" dirty="0"/>
          </a:p>
          <a:p>
            <a:pPr marL="0" indent="0">
              <a:buNone/>
            </a:pPr>
            <a:r>
              <a:rPr lang="en-US" sz="1100" dirty="0">
                <a:solidFill>
                  <a:srgbClr val="FFFFFF"/>
                </a:solidFill>
              </a:rPr>
              <a:t>Department of Computer Applications</a:t>
            </a:r>
            <a:endParaRPr lang="en-US" sz="900" dirty="0"/>
          </a:p>
          <a:p>
            <a:pPr marL="0" indent="0">
              <a:buNone/>
            </a:pPr>
            <a:r>
              <a:rPr lang="en-US" sz="1100" dirty="0">
                <a:solidFill>
                  <a:srgbClr val="FFFFFF"/>
                </a:solidFill>
              </a:rPr>
              <a:t>Academic Year 2025–27</a:t>
            </a:r>
            <a:endParaRPr lang="en-US" sz="900" dirty="0"/>
          </a:p>
        </p:txBody>
      </p:sp>
      <p:sp>
        <p:nvSpPr>
          <p:cNvPr id="11" name="Text 9"/>
          <p:cNvSpPr txBox="1"/>
          <p:nvPr/>
        </p:nvSpPr>
        <p:spPr>
          <a:xfrm>
            <a:off x="4663440" y="2743200"/>
            <a:ext cx="3931920" cy="1371600"/>
          </a:xfrm>
          <a:prstGeom prst="rect">
            <a:avLst/>
          </a:prstGeom>
          <a:noFill/>
          <a:ln/>
        </p:spPr>
        <p:txBody>
          <a:bodyPr wrap="square" lIns="0" tIns="0" rIns="0" bIns="0" rtlCol="0" anchor="ctr"/>
          <a:lstStyle/>
          <a:p>
            <a:pPr marL="0" indent="0">
              <a:buNone/>
            </a:pPr>
            <a:r>
              <a:rPr lang="en-US" sz="900" b="1" dirty="0">
                <a:solidFill>
                  <a:srgbClr val="9CC3F5"/>
                </a:solidFill>
              </a:rPr>
              <a:t>GUIDE</a:t>
            </a:r>
            <a:endParaRPr lang="en-US" sz="900" dirty="0"/>
          </a:p>
          <a:p>
            <a:pPr marL="0" indent="0">
              <a:buNone/>
            </a:pPr>
            <a:r>
              <a:rPr lang="en-US" sz="1700" b="1" dirty="0">
                <a:solidFill>
                  <a:srgbClr val="FFFFFF"/>
                </a:solidFill>
              </a:rPr>
              <a:t>Mr. Eldhose K Paul</a:t>
            </a:r>
            <a:endParaRPr lang="en-US" sz="900" dirty="0"/>
          </a:p>
          <a:p>
            <a:pPr marL="0" indent="0">
              <a:buNone/>
            </a:pPr>
            <a:r>
              <a:rPr lang="en-US" sz="1100" dirty="0">
                <a:solidFill>
                  <a:srgbClr val="FFFFFF"/>
                </a:solidFill>
              </a:rPr>
              <a:t>Associate Professor</a:t>
            </a:r>
            <a:endParaRPr lang="en-US" sz="900" dirty="0"/>
          </a:p>
          <a:p>
            <a:pPr marL="0" indent="0">
              <a:buNone/>
            </a:pPr>
            <a:r>
              <a:rPr lang="en-US" sz="1100" dirty="0">
                <a:solidFill>
                  <a:srgbClr val="FFFFFF"/>
                </a:solidFill>
              </a:rPr>
              <a:t>Department of Computer Applications</a:t>
            </a:r>
            <a:endParaRPr lang="en-US" sz="900" dirty="0"/>
          </a:p>
        </p:txBody>
      </p:sp>
      <p:sp>
        <p:nvSpPr>
          <p:cNvPr id="12" name="Text 10"/>
          <p:cNvSpPr txBox="1"/>
          <p:nvPr/>
        </p:nvSpPr>
        <p:spPr>
          <a:xfrm>
            <a:off x="4663440" y="3720012"/>
            <a:ext cx="2261616" cy="303348"/>
          </a:xfrm>
          <a:prstGeom prst="rect">
            <a:avLst/>
          </a:prstGeom>
          <a:noFill/>
          <a:ln/>
        </p:spPr>
        <p:txBody>
          <a:bodyPr wrap="square" lIns="0" tIns="0" rIns="0" bIns="0" rtlCol="0" anchor="ctr"/>
          <a:lstStyle/>
          <a:p>
            <a:pPr marL="0" indent="0">
              <a:buNone/>
            </a:pPr>
            <a:r>
              <a:rPr lang="en-US" sz="1200" dirty="0">
                <a:solidFill>
                  <a:srgbClr val="FFFFFF"/>
                </a:solidFill>
              </a:rPr>
              <a:t>Mangalam College of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Introduction</a:t>
            </a:r>
            <a:endParaRPr lang="en-US" sz="2400" dirty="0"/>
          </a:p>
        </p:txBody>
      </p:sp>
      <p:sp>
        <p:nvSpPr>
          <p:cNvPr id="6" name="Shape 4"/>
          <p:cNvSpPr/>
          <p:nvPr/>
        </p:nvSpPr>
        <p:spPr>
          <a:xfrm>
            <a:off x="457200" y="1005840"/>
            <a:ext cx="4023360" cy="1645920"/>
          </a:xfrm>
          <a:prstGeom prst="roundRect">
            <a:avLst>
              <a:gd name="adj" fmla="val 4444"/>
            </a:avLst>
          </a:prstGeom>
          <a:solidFill>
            <a:srgbClr val="FFFFFF"/>
          </a:solidFill>
          <a:ln w="12700">
            <a:solidFill>
              <a:srgbClr val="D3E0F2"/>
            </a:solidFill>
            <a:prstDash val="solid"/>
          </a:ln>
        </p:spPr>
      </p:sp>
      <p:sp>
        <p:nvSpPr>
          <p:cNvPr id="7" name="Text 5"/>
          <p:cNvSpPr txBox="1"/>
          <p:nvPr/>
        </p:nvSpPr>
        <p:spPr>
          <a:xfrm>
            <a:off x="594360" y="107899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Background</a:t>
            </a:r>
            <a:endParaRPr lang="en-US" sz="1250" dirty="0"/>
          </a:p>
        </p:txBody>
      </p:sp>
      <p:sp>
        <p:nvSpPr>
          <p:cNvPr id="8" name="Text 6"/>
          <p:cNvSpPr txBox="1"/>
          <p:nvPr/>
        </p:nvSpPr>
        <p:spPr>
          <a:xfrm>
            <a:off x="594360" y="1408176"/>
            <a:ext cx="3749040" cy="1188720"/>
          </a:xfrm>
          <a:prstGeom prst="rect">
            <a:avLst/>
          </a:prstGeom>
          <a:noFill/>
          <a:ln/>
        </p:spPr>
        <p:txBody>
          <a:bodyPr wrap="square" lIns="0" tIns="0" rIns="0" bIns="0" rtlCol="0" anchor="t"/>
          <a:lstStyle/>
          <a:p>
            <a:pPr marL="0" indent="0">
              <a:spcAft>
                <a:spcPts val="300"/>
              </a:spcAft>
              <a:buNone/>
            </a:pPr>
            <a:r>
              <a:rPr lang="en-US" sz="1200" dirty="0">
                <a:solidFill>
                  <a:srgbClr val="16253D"/>
                </a:solidFill>
              </a:rPr>
              <a:t>Many pharmacies still use manual or semi-digital methods for prescriptions, stock and expiry tracking.</a:t>
            </a:r>
            <a:endParaRPr lang="en-US" sz="1200" dirty="0"/>
          </a:p>
        </p:txBody>
      </p:sp>
      <p:sp>
        <p:nvSpPr>
          <p:cNvPr id="9" name="Shape 7"/>
          <p:cNvSpPr/>
          <p:nvPr/>
        </p:nvSpPr>
        <p:spPr>
          <a:xfrm>
            <a:off x="4663440" y="1005840"/>
            <a:ext cx="4023360" cy="1645920"/>
          </a:xfrm>
          <a:prstGeom prst="roundRect">
            <a:avLst>
              <a:gd name="adj" fmla="val 4444"/>
            </a:avLst>
          </a:prstGeom>
          <a:solidFill>
            <a:srgbClr val="FFFFFF"/>
          </a:solidFill>
          <a:ln w="12700">
            <a:solidFill>
              <a:srgbClr val="D3E0F2"/>
            </a:solidFill>
            <a:prstDash val="solid"/>
          </a:ln>
        </p:spPr>
      </p:sp>
      <p:sp>
        <p:nvSpPr>
          <p:cNvPr id="10" name="Text 8"/>
          <p:cNvSpPr txBox="1"/>
          <p:nvPr/>
        </p:nvSpPr>
        <p:spPr>
          <a:xfrm>
            <a:off x="4800600" y="107899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Problem</a:t>
            </a:r>
            <a:endParaRPr lang="en-US" sz="1250" dirty="0"/>
          </a:p>
        </p:txBody>
      </p:sp>
      <p:sp>
        <p:nvSpPr>
          <p:cNvPr id="11" name="Text 9"/>
          <p:cNvSpPr txBox="1"/>
          <p:nvPr/>
        </p:nvSpPr>
        <p:spPr>
          <a:xfrm>
            <a:off x="4800600" y="1408176"/>
            <a:ext cx="3749040" cy="1188720"/>
          </a:xfrm>
          <a:prstGeom prst="rect">
            <a:avLst/>
          </a:prstGeom>
          <a:noFill/>
          <a:ln/>
        </p:spPr>
        <p:txBody>
          <a:bodyPr wrap="square" lIns="0" tIns="0" rIns="0" bIns="0" rtlCol="0" anchor="t"/>
          <a:lstStyle/>
          <a:p>
            <a:pPr marL="0" indent="0">
              <a:spcAft>
                <a:spcPts val="300"/>
              </a:spcAft>
              <a:buNone/>
            </a:pPr>
            <a:r>
              <a:rPr lang="en-US" sz="1200" dirty="0">
                <a:solidFill>
                  <a:srgbClr val="16253D"/>
                </a:solidFill>
              </a:rPr>
              <a:t>Manual records cause errors and delays; customers cannot check availability or order online.</a:t>
            </a:r>
            <a:endParaRPr lang="en-US" sz="1200" dirty="0"/>
          </a:p>
        </p:txBody>
      </p:sp>
      <p:sp>
        <p:nvSpPr>
          <p:cNvPr id="12" name="Shape 10"/>
          <p:cNvSpPr/>
          <p:nvPr/>
        </p:nvSpPr>
        <p:spPr>
          <a:xfrm>
            <a:off x="457200" y="2788920"/>
            <a:ext cx="4023360" cy="1645920"/>
          </a:xfrm>
          <a:prstGeom prst="roundRect">
            <a:avLst>
              <a:gd name="adj" fmla="val 4444"/>
            </a:avLst>
          </a:prstGeom>
          <a:solidFill>
            <a:srgbClr val="FFFFFF"/>
          </a:solidFill>
          <a:ln w="12700">
            <a:solidFill>
              <a:srgbClr val="D3E0F2"/>
            </a:solidFill>
            <a:prstDash val="solid"/>
          </a:ln>
        </p:spPr>
      </p:sp>
      <p:sp>
        <p:nvSpPr>
          <p:cNvPr id="13" name="Text 11"/>
          <p:cNvSpPr txBox="1"/>
          <p:nvPr/>
        </p:nvSpPr>
        <p:spPr>
          <a:xfrm>
            <a:off x="594360" y="286207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Purpose of MediSmart</a:t>
            </a:r>
            <a:endParaRPr lang="en-US" sz="1250" dirty="0"/>
          </a:p>
        </p:txBody>
      </p:sp>
      <p:sp>
        <p:nvSpPr>
          <p:cNvPr id="14" name="Text 12"/>
          <p:cNvSpPr txBox="1"/>
          <p:nvPr/>
        </p:nvSpPr>
        <p:spPr>
          <a:xfrm>
            <a:off x="594360" y="3191256"/>
            <a:ext cx="3749040" cy="1188720"/>
          </a:xfrm>
          <a:prstGeom prst="rect">
            <a:avLst/>
          </a:prstGeom>
          <a:noFill/>
          <a:ln/>
        </p:spPr>
        <p:txBody>
          <a:bodyPr wrap="square" lIns="0" tIns="0" rIns="0" bIns="0" rtlCol="0" anchor="t"/>
          <a:lstStyle/>
          <a:p>
            <a:pPr marL="0" indent="0">
              <a:spcAft>
                <a:spcPts val="300"/>
              </a:spcAft>
              <a:buNone/>
            </a:pPr>
            <a:r>
              <a:rPr lang="en-US" sz="1200" dirty="0">
                <a:solidFill>
                  <a:srgbClr val="16253D"/>
                </a:solidFill>
              </a:rPr>
              <a:t>A web-based platform connecting customers and pharmacies: search, prescription upload, ordering and pharmacy management.</a:t>
            </a:r>
            <a:endParaRPr lang="en-US" sz="1200" dirty="0"/>
          </a:p>
        </p:txBody>
      </p:sp>
      <p:sp>
        <p:nvSpPr>
          <p:cNvPr id="15" name="Shape 13"/>
          <p:cNvSpPr/>
          <p:nvPr/>
        </p:nvSpPr>
        <p:spPr>
          <a:xfrm>
            <a:off x="4663440" y="2788920"/>
            <a:ext cx="4023360" cy="1645920"/>
          </a:xfrm>
          <a:prstGeom prst="roundRect">
            <a:avLst>
              <a:gd name="adj" fmla="val 4444"/>
            </a:avLst>
          </a:prstGeom>
          <a:solidFill>
            <a:srgbClr val="FFFFFF"/>
          </a:solidFill>
          <a:ln w="12700">
            <a:solidFill>
              <a:srgbClr val="D3E0F2"/>
            </a:solidFill>
            <a:prstDash val="solid"/>
          </a:ln>
        </p:spPr>
      </p:sp>
      <p:sp>
        <p:nvSpPr>
          <p:cNvPr id="16" name="Text 14"/>
          <p:cNvSpPr txBox="1"/>
          <p:nvPr/>
        </p:nvSpPr>
        <p:spPr>
          <a:xfrm>
            <a:off x="4800600" y="286207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Importance</a:t>
            </a:r>
            <a:endParaRPr lang="en-US" sz="1250" dirty="0"/>
          </a:p>
        </p:txBody>
      </p:sp>
      <p:sp>
        <p:nvSpPr>
          <p:cNvPr id="17" name="Text 15"/>
          <p:cNvSpPr txBox="1"/>
          <p:nvPr/>
        </p:nvSpPr>
        <p:spPr>
          <a:xfrm>
            <a:off x="4800600" y="3191256"/>
            <a:ext cx="3749040" cy="1188720"/>
          </a:xfrm>
          <a:prstGeom prst="rect">
            <a:avLst/>
          </a:prstGeom>
          <a:noFill/>
          <a:ln/>
        </p:spPr>
        <p:txBody>
          <a:bodyPr wrap="square" lIns="0" tIns="0" rIns="0" bIns="0" rtlCol="0" anchor="t"/>
          <a:lstStyle/>
          <a:p>
            <a:pPr marL="0" indent="0">
              <a:spcAft>
                <a:spcPts val="300"/>
              </a:spcAft>
              <a:buNone/>
            </a:pPr>
            <a:r>
              <a:rPr lang="en-US" sz="1200" dirty="0">
                <a:solidFill>
                  <a:srgbClr val="16253D"/>
                </a:solidFill>
              </a:rPr>
              <a:t>AI-assisted prescription reading saves effort, while admin review keeps verification safe.</a:t>
            </a:r>
            <a:endParaRPr lang="en-US" sz="12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icon"/>
          <p:cNvSpPr/>
          <p:nvPr/>
        </p:nvSpPr>
        <p:spPr>
          <a:xfrm>
            <a:off x="326537" y="415571"/>
            <a:ext cx="384048" cy="384048"/>
          </a:xfrm>
          <a:prstGeom prst="ellipse">
            <a:avLst/>
          </a:prstGeom>
          <a:solidFill>
            <a:srgbClr val="1F6FD1"/>
          </a:solidFill>
          <a:ln/>
        </p:spPr>
      </p:sp>
      <p:sp>
        <p:nvSpPr>
          <p:cNvPr id="3" name="Shape 1"/>
          <p:cNvSpPr/>
          <p:nvPr/>
        </p:nvSpPr>
        <p:spPr>
          <a:xfrm>
            <a:off x="491129" y="511583"/>
            <a:ext cx="73152" cy="219456"/>
          </a:xfrm>
          <a:prstGeom prst="rect">
            <a:avLst/>
          </a:prstGeom>
          <a:solidFill>
            <a:srgbClr val="FFFFFF"/>
          </a:solidFill>
          <a:ln/>
        </p:spPr>
      </p:sp>
      <p:sp>
        <p:nvSpPr>
          <p:cNvPr id="4" name="Shape 2"/>
          <p:cNvSpPr/>
          <p:nvPr/>
        </p:nvSpPr>
        <p:spPr>
          <a:xfrm>
            <a:off x="417977" y="584735"/>
            <a:ext cx="219456" cy="73152"/>
          </a:xfrm>
          <a:prstGeom prst="rect">
            <a:avLst/>
          </a:prstGeom>
          <a:solidFill>
            <a:srgbClr val="FFFFFF"/>
          </a:solidFill>
          <a:ln/>
        </p:spPr>
        <p:txBody>
          <a:bodyPr/>
          <a:lstStyle/>
          <a:p>
            <a:endParaRPr lang="en-IN" dirty="0"/>
          </a:p>
        </p:txBody>
      </p:sp>
      <p:sp>
        <p:nvSpPr>
          <p:cNvPr id="5" name="Text 4"/>
          <p:cNvSpPr>
            <a:spLocks noGrp="1"/>
          </p:cNvSpPr>
          <p:nvPr>
            <p:ph type="title" idx="104" hasCustomPrompt="1"/>
          </p:nvPr>
        </p:nvSpPr>
        <p:spPr>
          <a:xfrm>
            <a:off x="931244" y="314987"/>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Abstract</a:t>
            </a:r>
            <a:endParaRPr lang="en-US" sz="2400" dirty="0"/>
          </a:p>
        </p:txBody>
      </p:sp>
      <p:sp>
        <p:nvSpPr>
          <p:cNvPr id="6" name="Shape 4"/>
          <p:cNvSpPr/>
          <p:nvPr/>
        </p:nvSpPr>
        <p:spPr>
          <a:xfrm>
            <a:off x="335681" y="1567715"/>
            <a:ext cx="8229600" cy="658368"/>
          </a:xfrm>
          <a:prstGeom prst="roundRect">
            <a:avLst>
              <a:gd name="adj" fmla="val 11111"/>
            </a:avLst>
          </a:prstGeom>
          <a:solidFill>
            <a:srgbClr val="EEF3FB"/>
          </a:solidFill>
          <a:ln w="12700">
            <a:solidFill>
              <a:srgbClr val="D3E0F2"/>
            </a:solidFill>
            <a:prstDash val="solid"/>
          </a:ln>
        </p:spPr>
      </p:sp>
      <p:sp>
        <p:nvSpPr>
          <p:cNvPr id="7" name="Text 5"/>
          <p:cNvSpPr txBox="1"/>
          <p:nvPr/>
        </p:nvSpPr>
        <p:spPr>
          <a:xfrm>
            <a:off x="518561" y="1567715"/>
            <a:ext cx="1554480" cy="658368"/>
          </a:xfrm>
          <a:prstGeom prst="rect">
            <a:avLst/>
          </a:prstGeom>
          <a:noFill/>
          <a:ln/>
        </p:spPr>
        <p:txBody>
          <a:bodyPr wrap="square" lIns="0" tIns="0" rIns="0" bIns="0" rtlCol="0" anchor="ctr"/>
          <a:lstStyle/>
          <a:p>
            <a:pPr marL="0" indent="0">
              <a:buNone/>
            </a:pPr>
            <a:r>
              <a:rPr lang="en-US" sz="1200" b="1" dirty="0">
                <a:solidFill>
                  <a:srgbClr val="1F6FD1"/>
                </a:solidFill>
              </a:rPr>
              <a:t>Overview</a:t>
            </a:r>
            <a:endParaRPr lang="en-US" sz="1200" dirty="0"/>
          </a:p>
        </p:txBody>
      </p:sp>
      <p:sp>
        <p:nvSpPr>
          <p:cNvPr id="8" name="Text 6"/>
          <p:cNvSpPr txBox="1"/>
          <p:nvPr/>
        </p:nvSpPr>
        <p:spPr>
          <a:xfrm>
            <a:off x="2073041" y="1567715"/>
            <a:ext cx="6309360" cy="658368"/>
          </a:xfrm>
          <a:prstGeom prst="rect">
            <a:avLst/>
          </a:prstGeom>
          <a:noFill/>
          <a:ln/>
        </p:spPr>
        <p:txBody>
          <a:bodyPr wrap="square" lIns="0" tIns="0" rIns="0" bIns="0" rtlCol="0" anchor="ctr"/>
          <a:lstStyle/>
          <a:p>
            <a:pPr marL="0" indent="0">
              <a:buNone/>
            </a:pPr>
            <a:r>
              <a:rPr lang="en-US" sz="1100" dirty="0">
                <a:solidFill>
                  <a:srgbClr val="16253D"/>
                </a:solidFill>
              </a:rPr>
              <a:t>Web-based smart pharmacy system with a customer interface and an administrator interface.</a:t>
            </a:r>
            <a:endParaRPr lang="en-US" sz="1100" dirty="0"/>
          </a:p>
        </p:txBody>
      </p:sp>
      <p:sp>
        <p:nvSpPr>
          <p:cNvPr id="9" name="Shape 7"/>
          <p:cNvSpPr/>
          <p:nvPr/>
        </p:nvSpPr>
        <p:spPr>
          <a:xfrm>
            <a:off x="335681" y="2317523"/>
            <a:ext cx="8229600" cy="658368"/>
          </a:xfrm>
          <a:prstGeom prst="roundRect">
            <a:avLst>
              <a:gd name="adj" fmla="val 11111"/>
            </a:avLst>
          </a:prstGeom>
          <a:solidFill>
            <a:srgbClr val="EEF3FB"/>
          </a:solidFill>
          <a:ln w="12700">
            <a:solidFill>
              <a:srgbClr val="D3E0F2"/>
            </a:solidFill>
            <a:prstDash val="solid"/>
          </a:ln>
        </p:spPr>
      </p:sp>
      <p:sp>
        <p:nvSpPr>
          <p:cNvPr id="10" name="Text 8"/>
          <p:cNvSpPr txBox="1"/>
          <p:nvPr/>
        </p:nvSpPr>
        <p:spPr>
          <a:xfrm>
            <a:off x="518561" y="2317523"/>
            <a:ext cx="1554480" cy="658368"/>
          </a:xfrm>
          <a:prstGeom prst="rect">
            <a:avLst/>
          </a:prstGeom>
          <a:noFill/>
          <a:ln/>
        </p:spPr>
        <p:txBody>
          <a:bodyPr wrap="square" lIns="0" tIns="0" rIns="0" bIns="0" rtlCol="0" anchor="ctr"/>
          <a:lstStyle/>
          <a:p>
            <a:pPr marL="0" indent="0">
              <a:buNone/>
            </a:pPr>
            <a:r>
              <a:rPr lang="en-US" sz="1200" b="1" dirty="0">
                <a:solidFill>
                  <a:srgbClr val="1F6FD1"/>
                </a:solidFill>
              </a:rPr>
              <a:t>Problem</a:t>
            </a:r>
            <a:endParaRPr lang="en-US" sz="1200" dirty="0"/>
          </a:p>
        </p:txBody>
      </p:sp>
      <p:sp>
        <p:nvSpPr>
          <p:cNvPr id="11" name="Text 9"/>
          <p:cNvSpPr txBox="1"/>
          <p:nvPr/>
        </p:nvSpPr>
        <p:spPr>
          <a:xfrm>
            <a:off x="2073041" y="2317523"/>
            <a:ext cx="6309360" cy="658368"/>
          </a:xfrm>
          <a:prstGeom prst="rect">
            <a:avLst/>
          </a:prstGeom>
          <a:noFill/>
          <a:ln/>
        </p:spPr>
        <p:txBody>
          <a:bodyPr wrap="square" lIns="0" tIns="0" rIns="0" bIns="0" rtlCol="0" anchor="ctr"/>
          <a:lstStyle/>
          <a:p>
            <a:pPr marL="0" indent="0">
              <a:buNone/>
            </a:pPr>
            <a:r>
              <a:rPr lang="en-US" sz="1100" dirty="0">
                <a:solidFill>
                  <a:srgbClr val="16253D"/>
                </a:solidFill>
              </a:rPr>
              <a:t>Inventory, prescription verification and ordering are handled separately and mostly by hand.</a:t>
            </a:r>
            <a:endParaRPr lang="en-US" sz="1100" dirty="0"/>
          </a:p>
        </p:txBody>
      </p:sp>
      <p:sp>
        <p:nvSpPr>
          <p:cNvPr id="12" name="Shape 10"/>
          <p:cNvSpPr/>
          <p:nvPr/>
        </p:nvSpPr>
        <p:spPr>
          <a:xfrm>
            <a:off x="335681" y="3067331"/>
            <a:ext cx="8229600" cy="658368"/>
          </a:xfrm>
          <a:prstGeom prst="roundRect">
            <a:avLst>
              <a:gd name="adj" fmla="val 11111"/>
            </a:avLst>
          </a:prstGeom>
          <a:solidFill>
            <a:srgbClr val="EEF3FB"/>
          </a:solidFill>
          <a:ln w="12700">
            <a:solidFill>
              <a:srgbClr val="D3E0F2"/>
            </a:solidFill>
            <a:prstDash val="solid"/>
          </a:ln>
        </p:spPr>
      </p:sp>
      <p:sp>
        <p:nvSpPr>
          <p:cNvPr id="13" name="Text 11"/>
          <p:cNvSpPr txBox="1"/>
          <p:nvPr/>
        </p:nvSpPr>
        <p:spPr>
          <a:xfrm>
            <a:off x="518561" y="3067331"/>
            <a:ext cx="1554480" cy="658368"/>
          </a:xfrm>
          <a:prstGeom prst="rect">
            <a:avLst/>
          </a:prstGeom>
          <a:noFill/>
          <a:ln/>
        </p:spPr>
        <p:txBody>
          <a:bodyPr wrap="square" lIns="0" tIns="0" rIns="0" bIns="0" rtlCol="0" anchor="ctr"/>
          <a:lstStyle/>
          <a:p>
            <a:pPr marL="0" indent="0">
              <a:buNone/>
            </a:pPr>
            <a:r>
              <a:rPr lang="en-US" sz="1200" b="1" dirty="0">
                <a:solidFill>
                  <a:srgbClr val="1F6FD1"/>
                </a:solidFill>
              </a:rPr>
              <a:t>Solution</a:t>
            </a:r>
            <a:endParaRPr lang="en-US" sz="1200" dirty="0"/>
          </a:p>
        </p:txBody>
      </p:sp>
      <p:sp>
        <p:nvSpPr>
          <p:cNvPr id="14" name="Text 12"/>
          <p:cNvSpPr txBox="1"/>
          <p:nvPr/>
        </p:nvSpPr>
        <p:spPr>
          <a:xfrm>
            <a:off x="2073041" y="3067331"/>
            <a:ext cx="6309360" cy="658368"/>
          </a:xfrm>
          <a:prstGeom prst="rect">
            <a:avLst/>
          </a:prstGeom>
          <a:noFill/>
          <a:ln/>
        </p:spPr>
        <p:txBody>
          <a:bodyPr wrap="square" lIns="0" tIns="0" rIns="0" bIns="0" rtlCol="0" anchor="ctr"/>
          <a:lstStyle/>
          <a:p>
            <a:pPr marL="0" indent="0">
              <a:buNone/>
            </a:pPr>
            <a:r>
              <a:rPr lang="en-US" sz="1100" dirty="0">
                <a:solidFill>
                  <a:srgbClr val="16253D"/>
                </a:solidFill>
              </a:rPr>
              <a:t>One platform for medicine search, prescription upload, AI-assisted verification, ordering, stock and expiry management, and chatbot help.</a:t>
            </a:r>
            <a:endParaRPr lang="en-US" sz="1100" dirty="0"/>
          </a:p>
        </p:txBody>
      </p:sp>
      <p:sp>
        <p:nvSpPr>
          <p:cNvPr id="15" name="Shape 13"/>
          <p:cNvSpPr/>
          <p:nvPr/>
        </p:nvSpPr>
        <p:spPr>
          <a:xfrm>
            <a:off x="335681" y="3817139"/>
            <a:ext cx="8229600" cy="658368"/>
          </a:xfrm>
          <a:prstGeom prst="roundRect">
            <a:avLst>
              <a:gd name="adj" fmla="val 11111"/>
            </a:avLst>
          </a:prstGeom>
          <a:solidFill>
            <a:srgbClr val="EEF3FB"/>
          </a:solidFill>
          <a:ln w="12700">
            <a:solidFill>
              <a:srgbClr val="D3E0F2"/>
            </a:solidFill>
            <a:prstDash val="solid"/>
          </a:ln>
        </p:spPr>
      </p:sp>
      <p:sp>
        <p:nvSpPr>
          <p:cNvPr id="16" name="Text 14"/>
          <p:cNvSpPr txBox="1"/>
          <p:nvPr/>
        </p:nvSpPr>
        <p:spPr>
          <a:xfrm>
            <a:off x="518561" y="3817139"/>
            <a:ext cx="1554480" cy="658368"/>
          </a:xfrm>
          <a:prstGeom prst="rect">
            <a:avLst/>
          </a:prstGeom>
          <a:noFill/>
          <a:ln/>
        </p:spPr>
        <p:txBody>
          <a:bodyPr wrap="square" lIns="0" tIns="0" rIns="0" bIns="0" rtlCol="0" anchor="ctr"/>
          <a:lstStyle/>
          <a:p>
            <a:pPr marL="0" indent="0">
              <a:buNone/>
            </a:pPr>
            <a:r>
              <a:rPr lang="en-US" sz="1200" b="1" dirty="0">
                <a:solidFill>
                  <a:srgbClr val="1F6FD1"/>
                </a:solidFill>
              </a:rPr>
              <a:t>Technologies</a:t>
            </a:r>
            <a:endParaRPr lang="en-US" sz="1200" dirty="0"/>
          </a:p>
        </p:txBody>
      </p:sp>
      <p:sp>
        <p:nvSpPr>
          <p:cNvPr id="17" name="Text 15"/>
          <p:cNvSpPr txBox="1"/>
          <p:nvPr/>
        </p:nvSpPr>
        <p:spPr>
          <a:xfrm>
            <a:off x="2073041" y="3817139"/>
            <a:ext cx="6309360" cy="658368"/>
          </a:xfrm>
          <a:prstGeom prst="rect">
            <a:avLst/>
          </a:prstGeom>
          <a:noFill/>
          <a:ln/>
        </p:spPr>
        <p:txBody>
          <a:bodyPr wrap="square" lIns="0" tIns="0" rIns="0" bIns="0" rtlCol="0" anchor="ctr"/>
          <a:lstStyle/>
          <a:p>
            <a:pPr marL="0" indent="0">
              <a:buNone/>
            </a:pPr>
            <a:r>
              <a:rPr lang="en-US" sz="1100" dirty="0">
                <a:solidFill>
                  <a:srgbClr val="16253D"/>
                </a:solidFill>
              </a:rPr>
              <a:t>HTML, CSS, JavaScript, Bootstrap · Python Flask · SQLite · Tesseract OCR, TrOCR, Google Gemini API</a:t>
            </a:r>
            <a:endParaRPr lang="en-US" sz="1100" dirty="0"/>
          </a:p>
        </p:txBody>
      </p:sp>
      <p:sp>
        <p:nvSpPr>
          <p:cNvPr id="25" name="Slide Number Placeholder 0"/>
          <p:cNvSpPr>
            <a:spLocks noGrp="1"/>
          </p:cNvSpPr>
          <p:nvPr>
            <p:ph type="sldNum" sz="quarter" idx="4294967295"/>
          </p:nvPr>
        </p:nvSpPr>
        <p:spPr>
          <a:xfrm>
            <a:off x="8199521" y="5435627"/>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Problem Definition</a:t>
            </a:r>
            <a:endParaRPr lang="en-US" sz="2400" dirty="0"/>
          </a:p>
        </p:txBody>
      </p:sp>
      <p:sp>
        <p:nvSpPr>
          <p:cNvPr id="6" name="Shape 4"/>
          <p:cNvSpPr/>
          <p:nvPr/>
        </p:nvSpPr>
        <p:spPr>
          <a:xfrm>
            <a:off x="457200" y="1005840"/>
            <a:ext cx="8229600" cy="1371600"/>
          </a:xfrm>
          <a:prstGeom prst="roundRect">
            <a:avLst>
              <a:gd name="adj" fmla="val 6667"/>
            </a:avLst>
          </a:prstGeom>
          <a:solidFill>
            <a:srgbClr val="12408A"/>
          </a:solidFill>
          <a:ln w="19050">
            <a:solidFill>
              <a:srgbClr val="1F6FD1"/>
            </a:solidFill>
            <a:prstDash val="solid"/>
          </a:ln>
        </p:spPr>
      </p:sp>
      <p:sp>
        <p:nvSpPr>
          <p:cNvPr id="7" name="Text 5"/>
          <p:cNvSpPr txBox="1"/>
          <p:nvPr/>
        </p:nvSpPr>
        <p:spPr>
          <a:xfrm>
            <a:off x="731520" y="1005840"/>
            <a:ext cx="7680960" cy="13716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Pharmacy inventory, prescription verification and customer ordering are handled separately and largely by hand, with no shared digital platform connecting customers and pharmacies.</a:t>
            </a:r>
            <a:endParaRPr lang="en-US" sz="1700" dirty="0"/>
          </a:p>
        </p:txBody>
      </p:sp>
      <p:sp>
        <p:nvSpPr>
          <p:cNvPr id="8" name="Shape 6"/>
          <p:cNvSpPr/>
          <p:nvPr/>
        </p:nvSpPr>
        <p:spPr>
          <a:xfrm>
            <a:off x="457200" y="2651760"/>
            <a:ext cx="1965960" cy="1737360"/>
          </a:xfrm>
          <a:prstGeom prst="roundRect">
            <a:avLst>
              <a:gd name="adj" fmla="val 4211"/>
            </a:avLst>
          </a:prstGeom>
          <a:solidFill>
            <a:srgbClr val="FFFFFF"/>
          </a:solidFill>
          <a:ln w="12700">
            <a:solidFill>
              <a:srgbClr val="D3E0F2"/>
            </a:solidFill>
            <a:prstDash val="solid"/>
          </a:ln>
        </p:spPr>
      </p:sp>
      <p:sp>
        <p:nvSpPr>
          <p:cNvPr id="9" name="Text 7"/>
          <p:cNvSpPr txBox="1"/>
          <p:nvPr/>
        </p:nvSpPr>
        <p:spPr>
          <a:xfrm>
            <a:off x="594360" y="2724912"/>
            <a:ext cx="1691640" cy="310896"/>
          </a:xfrm>
          <a:prstGeom prst="rect">
            <a:avLst/>
          </a:prstGeom>
          <a:noFill/>
          <a:ln/>
        </p:spPr>
        <p:txBody>
          <a:bodyPr wrap="square" lIns="0" tIns="0" rIns="0" bIns="0" rtlCol="0" anchor="ctr"/>
          <a:lstStyle/>
          <a:p>
            <a:pPr marL="0" indent="0">
              <a:buNone/>
            </a:pPr>
            <a:r>
              <a:rPr lang="en-US" sz="1200" b="1" dirty="0">
                <a:solidFill>
                  <a:srgbClr val="1F6FD1"/>
                </a:solidFill>
              </a:rPr>
              <a:t>Data inaccuracy</a:t>
            </a:r>
            <a:endParaRPr lang="en-US" sz="1200" dirty="0"/>
          </a:p>
        </p:txBody>
      </p:sp>
      <p:sp>
        <p:nvSpPr>
          <p:cNvPr id="10" name="Text 8"/>
          <p:cNvSpPr txBox="1"/>
          <p:nvPr/>
        </p:nvSpPr>
        <p:spPr>
          <a:xfrm>
            <a:off x="594360" y="3054096"/>
            <a:ext cx="1691640" cy="128016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Manual entry gives wrong stock levels and medicine details.</a:t>
            </a:r>
            <a:endParaRPr lang="en-US" sz="1050" dirty="0"/>
          </a:p>
        </p:txBody>
      </p:sp>
      <p:sp>
        <p:nvSpPr>
          <p:cNvPr id="11" name="Shape 9"/>
          <p:cNvSpPr/>
          <p:nvPr/>
        </p:nvSpPr>
        <p:spPr>
          <a:xfrm>
            <a:off x="2542032" y="2651760"/>
            <a:ext cx="1965960" cy="1737360"/>
          </a:xfrm>
          <a:prstGeom prst="roundRect">
            <a:avLst>
              <a:gd name="adj" fmla="val 4211"/>
            </a:avLst>
          </a:prstGeom>
          <a:solidFill>
            <a:srgbClr val="FFFFFF"/>
          </a:solidFill>
          <a:ln w="12700">
            <a:solidFill>
              <a:srgbClr val="D3E0F2"/>
            </a:solidFill>
            <a:prstDash val="solid"/>
          </a:ln>
        </p:spPr>
      </p:sp>
      <p:sp>
        <p:nvSpPr>
          <p:cNvPr id="12" name="Text 10"/>
          <p:cNvSpPr txBox="1"/>
          <p:nvPr/>
        </p:nvSpPr>
        <p:spPr>
          <a:xfrm>
            <a:off x="2679192" y="2724912"/>
            <a:ext cx="1691640" cy="310896"/>
          </a:xfrm>
          <a:prstGeom prst="rect">
            <a:avLst/>
          </a:prstGeom>
          <a:noFill/>
          <a:ln/>
        </p:spPr>
        <p:txBody>
          <a:bodyPr wrap="square" lIns="0" tIns="0" rIns="0" bIns="0" rtlCol="0" anchor="ctr"/>
          <a:lstStyle/>
          <a:p>
            <a:pPr marL="0" indent="0">
              <a:buNone/>
            </a:pPr>
            <a:r>
              <a:rPr lang="en-US" sz="1200" b="1" dirty="0">
                <a:solidFill>
                  <a:srgbClr val="1F6FD1"/>
                </a:solidFill>
              </a:rPr>
              <a:t>Slow verification</a:t>
            </a:r>
            <a:endParaRPr lang="en-US" sz="1200" dirty="0"/>
          </a:p>
        </p:txBody>
      </p:sp>
      <p:sp>
        <p:nvSpPr>
          <p:cNvPr id="13" name="Text 11"/>
          <p:cNvSpPr txBox="1"/>
          <p:nvPr/>
        </p:nvSpPr>
        <p:spPr>
          <a:xfrm>
            <a:off x="2679192" y="3054096"/>
            <a:ext cx="1691640" cy="128016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Prescriptions are read and checked by hand.</a:t>
            </a:r>
            <a:endParaRPr lang="en-US" sz="1050" dirty="0"/>
          </a:p>
        </p:txBody>
      </p:sp>
      <p:sp>
        <p:nvSpPr>
          <p:cNvPr id="14" name="Shape 12"/>
          <p:cNvSpPr/>
          <p:nvPr/>
        </p:nvSpPr>
        <p:spPr>
          <a:xfrm>
            <a:off x="4626864" y="2651760"/>
            <a:ext cx="1965960" cy="1737360"/>
          </a:xfrm>
          <a:prstGeom prst="roundRect">
            <a:avLst>
              <a:gd name="adj" fmla="val 4211"/>
            </a:avLst>
          </a:prstGeom>
          <a:solidFill>
            <a:srgbClr val="FFFFFF"/>
          </a:solidFill>
          <a:ln w="12700">
            <a:solidFill>
              <a:srgbClr val="D3E0F2"/>
            </a:solidFill>
            <a:prstDash val="solid"/>
          </a:ln>
        </p:spPr>
      </p:sp>
      <p:sp>
        <p:nvSpPr>
          <p:cNvPr id="15" name="Text 13"/>
          <p:cNvSpPr txBox="1"/>
          <p:nvPr/>
        </p:nvSpPr>
        <p:spPr>
          <a:xfrm>
            <a:off x="4764024" y="2724912"/>
            <a:ext cx="1691640" cy="310896"/>
          </a:xfrm>
          <a:prstGeom prst="rect">
            <a:avLst/>
          </a:prstGeom>
          <a:noFill/>
          <a:ln/>
        </p:spPr>
        <p:txBody>
          <a:bodyPr wrap="square" lIns="0" tIns="0" rIns="0" bIns="0" rtlCol="0" anchor="ctr"/>
          <a:lstStyle/>
          <a:p>
            <a:pPr marL="0" indent="0">
              <a:buNone/>
            </a:pPr>
            <a:r>
              <a:rPr lang="en-US" sz="1200" b="1" dirty="0">
                <a:solidFill>
                  <a:srgbClr val="1F6FD1"/>
                </a:solidFill>
              </a:rPr>
              <a:t>Expiry wastage</a:t>
            </a:r>
            <a:endParaRPr lang="en-US" sz="1200" dirty="0"/>
          </a:p>
        </p:txBody>
      </p:sp>
      <p:sp>
        <p:nvSpPr>
          <p:cNvPr id="16" name="Text 14"/>
          <p:cNvSpPr txBox="1"/>
          <p:nvPr/>
        </p:nvSpPr>
        <p:spPr>
          <a:xfrm>
            <a:off x="4764024" y="3054096"/>
            <a:ext cx="1691640" cy="128016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Expiry dates are hard to track on paper.</a:t>
            </a:r>
            <a:endParaRPr lang="en-US" sz="1050" dirty="0"/>
          </a:p>
        </p:txBody>
      </p:sp>
      <p:sp>
        <p:nvSpPr>
          <p:cNvPr id="17" name="Shape 15"/>
          <p:cNvSpPr/>
          <p:nvPr/>
        </p:nvSpPr>
        <p:spPr>
          <a:xfrm>
            <a:off x="6711696" y="2651760"/>
            <a:ext cx="1965960" cy="1737360"/>
          </a:xfrm>
          <a:prstGeom prst="roundRect">
            <a:avLst>
              <a:gd name="adj" fmla="val 4211"/>
            </a:avLst>
          </a:prstGeom>
          <a:solidFill>
            <a:srgbClr val="FFFFFF"/>
          </a:solidFill>
          <a:ln w="12700">
            <a:solidFill>
              <a:srgbClr val="D3E0F2"/>
            </a:solidFill>
            <a:prstDash val="solid"/>
          </a:ln>
        </p:spPr>
      </p:sp>
      <p:sp>
        <p:nvSpPr>
          <p:cNvPr id="18" name="Text 16"/>
          <p:cNvSpPr txBox="1"/>
          <p:nvPr/>
        </p:nvSpPr>
        <p:spPr>
          <a:xfrm>
            <a:off x="6848856" y="2724912"/>
            <a:ext cx="1691640" cy="310896"/>
          </a:xfrm>
          <a:prstGeom prst="rect">
            <a:avLst/>
          </a:prstGeom>
          <a:noFill/>
          <a:ln/>
        </p:spPr>
        <p:txBody>
          <a:bodyPr wrap="square" lIns="0" tIns="0" rIns="0" bIns="0" rtlCol="0" anchor="ctr"/>
          <a:lstStyle/>
          <a:p>
            <a:pPr marL="0" indent="0">
              <a:buNone/>
            </a:pPr>
            <a:r>
              <a:rPr lang="en-US" sz="1200" b="1" dirty="0">
                <a:solidFill>
                  <a:srgbClr val="1F6FD1"/>
                </a:solidFill>
              </a:rPr>
              <a:t>No digital link</a:t>
            </a:r>
            <a:endParaRPr lang="en-US" sz="1200" dirty="0"/>
          </a:p>
        </p:txBody>
      </p:sp>
      <p:sp>
        <p:nvSpPr>
          <p:cNvPr id="19" name="Text 17"/>
          <p:cNvSpPr txBox="1"/>
          <p:nvPr/>
        </p:nvSpPr>
        <p:spPr>
          <a:xfrm>
            <a:off x="6848856" y="3054096"/>
            <a:ext cx="1691640" cy="128016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Customers cannot check availability or track orders.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Objectives</a:t>
            </a:r>
            <a:endParaRPr lang="en-US" sz="2400" dirty="0"/>
          </a:p>
        </p:txBody>
      </p:sp>
      <p:sp>
        <p:nvSpPr>
          <p:cNvPr id="6" name="Shape 4"/>
          <p:cNvSpPr/>
          <p:nvPr/>
        </p:nvSpPr>
        <p:spPr>
          <a:xfrm>
            <a:off x="457200" y="960120"/>
            <a:ext cx="2834640" cy="2377440"/>
          </a:xfrm>
          <a:prstGeom prst="roundRect">
            <a:avLst>
              <a:gd name="adj" fmla="val 3846"/>
            </a:avLst>
          </a:prstGeom>
          <a:solidFill>
            <a:srgbClr val="1F6FD1"/>
          </a:solidFill>
          <a:ln/>
        </p:spPr>
      </p:sp>
      <p:sp>
        <p:nvSpPr>
          <p:cNvPr id="7" name="Text 5"/>
          <p:cNvSpPr txBox="1"/>
          <p:nvPr/>
        </p:nvSpPr>
        <p:spPr>
          <a:xfrm>
            <a:off x="640080" y="1051560"/>
            <a:ext cx="2468880" cy="2194560"/>
          </a:xfrm>
          <a:prstGeom prst="rect">
            <a:avLst/>
          </a:prstGeom>
          <a:noFill/>
          <a:ln/>
        </p:spPr>
        <p:txBody>
          <a:bodyPr wrap="square" lIns="0" tIns="0" rIns="0" bIns="0" rtlCol="0" anchor="ctr"/>
          <a:lstStyle/>
          <a:p>
            <a:pPr marL="0" indent="0">
              <a:buNone/>
            </a:pPr>
            <a:r>
              <a:rPr lang="en-US" sz="900" b="1" dirty="0">
                <a:solidFill>
                  <a:srgbClr val="D6E6FA"/>
                </a:solidFill>
              </a:rPr>
              <a:t>MAIN OBJECTIVE</a:t>
            </a:r>
            <a:endParaRPr lang="en-US" sz="900" dirty="0"/>
          </a:p>
          <a:p>
            <a:pPr marL="0" indent="0">
              <a:buNone/>
            </a:pPr>
            <a:r>
              <a:rPr lang="en-US" sz="1300" b="1" dirty="0">
                <a:solidFill>
                  <a:srgbClr val="FFFFFF"/>
                </a:solidFill>
              </a:rPr>
              <a:t>Provide an efficient, convenient digital platform for pharmacy services with reliable prescription verification and reduced manual work.</a:t>
            </a:r>
            <a:endParaRPr lang="en-US" sz="900" dirty="0"/>
          </a:p>
        </p:txBody>
      </p:sp>
      <p:sp>
        <p:nvSpPr>
          <p:cNvPr id="8" name="Shape 6"/>
          <p:cNvSpPr/>
          <p:nvPr/>
        </p:nvSpPr>
        <p:spPr>
          <a:xfrm>
            <a:off x="3474720" y="960120"/>
            <a:ext cx="2560320" cy="1143000"/>
          </a:xfrm>
          <a:prstGeom prst="roundRect">
            <a:avLst>
              <a:gd name="adj" fmla="val 6400"/>
            </a:avLst>
          </a:prstGeom>
          <a:solidFill>
            <a:srgbClr val="FFFFFF"/>
          </a:solidFill>
          <a:ln w="12700">
            <a:solidFill>
              <a:srgbClr val="D3E0F2"/>
            </a:solidFill>
            <a:prstDash val="solid"/>
          </a:ln>
        </p:spPr>
      </p:sp>
      <p:sp>
        <p:nvSpPr>
          <p:cNvPr id="9" name="Text 7"/>
          <p:cNvSpPr txBox="1"/>
          <p:nvPr/>
        </p:nvSpPr>
        <p:spPr>
          <a:xfrm>
            <a:off x="3611880" y="1033272"/>
            <a:ext cx="2286000" cy="310896"/>
          </a:xfrm>
          <a:prstGeom prst="rect">
            <a:avLst/>
          </a:prstGeom>
          <a:noFill/>
          <a:ln/>
        </p:spPr>
        <p:txBody>
          <a:bodyPr wrap="square" lIns="0" tIns="0" rIns="0" bIns="0" rtlCol="0" anchor="ctr"/>
          <a:lstStyle/>
          <a:p>
            <a:pPr marL="0" indent="0">
              <a:buNone/>
            </a:pPr>
            <a:r>
              <a:rPr lang="en-US" sz="1250" b="1" dirty="0">
                <a:solidFill>
                  <a:srgbClr val="1F6FD1"/>
                </a:solidFill>
              </a:rPr>
              <a:t>Objective 1</a:t>
            </a:r>
            <a:endParaRPr lang="en-US" sz="1250" dirty="0"/>
          </a:p>
        </p:txBody>
      </p:sp>
      <p:sp>
        <p:nvSpPr>
          <p:cNvPr id="10" name="Text 8"/>
          <p:cNvSpPr txBox="1"/>
          <p:nvPr/>
        </p:nvSpPr>
        <p:spPr>
          <a:xfrm>
            <a:off x="3611880" y="1362456"/>
            <a:ext cx="2286000" cy="68580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Online medicine search and ordering</a:t>
            </a:r>
            <a:endParaRPr lang="en-US" sz="1050" dirty="0"/>
          </a:p>
        </p:txBody>
      </p:sp>
      <p:sp>
        <p:nvSpPr>
          <p:cNvPr id="11" name="Shape 9"/>
          <p:cNvSpPr/>
          <p:nvPr/>
        </p:nvSpPr>
        <p:spPr>
          <a:xfrm>
            <a:off x="6126480" y="960120"/>
            <a:ext cx="2560320" cy="1143000"/>
          </a:xfrm>
          <a:prstGeom prst="roundRect">
            <a:avLst>
              <a:gd name="adj" fmla="val 6400"/>
            </a:avLst>
          </a:prstGeom>
          <a:solidFill>
            <a:srgbClr val="FFFFFF"/>
          </a:solidFill>
          <a:ln w="12700">
            <a:solidFill>
              <a:srgbClr val="D3E0F2"/>
            </a:solidFill>
            <a:prstDash val="solid"/>
          </a:ln>
        </p:spPr>
      </p:sp>
      <p:sp>
        <p:nvSpPr>
          <p:cNvPr id="12" name="Text 10"/>
          <p:cNvSpPr txBox="1"/>
          <p:nvPr/>
        </p:nvSpPr>
        <p:spPr>
          <a:xfrm>
            <a:off x="6263640" y="1033272"/>
            <a:ext cx="2286000" cy="310896"/>
          </a:xfrm>
          <a:prstGeom prst="rect">
            <a:avLst/>
          </a:prstGeom>
          <a:noFill/>
          <a:ln/>
        </p:spPr>
        <p:txBody>
          <a:bodyPr wrap="square" lIns="0" tIns="0" rIns="0" bIns="0" rtlCol="0" anchor="ctr"/>
          <a:lstStyle/>
          <a:p>
            <a:pPr marL="0" indent="0">
              <a:buNone/>
            </a:pPr>
            <a:r>
              <a:rPr lang="en-US" sz="1250" b="1" dirty="0">
                <a:solidFill>
                  <a:srgbClr val="1F6FD1"/>
                </a:solidFill>
              </a:rPr>
              <a:t>Objective 2</a:t>
            </a:r>
            <a:endParaRPr lang="en-US" sz="1250" dirty="0"/>
          </a:p>
        </p:txBody>
      </p:sp>
      <p:sp>
        <p:nvSpPr>
          <p:cNvPr id="13" name="Text 11"/>
          <p:cNvSpPr txBox="1"/>
          <p:nvPr/>
        </p:nvSpPr>
        <p:spPr>
          <a:xfrm>
            <a:off x="6263640" y="1362456"/>
            <a:ext cx="2286000" cy="68580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AI-assisted prescription verification with admin review when required</a:t>
            </a:r>
            <a:endParaRPr lang="en-US" sz="1050" dirty="0"/>
          </a:p>
        </p:txBody>
      </p:sp>
      <p:sp>
        <p:nvSpPr>
          <p:cNvPr id="14" name="Shape 12"/>
          <p:cNvSpPr/>
          <p:nvPr/>
        </p:nvSpPr>
        <p:spPr>
          <a:xfrm>
            <a:off x="3474720" y="2194560"/>
            <a:ext cx="2560320" cy="1143000"/>
          </a:xfrm>
          <a:prstGeom prst="roundRect">
            <a:avLst>
              <a:gd name="adj" fmla="val 6400"/>
            </a:avLst>
          </a:prstGeom>
          <a:solidFill>
            <a:srgbClr val="FFFFFF"/>
          </a:solidFill>
          <a:ln w="12700">
            <a:solidFill>
              <a:srgbClr val="D3E0F2"/>
            </a:solidFill>
            <a:prstDash val="solid"/>
          </a:ln>
        </p:spPr>
      </p:sp>
      <p:sp>
        <p:nvSpPr>
          <p:cNvPr id="15" name="Text 13"/>
          <p:cNvSpPr txBox="1"/>
          <p:nvPr/>
        </p:nvSpPr>
        <p:spPr>
          <a:xfrm>
            <a:off x="3611880" y="2267712"/>
            <a:ext cx="2286000" cy="310896"/>
          </a:xfrm>
          <a:prstGeom prst="rect">
            <a:avLst/>
          </a:prstGeom>
          <a:noFill/>
          <a:ln/>
        </p:spPr>
        <p:txBody>
          <a:bodyPr wrap="square" lIns="0" tIns="0" rIns="0" bIns="0" rtlCol="0" anchor="ctr"/>
          <a:lstStyle/>
          <a:p>
            <a:pPr marL="0" indent="0">
              <a:buNone/>
            </a:pPr>
            <a:r>
              <a:rPr lang="en-US" sz="1250" b="1" dirty="0">
                <a:solidFill>
                  <a:srgbClr val="1F6FD1"/>
                </a:solidFill>
              </a:rPr>
              <a:t>Objective 3</a:t>
            </a:r>
            <a:endParaRPr lang="en-US" sz="1250" dirty="0"/>
          </a:p>
        </p:txBody>
      </p:sp>
      <p:sp>
        <p:nvSpPr>
          <p:cNvPr id="16" name="Text 14"/>
          <p:cNvSpPr txBox="1"/>
          <p:nvPr/>
        </p:nvSpPr>
        <p:spPr>
          <a:xfrm>
            <a:off x="3611880" y="2596896"/>
            <a:ext cx="2286000" cy="68580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Stock and expiry management to reduce wastage</a:t>
            </a:r>
            <a:endParaRPr lang="en-US" sz="1050" dirty="0"/>
          </a:p>
        </p:txBody>
      </p:sp>
      <p:sp>
        <p:nvSpPr>
          <p:cNvPr id="17" name="Shape 15"/>
          <p:cNvSpPr/>
          <p:nvPr/>
        </p:nvSpPr>
        <p:spPr>
          <a:xfrm>
            <a:off x="6126480" y="2194560"/>
            <a:ext cx="2560320" cy="1143000"/>
          </a:xfrm>
          <a:prstGeom prst="roundRect">
            <a:avLst>
              <a:gd name="adj" fmla="val 6400"/>
            </a:avLst>
          </a:prstGeom>
          <a:solidFill>
            <a:srgbClr val="FFFFFF"/>
          </a:solidFill>
          <a:ln w="12700">
            <a:solidFill>
              <a:srgbClr val="D3E0F2"/>
            </a:solidFill>
            <a:prstDash val="solid"/>
          </a:ln>
        </p:spPr>
      </p:sp>
      <p:sp>
        <p:nvSpPr>
          <p:cNvPr id="18" name="Text 16"/>
          <p:cNvSpPr txBox="1"/>
          <p:nvPr/>
        </p:nvSpPr>
        <p:spPr>
          <a:xfrm>
            <a:off x="6263640" y="2267712"/>
            <a:ext cx="2286000" cy="310896"/>
          </a:xfrm>
          <a:prstGeom prst="rect">
            <a:avLst/>
          </a:prstGeom>
          <a:noFill/>
          <a:ln/>
        </p:spPr>
        <p:txBody>
          <a:bodyPr wrap="square" lIns="0" tIns="0" rIns="0" bIns="0" rtlCol="0" anchor="ctr"/>
          <a:lstStyle/>
          <a:p>
            <a:pPr marL="0" indent="0">
              <a:buNone/>
            </a:pPr>
            <a:r>
              <a:rPr lang="en-US" sz="1250" b="1" dirty="0">
                <a:solidFill>
                  <a:srgbClr val="1F6FD1"/>
                </a:solidFill>
              </a:rPr>
              <a:t>Objective 4</a:t>
            </a:r>
            <a:endParaRPr lang="en-US" sz="1250" dirty="0"/>
          </a:p>
        </p:txBody>
      </p:sp>
      <p:sp>
        <p:nvSpPr>
          <p:cNvPr id="19" name="Text 17"/>
          <p:cNvSpPr txBox="1"/>
          <p:nvPr/>
        </p:nvSpPr>
        <p:spPr>
          <a:xfrm>
            <a:off x="6263640" y="2596896"/>
            <a:ext cx="2286000" cy="68580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Order tracking and chatbot support</a:t>
            </a:r>
            <a:endParaRPr lang="en-US" sz="1050" dirty="0"/>
          </a:p>
        </p:txBody>
      </p:sp>
      <p:sp>
        <p:nvSpPr>
          <p:cNvPr id="20" name="Shape 18"/>
          <p:cNvSpPr/>
          <p:nvPr/>
        </p:nvSpPr>
        <p:spPr>
          <a:xfrm>
            <a:off x="457200" y="3520440"/>
            <a:ext cx="4023360" cy="1097280"/>
          </a:xfrm>
          <a:prstGeom prst="roundRect">
            <a:avLst>
              <a:gd name="adj" fmla="val 6667"/>
            </a:avLst>
          </a:prstGeom>
          <a:solidFill>
            <a:srgbClr val="EEF3FB"/>
          </a:solidFill>
          <a:ln w="12700">
            <a:solidFill>
              <a:srgbClr val="D3E0F2"/>
            </a:solidFill>
            <a:prstDash val="solid"/>
          </a:ln>
        </p:spPr>
      </p:sp>
      <p:sp>
        <p:nvSpPr>
          <p:cNvPr id="21" name="Text 19"/>
          <p:cNvSpPr txBox="1"/>
          <p:nvPr/>
        </p:nvSpPr>
        <p:spPr>
          <a:xfrm>
            <a:off x="594360" y="359359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Expected outcome</a:t>
            </a:r>
            <a:endParaRPr lang="en-US" sz="1250" dirty="0"/>
          </a:p>
        </p:txBody>
      </p:sp>
      <p:sp>
        <p:nvSpPr>
          <p:cNvPr id="22" name="Text 20"/>
          <p:cNvSpPr txBox="1"/>
          <p:nvPr/>
        </p:nvSpPr>
        <p:spPr>
          <a:xfrm>
            <a:off x="594360" y="3922776"/>
            <a:ext cx="3749040" cy="64008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Customers and pharmacy staff work on one organised platform.</a:t>
            </a:r>
            <a:endParaRPr lang="en-US" sz="1050" dirty="0"/>
          </a:p>
        </p:txBody>
      </p:sp>
      <p:sp>
        <p:nvSpPr>
          <p:cNvPr id="23" name="Shape 21"/>
          <p:cNvSpPr/>
          <p:nvPr/>
        </p:nvSpPr>
        <p:spPr>
          <a:xfrm>
            <a:off x="4663440" y="3520440"/>
            <a:ext cx="4023360" cy="1097280"/>
          </a:xfrm>
          <a:prstGeom prst="roundRect">
            <a:avLst>
              <a:gd name="adj" fmla="val 6667"/>
            </a:avLst>
          </a:prstGeom>
          <a:solidFill>
            <a:srgbClr val="EEF3FB"/>
          </a:solidFill>
          <a:ln w="12700">
            <a:solidFill>
              <a:srgbClr val="D3E0F2"/>
            </a:solidFill>
            <a:prstDash val="solid"/>
          </a:ln>
        </p:spPr>
      </p:sp>
      <p:sp>
        <p:nvSpPr>
          <p:cNvPr id="24" name="Text 22"/>
          <p:cNvSpPr txBox="1"/>
          <p:nvPr/>
        </p:nvSpPr>
        <p:spPr>
          <a:xfrm>
            <a:off x="4800600" y="359359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Benefits to users</a:t>
            </a:r>
            <a:endParaRPr lang="en-US" sz="1250" dirty="0"/>
          </a:p>
        </p:txBody>
      </p:sp>
      <p:sp>
        <p:nvSpPr>
          <p:cNvPr id="25" name="Text 23"/>
          <p:cNvSpPr txBox="1"/>
          <p:nvPr/>
        </p:nvSpPr>
        <p:spPr>
          <a:xfrm>
            <a:off x="4800600" y="3922776"/>
            <a:ext cx="3749040" cy="64008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Customers: less waiting, online availability check. Admins: organised stock, prescriptions and orders.</a:t>
            </a:r>
            <a:endParaRPr lang="en-US" sz="1050" dirty="0"/>
          </a:p>
        </p:txBody>
      </p:sp>
      <p:sp>
        <p:nvSpPr>
          <p:cNvPr id="26"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Existing System</a:t>
            </a:r>
            <a:endParaRPr lang="en-US" sz="24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6</a:t>
            </a:fld>
            <a:endParaRPr lang="en-US"/>
          </a:p>
        </p:txBody>
      </p:sp>
      <p:sp>
        <p:nvSpPr>
          <p:cNvPr id="27" name="TextBox 26">
            <a:extLst>
              <a:ext uri="{FF2B5EF4-FFF2-40B4-BE49-F238E27FC236}">
                <a16:creationId xmlns:a16="http://schemas.microsoft.com/office/drawing/2014/main" id="{68C022A1-F3F6-1FB9-5741-1FD19CCB086F}"/>
              </a:ext>
            </a:extLst>
          </p:cNvPr>
          <p:cNvSpPr txBox="1"/>
          <p:nvPr/>
        </p:nvSpPr>
        <p:spPr>
          <a:xfrm>
            <a:off x="240632" y="996016"/>
            <a:ext cx="8537608" cy="1200329"/>
          </a:xfrm>
          <a:prstGeom prst="rect">
            <a:avLst/>
          </a:prstGeom>
          <a:noFill/>
        </p:spPr>
        <p:txBody>
          <a:bodyPr wrap="square">
            <a:spAutoFit/>
          </a:bodyPr>
          <a:lstStyle/>
          <a:p>
            <a:pPr algn="just"/>
            <a:r>
              <a:rPr lang="en-IN" dirty="0">
                <a:solidFill>
                  <a:schemeClr val="bg1"/>
                </a:solidFill>
                <a:cs typeface="Times New Roman" panose="02020603050405020304" pitchFamily="18" charset="0"/>
              </a:rPr>
              <a:t>The existing pharmacy system uses manual and basic digital methods to manage stock and records. Prescription verification is done by pharmacists, and customers visit pharmacies directly to purchase medicines .The system works effectively but mainly depends on human effort.</a:t>
            </a:r>
          </a:p>
        </p:txBody>
      </p:sp>
      <p:sp>
        <p:nvSpPr>
          <p:cNvPr id="29" name="Rectangle: Rounded Corners 28">
            <a:extLst>
              <a:ext uri="{FF2B5EF4-FFF2-40B4-BE49-F238E27FC236}">
                <a16:creationId xmlns:a16="http://schemas.microsoft.com/office/drawing/2014/main" id="{C0B21460-7944-8F0D-4470-799E0D5DDDB7}"/>
              </a:ext>
            </a:extLst>
          </p:cNvPr>
          <p:cNvSpPr/>
          <p:nvPr/>
        </p:nvSpPr>
        <p:spPr>
          <a:xfrm>
            <a:off x="219296" y="2716738"/>
            <a:ext cx="2637410" cy="1794302"/>
          </a:xfrm>
          <a:prstGeom prst="roundRect">
            <a:avLst/>
          </a:prstGeom>
          <a:solidFill>
            <a:schemeClr val="accent1">
              <a:lumMod val="50000"/>
            </a:schemeClr>
          </a:solidFill>
          <a:ln>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2000" b="1" dirty="0">
              <a:solidFill>
                <a:schemeClr val="bg1"/>
              </a:solidFill>
              <a:latin typeface="Times New Roman" panose="02020603050405020304" pitchFamily="18" charset="0"/>
              <a:cs typeface="Times New Roman" panose="02020603050405020304" pitchFamily="18" charset="0"/>
            </a:endParaRPr>
          </a:p>
          <a:p>
            <a:pPr algn="ctr"/>
            <a:endParaRPr lang="en-IN" sz="1600" dirty="0">
              <a:solidFill>
                <a:schemeClr val="bg1"/>
              </a:solidFill>
            </a:endParaRPr>
          </a:p>
          <a:p>
            <a:pPr algn="ctr"/>
            <a:r>
              <a:rPr lang="en-IN" sz="1600" b="1" dirty="0">
                <a:solidFill>
                  <a:schemeClr val="bg1"/>
                </a:solidFill>
                <a:latin typeface="Times New Roman" panose="02020603050405020304" pitchFamily="18" charset="0"/>
                <a:cs typeface="Times New Roman" panose="02020603050405020304" pitchFamily="18" charset="0"/>
              </a:rPr>
              <a:t>Manual records</a:t>
            </a:r>
            <a:endParaRPr lang="en-IN" sz="1600" dirty="0">
              <a:solidFill>
                <a:schemeClr val="bg1"/>
              </a:solidFill>
            </a:endParaRPr>
          </a:p>
          <a:p>
            <a:pPr algn="ctr"/>
            <a:endParaRPr lang="en-IN" sz="1600" dirty="0">
              <a:solidFill>
                <a:schemeClr val="bg1"/>
              </a:solidFill>
            </a:endParaRPr>
          </a:p>
          <a:p>
            <a:pPr algn="ctr"/>
            <a:r>
              <a:rPr lang="en-IN" sz="1600" dirty="0">
                <a:solidFill>
                  <a:schemeClr val="bg1"/>
                </a:solidFill>
              </a:rPr>
              <a:t>Stock, expiry dates, availability tracked on paper</a:t>
            </a:r>
          </a:p>
          <a:p>
            <a:pPr algn="ctr"/>
            <a:endParaRPr lang="en-IN" sz="2000" b="1" dirty="0">
              <a:solidFill>
                <a:schemeClr val="bg1"/>
              </a:solidFill>
              <a:latin typeface="Times New Roman" panose="02020603050405020304" pitchFamily="18" charset="0"/>
              <a:cs typeface="Times New Roman" panose="02020603050405020304" pitchFamily="18" charset="0"/>
            </a:endParaRPr>
          </a:p>
          <a:p>
            <a:pPr algn="ct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31" name="Rectangle: Rounded Corners 30">
            <a:extLst>
              <a:ext uri="{FF2B5EF4-FFF2-40B4-BE49-F238E27FC236}">
                <a16:creationId xmlns:a16="http://schemas.microsoft.com/office/drawing/2014/main" id="{C8F92935-FCF4-BC76-DFDB-414D599BA7D9}"/>
              </a:ext>
            </a:extLst>
          </p:cNvPr>
          <p:cNvSpPr/>
          <p:nvPr/>
        </p:nvSpPr>
        <p:spPr>
          <a:xfrm>
            <a:off x="3148860" y="2716738"/>
            <a:ext cx="2637410" cy="1794302"/>
          </a:xfrm>
          <a:prstGeom prst="roundRect">
            <a:avLst/>
          </a:prstGeom>
          <a:solidFill>
            <a:schemeClr val="accent1">
              <a:lumMod val="5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600" b="1" dirty="0">
              <a:solidFill>
                <a:schemeClr val="bg1"/>
              </a:solidFill>
              <a:latin typeface="Times New Roman" panose="02020603050405020304" pitchFamily="18" charset="0"/>
              <a:cs typeface="Times New Roman" panose="02020603050405020304" pitchFamily="18" charset="0"/>
            </a:endParaRPr>
          </a:p>
          <a:p>
            <a:pPr algn="ctr"/>
            <a:endParaRPr lang="en-IN" sz="1600" b="1" dirty="0">
              <a:solidFill>
                <a:schemeClr val="bg1"/>
              </a:solidFill>
              <a:latin typeface="Times New Roman" panose="02020603050405020304" pitchFamily="18" charset="0"/>
              <a:cs typeface="Times New Roman" panose="02020603050405020304" pitchFamily="18" charset="0"/>
            </a:endParaRPr>
          </a:p>
          <a:p>
            <a:pPr algn="ctr"/>
            <a:r>
              <a:rPr lang="en-IN" sz="1600" b="1" dirty="0">
                <a:solidFill>
                  <a:schemeClr val="bg1"/>
                </a:solidFill>
                <a:latin typeface="Times New Roman" panose="02020603050405020304" pitchFamily="18" charset="0"/>
                <a:cs typeface="Times New Roman" panose="02020603050405020304" pitchFamily="18" charset="0"/>
              </a:rPr>
              <a:t>Human errors</a:t>
            </a:r>
          </a:p>
          <a:p>
            <a:pPr algn="ctr"/>
            <a:endParaRPr lang="en-IN" sz="2000" b="1" dirty="0">
              <a:solidFill>
                <a:schemeClr val="bg1"/>
              </a:solidFill>
              <a:latin typeface="Times New Roman" panose="02020603050405020304" pitchFamily="18" charset="0"/>
              <a:cs typeface="Times New Roman" panose="02020603050405020304" pitchFamily="18" charset="0"/>
            </a:endParaRPr>
          </a:p>
          <a:p>
            <a:pPr algn="ctr"/>
            <a:r>
              <a:rPr lang="en-IN" sz="1600" dirty="0">
                <a:solidFill>
                  <a:schemeClr val="bg1"/>
                </a:solidFill>
              </a:rPr>
              <a:t>Mistakes in recording </a:t>
            </a:r>
          </a:p>
          <a:p>
            <a:pPr algn="ctr"/>
            <a:r>
              <a:rPr lang="en-IN" sz="1600" dirty="0">
                <a:solidFill>
                  <a:schemeClr val="bg1"/>
                </a:solidFill>
              </a:rPr>
              <a:t>Details Medicine</a:t>
            </a:r>
          </a:p>
          <a:p>
            <a:pPr algn="ctr"/>
            <a:endParaRPr lang="en-IN" sz="2000" b="1" dirty="0">
              <a:solidFill>
                <a:schemeClr val="bg1"/>
              </a:solidFill>
              <a:latin typeface="Times New Roman" panose="02020603050405020304" pitchFamily="18" charset="0"/>
              <a:cs typeface="Times New Roman" panose="02020603050405020304" pitchFamily="18" charset="0"/>
            </a:endParaRPr>
          </a:p>
          <a:p>
            <a:pPr algn="ctr"/>
            <a:endParaRPr lang="en-IN" sz="2000" b="1" dirty="0">
              <a:solidFill>
                <a:schemeClr val="bg1"/>
              </a:solidFill>
              <a:latin typeface="Times New Roman" panose="02020603050405020304" pitchFamily="18" charset="0"/>
              <a:cs typeface="Times New Roman" panose="02020603050405020304" pitchFamily="18" charset="0"/>
            </a:endParaRPr>
          </a:p>
        </p:txBody>
      </p:sp>
      <p:sp>
        <p:nvSpPr>
          <p:cNvPr id="33" name="Rectangle: Rounded Corners 32">
            <a:extLst>
              <a:ext uri="{FF2B5EF4-FFF2-40B4-BE49-F238E27FC236}">
                <a16:creationId xmlns:a16="http://schemas.microsoft.com/office/drawing/2014/main" id="{0990C9CA-61E1-3A2F-DD17-A3C898AD5843}"/>
              </a:ext>
            </a:extLst>
          </p:cNvPr>
          <p:cNvSpPr/>
          <p:nvPr/>
        </p:nvSpPr>
        <p:spPr>
          <a:xfrm>
            <a:off x="5995140" y="2716738"/>
            <a:ext cx="2691659" cy="1794302"/>
          </a:xfrm>
          <a:prstGeom prst="roundRect">
            <a:avLst/>
          </a:prstGeom>
          <a:solidFill>
            <a:schemeClr val="accent1">
              <a:lumMod val="5000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1600" b="1" dirty="0">
              <a:solidFill>
                <a:schemeClr val="bg1"/>
              </a:solidFill>
              <a:latin typeface="Times New Roman" panose="02020603050405020304" pitchFamily="18" charset="0"/>
              <a:cs typeface="Times New Roman" panose="02020603050405020304" pitchFamily="18" charset="0"/>
            </a:endParaRPr>
          </a:p>
          <a:p>
            <a:pPr algn="ctr"/>
            <a:endParaRPr lang="en-IN" sz="1600" b="1" dirty="0">
              <a:solidFill>
                <a:schemeClr val="bg1"/>
              </a:solidFill>
              <a:latin typeface="Times New Roman" panose="02020603050405020304" pitchFamily="18" charset="0"/>
              <a:cs typeface="Times New Roman" panose="02020603050405020304" pitchFamily="18" charset="0"/>
            </a:endParaRPr>
          </a:p>
          <a:p>
            <a:pPr algn="ctr"/>
            <a:endParaRPr lang="en-IN" sz="1600" b="1" dirty="0">
              <a:solidFill>
                <a:schemeClr val="bg1"/>
              </a:solidFill>
              <a:latin typeface="Times New Roman" panose="02020603050405020304" pitchFamily="18" charset="0"/>
              <a:cs typeface="Times New Roman" panose="02020603050405020304" pitchFamily="18" charset="0"/>
            </a:endParaRPr>
          </a:p>
          <a:p>
            <a:pPr algn="ctr"/>
            <a:r>
              <a:rPr lang="en-IN" sz="1600" b="1" dirty="0">
                <a:solidFill>
                  <a:schemeClr val="bg1"/>
                </a:solidFill>
                <a:latin typeface="Times New Roman" panose="02020603050405020304" pitchFamily="18" charset="0"/>
                <a:cs typeface="Times New Roman" panose="02020603050405020304" pitchFamily="18" charset="0"/>
              </a:rPr>
              <a:t>Medicine</a:t>
            </a:r>
            <a:r>
              <a:rPr lang="en-IN" sz="1600" b="1" dirty="0">
                <a:solidFill>
                  <a:srgbClr val="2D12A2"/>
                </a:solidFill>
                <a:latin typeface="Times New Roman" panose="02020603050405020304" pitchFamily="18" charset="0"/>
                <a:cs typeface="Times New Roman" panose="02020603050405020304" pitchFamily="18" charset="0"/>
              </a:rPr>
              <a:t> </a:t>
            </a:r>
            <a:r>
              <a:rPr lang="en-IN" sz="1600" b="1" dirty="0">
                <a:solidFill>
                  <a:schemeClr val="bg1"/>
                </a:solidFill>
                <a:latin typeface="Times New Roman" panose="02020603050405020304" pitchFamily="18" charset="0"/>
                <a:cs typeface="Times New Roman" panose="02020603050405020304" pitchFamily="18" charset="0"/>
              </a:rPr>
              <a:t>wastage</a:t>
            </a:r>
          </a:p>
          <a:p>
            <a:pPr algn="ctr"/>
            <a:endParaRPr lang="en-IN" sz="2000" b="1" dirty="0">
              <a:solidFill>
                <a:srgbClr val="2D12A2"/>
              </a:solidFill>
              <a:latin typeface="Times New Roman" panose="02020603050405020304" pitchFamily="18" charset="0"/>
              <a:cs typeface="Times New Roman" panose="02020603050405020304" pitchFamily="18" charset="0"/>
            </a:endParaRPr>
          </a:p>
          <a:p>
            <a:pPr algn="ctr"/>
            <a:r>
              <a:rPr lang="en-IN" sz="1600" dirty="0">
                <a:solidFill>
                  <a:schemeClr val="bg1"/>
                </a:solidFill>
              </a:rPr>
              <a:t>Expired medicines not tracked properly</a:t>
            </a:r>
          </a:p>
          <a:p>
            <a:pPr algn="ctr"/>
            <a:endParaRPr lang="en-IN" sz="2000" b="1" dirty="0">
              <a:solidFill>
                <a:srgbClr val="2D12A2"/>
              </a:solidFill>
              <a:latin typeface="Times New Roman" panose="02020603050405020304" pitchFamily="18" charset="0"/>
              <a:cs typeface="Times New Roman" panose="02020603050405020304" pitchFamily="18" charset="0"/>
            </a:endParaRPr>
          </a:p>
          <a:p>
            <a:pPr algn="ctr"/>
            <a:endParaRPr lang="en-IN" sz="2000" b="1" dirty="0">
              <a:solidFill>
                <a:srgbClr val="2D12A2"/>
              </a:solidFill>
              <a:latin typeface="Times New Roman" panose="02020603050405020304" pitchFamily="18" charset="0"/>
              <a:cs typeface="Times New Roman" panose="02020603050405020304" pitchFamily="18" charset="0"/>
            </a:endParaRPr>
          </a:p>
          <a:p>
            <a:pPr algn="ctr"/>
            <a:endParaRPr lang="en-IN" sz="2000" b="1" dirty="0">
              <a:solidFill>
                <a:srgbClr val="2D12A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icon"/>
          <p:cNvSpPr/>
          <p:nvPr/>
        </p:nvSpPr>
        <p:spPr>
          <a:xfrm>
            <a:off x="402336" y="353568"/>
            <a:ext cx="384048" cy="384048"/>
          </a:xfrm>
          <a:prstGeom prst="ellipse">
            <a:avLst/>
          </a:prstGeom>
          <a:solidFill>
            <a:srgbClr val="1F6FD1"/>
          </a:solidFill>
          <a:ln/>
        </p:spPr>
      </p:sp>
      <p:sp>
        <p:nvSpPr>
          <p:cNvPr id="3" name="Shape 1"/>
          <p:cNvSpPr/>
          <p:nvPr/>
        </p:nvSpPr>
        <p:spPr>
          <a:xfrm>
            <a:off x="548640" y="463296"/>
            <a:ext cx="73152" cy="219456"/>
          </a:xfrm>
          <a:prstGeom prst="rect">
            <a:avLst/>
          </a:prstGeom>
          <a:solidFill>
            <a:srgbClr val="FFFFFF"/>
          </a:solidFill>
          <a:ln/>
        </p:spPr>
      </p:sp>
      <p:sp>
        <p:nvSpPr>
          <p:cNvPr id="4" name="Shape 2"/>
          <p:cNvSpPr/>
          <p:nvPr/>
        </p:nvSpPr>
        <p:spPr>
          <a:xfrm>
            <a:off x="484632" y="528066"/>
            <a:ext cx="219456" cy="73152"/>
          </a:xfrm>
          <a:prstGeom prst="rect">
            <a:avLst/>
          </a:prstGeom>
          <a:solidFill>
            <a:srgbClr val="FFFFFF"/>
          </a:solidFill>
          <a:ln/>
        </p:spPr>
      </p:sp>
      <p:sp>
        <p:nvSpPr>
          <p:cNvPr id="5" name="Text 4"/>
          <p:cNvSpPr>
            <a:spLocks noGrp="1"/>
          </p:cNvSpPr>
          <p:nvPr>
            <p:ph type="title" idx="104" hasCustomPrompt="1"/>
          </p:nvPr>
        </p:nvSpPr>
        <p:spPr>
          <a:xfrm>
            <a:off x="932688" y="27127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Proposed System</a:t>
            </a:r>
            <a:endParaRPr lang="en-US" sz="2400" dirty="0"/>
          </a:p>
        </p:txBody>
      </p:sp>
      <p:sp>
        <p:nvSpPr>
          <p:cNvPr id="6" name="Shape 4"/>
          <p:cNvSpPr/>
          <p:nvPr/>
        </p:nvSpPr>
        <p:spPr>
          <a:xfrm>
            <a:off x="548640" y="1520952"/>
            <a:ext cx="4023360" cy="1280160"/>
          </a:xfrm>
          <a:prstGeom prst="roundRect">
            <a:avLst>
              <a:gd name="adj" fmla="val 5714"/>
            </a:avLst>
          </a:prstGeom>
          <a:solidFill>
            <a:srgbClr val="FFFFFF"/>
          </a:solidFill>
          <a:ln w="12700">
            <a:solidFill>
              <a:srgbClr val="D3E0F2"/>
            </a:solidFill>
            <a:prstDash val="solid"/>
          </a:ln>
        </p:spPr>
      </p:sp>
      <p:sp>
        <p:nvSpPr>
          <p:cNvPr id="7" name="Text 5"/>
          <p:cNvSpPr txBox="1"/>
          <p:nvPr/>
        </p:nvSpPr>
        <p:spPr>
          <a:xfrm>
            <a:off x="685800" y="1594104"/>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AI-Based Prescription verification</a:t>
            </a:r>
            <a:endParaRPr lang="en-US" sz="1250" dirty="0"/>
          </a:p>
        </p:txBody>
      </p:sp>
      <p:sp>
        <p:nvSpPr>
          <p:cNvPr id="8" name="Text 6"/>
          <p:cNvSpPr txBox="1"/>
          <p:nvPr/>
        </p:nvSpPr>
        <p:spPr>
          <a:xfrm>
            <a:off x="685800" y="1923288"/>
            <a:ext cx="3749040" cy="822960"/>
          </a:xfrm>
          <a:prstGeom prst="rect">
            <a:avLst/>
          </a:prstGeom>
          <a:noFill/>
          <a:ln/>
        </p:spPr>
        <p:txBody>
          <a:bodyPr wrap="square" lIns="0" tIns="0" rIns="0" bIns="0" rtlCol="0" anchor="t"/>
          <a:lstStyle/>
          <a:p>
            <a:pPr marL="0" indent="0">
              <a:spcAft>
                <a:spcPts val="300"/>
              </a:spcAft>
              <a:buNone/>
            </a:pPr>
            <a:r>
              <a:rPr lang="en-US" sz="1150" dirty="0">
                <a:solidFill>
                  <a:srgbClr val="16253D"/>
                </a:solidFill>
              </a:rPr>
              <a:t>Uploaded prescriptions read with OCR + Gemini and Admin reviews doubtful ones.</a:t>
            </a:r>
            <a:endParaRPr lang="en-US" sz="1150" dirty="0"/>
          </a:p>
        </p:txBody>
      </p:sp>
      <p:sp>
        <p:nvSpPr>
          <p:cNvPr id="9" name="Shape 7"/>
          <p:cNvSpPr/>
          <p:nvPr/>
        </p:nvSpPr>
        <p:spPr>
          <a:xfrm>
            <a:off x="4754880" y="1520952"/>
            <a:ext cx="4023360" cy="1280160"/>
          </a:xfrm>
          <a:prstGeom prst="roundRect">
            <a:avLst>
              <a:gd name="adj" fmla="val 5714"/>
            </a:avLst>
          </a:prstGeom>
          <a:solidFill>
            <a:srgbClr val="FFFFFF"/>
          </a:solidFill>
          <a:ln w="12700">
            <a:solidFill>
              <a:srgbClr val="D3E0F2"/>
            </a:solidFill>
            <a:prstDash val="solid"/>
          </a:ln>
        </p:spPr>
      </p:sp>
      <p:sp>
        <p:nvSpPr>
          <p:cNvPr id="10" name="Text 8"/>
          <p:cNvSpPr txBox="1"/>
          <p:nvPr/>
        </p:nvSpPr>
        <p:spPr>
          <a:xfrm>
            <a:off x="4892040" y="1594104"/>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Online ordering</a:t>
            </a:r>
            <a:endParaRPr lang="en-US" sz="1250" dirty="0"/>
          </a:p>
        </p:txBody>
      </p:sp>
      <p:sp>
        <p:nvSpPr>
          <p:cNvPr id="11" name="Text 9"/>
          <p:cNvSpPr txBox="1"/>
          <p:nvPr/>
        </p:nvSpPr>
        <p:spPr>
          <a:xfrm>
            <a:off x="4892040" y="1923288"/>
            <a:ext cx="3749040" cy="822960"/>
          </a:xfrm>
          <a:prstGeom prst="rect">
            <a:avLst/>
          </a:prstGeom>
          <a:noFill/>
          <a:ln/>
        </p:spPr>
        <p:txBody>
          <a:bodyPr wrap="square" lIns="0" tIns="0" rIns="0" bIns="0" rtlCol="0" anchor="t"/>
          <a:lstStyle/>
          <a:p>
            <a:pPr marL="0" indent="0">
              <a:spcAft>
                <a:spcPts val="300"/>
              </a:spcAft>
              <a:buNone/>
            </a:pPr>
            <a:r>
              <a:rPr lang="en-US" sz="1150" dirty="0">
                <a:solidFill>
                  <a:srgbClr val="16253D"/>
                </a:solidFill>
              </a:rPr>
              <a:t>Search medicines, upload prescription, Place order with delivery or take-away.</a:t>
            </a:r>
            <a:endParaRPr lang="en-US" sz="1150" dirty="0"/>
          </a:p>
        </p:txBody>
      </p:sp>
      <p:sp>
        <p:nvSpPr>
          <p:cNvPr id="12" name="Shape 10"/>
          <p:cNvSpPr/>
          <p:nvPr/>
        </p:nvSpPr>
        <p:spPr>
          <a:xfrm>
            <a:off x="548640" y="2938272"/>
            <a:ext cx="4023360" cy="1280160"/>
          </a:xfrm>
          <a:prstGeom prst="roundRect">
            <a:avLst>
              <a:gd name="adj" fmla="val 5714"/>
            </a:avLst>
          </a:prstGeom>
          <a:solidFill>
            <a:srgbClr val="FFFFFF"/>
          </a:solidFill>
          <a:ln w="12700">
            <a:solidFill>
              <a:srgbClr val="D3E0F2"/>
            </a:solidFill>
            <a:prstDash val="solid"/>
          </a:ln>
        </p:spPr>
      </p:sp>
      <p:sp>
        <p:nvSpPr>
          <p:cNvPr id="13" name="Text 11"/>
          <p:cNvSpPr txBox="1"/>
          <p:nvPr/>
        </p:nvSpPr>
        <p:spPr>
          <a:xfrm>
            <a:off x="685800" y="3011424"/>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Stock &amp; expiry management</a:t>
            </a:r>
            <a:endParaRPr lang="en-US" sz="1250" dirty="0"/>
          </a:p>
        </p:txBody>
      </p:sp>
      <p:sp>
        <p:nvSpPr>
          <p:cNvPr id="14" name="Text 12"/>
          <p:cNvSpPr txBox="1"/>
          <p:nvPr/>
        </p:nvSpPr>
        <p:spPr>
          <a:xfrm>
            <a:off x="685800" y="3340608"/>
            <a:ext cx="3749040" cy="822960"/>
          </a:xfrm>
          <a:prstGeom prst="rect">
            <a:avLst/>
          </a:prstGeom>
          <a:noFill/>
          <a:ln/>
        </p:spPr>
        <p:txBody>
          <a:bodyPr wrap="square" lIns="0" tIns="0" rIns="0" bIns="0" rtlCol="0" anchor="t"/>
          <a:lstStyle/>
          <a:p>
            <a:pPr marL="0" indent="0">
              <a:spcAft>
                <a:spcPts val="300"/>
              </a:spcAft>
              <a:buNone/>
            </a:pPr>
            <a:r>
              <a:rPr lang="en-US" sz="1150" dirty="0">
                <a:solidFill>
                  <a:srgbClr val="16253D"/>
                </a:solidFill>
              </a:rPr>
              <a:t>Central stock records and expiry dates to reduce wastage.</a:t>
            </a:r>
            <a:endParaRPr lang="en-US" sz="1150" dirty="0"/>
          </a:p>
        </p:txBody>
      </p:sp>
      <p:sp>
        <p:nvSpPr>
          <p:cNvPr id="15" name="Shape 13"/>
          <p:cNvSpPr/>
          <p:nvPr/>
        </p:nvSpPr>
        <p:spPr>
          <a:xfrm>
            <a:off x="4754880" y="2938272"/>
            <a:ext cx="4023360" cy="1280160"/>
          </a:xfrm>
          <a:prstGeom prst="roundRect">
            <a:avLst>
              <a:gd name="adj" fmla="val 5714"/>
            </a:avLst>
          </a:prstGeom>
          <a:solidFill>
            <a:srgbClr val="FFFFFF"/>
          </a:solidFill>
          <a:ln w="12700">
            <a:solidFill>
              <a:srgbClr val="D3E0F2"/>
            </a:solidFill>
            <a:prstDash val="solid"/>
          </a:ln>
        </p:spPr>
      </p:sp>
      <p:sp>
        <p:nvSpPr>
          <p:cNvPr id="16" name="Text 14"/>
          <p:cNvSpPr txBox="1"/>
          <p:nvPr/>
        </p:nvSpPr>
        <p:spPr>
          <a:xfrm>
            <a:off x="4892040" y="3011424"/>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Order tracking &amp; chatbot</a:t>
            </a:r>
            <a:endParaRPr lang="en-US" sz="1250" dirty="0"/>
          </a:p>
        </p:txBody>
      </p:sp>
      <p:sp>
        <p:nvSpPr>
          <p:cNvPr id="17" name="Text 15"/>
          <p:cNvSpPr txBox="1"/>
          <p:nvPr/>
        </p:nvSpPr>
        <p:spPr>
          <a:xfrm>
            <a:off x="4892040" y="3340608"/>
            <a:ext cx="3749040" cy="822960"/>
          </a:xfrm>
          <a:prstGeom prst="rect">
            <a:avLst/>
          </a:prstGeom>
          <a:noFill/>
          <a:ln/>
        </p:spPr>
        <p:txBody>
          <a:bodyPr wrap="square" lIns="0" tIns="0" rIns="0" bIns="0" rtlCol="0" anchor="t"/>
          <a:lstStyle/>
          <a:p>
            <a:pPr marL="0" indent="0">
              <a:spcAft>
                <a:spcPts val="300"/>
              </a:spcAft>
              <a:buNone/>
            </a:pPr>
            <a:r>
              <a:rPr lang="en-US" sz="1150" dirty="0">
                <a:solidFill>
                  <a:srgbClr val="16253D"/>
                </a:solidFill>
              </a:rPr>
              <a:t>Order status tracking and rule-based chatbot for common queries.</a:t>
            </a:r>
            <a:endParaRPr lang="en-US" sz="1150" dirty="0"/>
          </a:p>
        </p:txBody>
      </p:sp>
      <p:sp>
        <p:nvSpPr>
          <p:cNvPr id="25" name="Slide Number Placeholder 0"/>
          <p:cNvSpPr>
            <a:spLocks noGrp="1"/>
          </p:cNvSpPr>
          <p:nvPr>
            <p:ph type="sldNum" sz="quarter" idx="4294967295"/>
          </p:nvPr>
        </p:nvSpPr>
        <p:spPr>
          <a:xfrm>
            <a:off x="8412480" y="5388864"/>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Scope of the Project</a:t>
            </a:r>
            <a:endParaRPr lang="en-US" sz="2400" dirty="0"/>
          </a:p>
        </p:txBody>
      </p:sp>
      <p:sp>
        <p:nvSpPr>
          <p:cNvPr id="6" name="Shape 4"/>
          <p:cNvSpPr/>
          <p:nvPr/>
        </p:nvSpPr>
        <p:spPr>
          <a:xfrm>
            <a:off x="457200" y="960120"/>
            <a:ext cx="2468880" cy="3611880"/>
          </a:xfrm>
          <a:prstGeom prst="roundRect">
            <a:avLst>
              <a:gd name="adj" fmla="val 2963"/>
            </a:avLst>
          </a:prstGeom>
          <a:solidFill>
            <a:srgbClr val="FFFFFF"/>
          </a:solidFill>
          <a:ln w="12700">
            <a:solidFill>
              <a:srgbClr val="D3E0F2"/>
            </a:solidFill>
            <a:prstDash val="solid"/>
          </a:ln>
        </p:spPr>
      </p:sp>
      <p:sp>
        <p:nvSpPr>
          <p:cNvPr id="7" name="Text 5"/>
          <p:cNvSpPr txBox="1"/>
          <p:nvPr/>
        </p:nvSpPr>
        <p:spPr>
          <a:xfrm>
            <a:off x="594360" y="1033272"/>
            <a:ext cx="2194560" cy="310896"/>
          </a:xfrm>
          <a:prstGeom prst="rect">
            <a:avLst/>
          </a:prstGeom>
          <a:noFill/>
          <a:ln/>
        </p:spPr>
        <p:txBody>
          <a:bodyPr wrap="square" lIns="0" tIns="0" rIns="0" bIns="0" rtlCol="0" anchor="ctr"/>
          <a:lstStyle/>
          <a:p>
            <a:pPr marL="0" indent="0">
              <a:buNone/>
            </a:pPr>
            <a:r>
              <a:rPr lang="en-US" sz="1250" b="1" dirty="0">
                <a:solidFill>
                  <a:srgbClr val="1F6FD1"/>
                </a:solidFill>
              </a:rPr>
              <a:t>Target users</a:t>
            </a:r>
            <a:endParaRPr lang="en-US" sz="1250" dirty="0"/>
          </a:p>
        </p:txBody>
      </p:sp>
      <p:sp>
        <p:nvSpPr>
          <p:cNvPr id="8" name="Text 6"/>
          <p:cNvSpPr txBox="1"/>
          <p:nvPr/>
        </p:nvSpPr>
        <p:spPr>
          <a:xfrm>
            <a:off x="594360" y="1362456"/>
            <a:ext cx="2194560" cy="3154680"/>
          </a:xfrm>
          <a:prstGeom prst="rect">
            <a:avLst/>
          </a:prstGeom>
          <a:noFill/>
          <a:ln/>
        </p:spPr>
        <p:txBody>
          <a:bodyPr wrap="square" lIns="0" tIns="0" rIns="0" bIns="0" rtlCol="0" anchor="t"/>
          <a:lstStyle/>
          <a:p>
            <a:pPr marL="342900" indent="-342900">
              <a:spcAft>
                <a:spcPts val="300"/>
              </a:spcAft>
              <a:buSzPct val="100000"/>
              <a:buChar char="•"/>
            </a:pPr>
            <a:r>
              <a:rPr lang="en-US" sz="1200" b="1" dirty="0">
                <a:solidFill>
                  <a:srgbClr val="16253D"/>
                </a:solidFill>
              </a:rPr>
              <a:t>Customers: </a:t>
            </a:r>
            <a:r>
              <a:rPr lang="en-US" sz="1100" dirty="0">
                <a:solidFill>
                  <a:srgbClr val="16253D"/>
                </a:solidFill>
              </a:rPr>
              <a:t>search, upload, order, track</a:t>
            </a:r>
            <a:endParaRPr lang="en-US" sz="1100" dirty="0"/>
          </a:p>
          <a:p>
            <a:pPr marL="342900" indent="-342900">
              <a:spcAft>
                <a:spcPts val="300"/>
              </a:spcAft>
              <a:buSzPct val="100000"/>
              <a:buChar char="•"/>
            </a:pPr>
            <a:r>
              <a:rPr lang="en-US" sz="1200" b="1" dirty="0">
                <a:solidFill>
                  <a:srgbClr val="16253D"/>
                </a:solidFill>
              </a:rPr>
              <a:t>Pharmacy administrators: </a:t>
            </a:r>
            <a:r>
              <a:rPr lang="en-US" sz="1100" dirty="0">
                <a:solidFill>
                  <a:srgbClr val="16253D"/>
                </a:solidFill>
              </a:rPr>
              <a:t>manage medicines, stock, prescriptions, orders</a:t>
            </a:r>
            <a:endParaRPr lang="en-US" sz="1100" dirty="0"/>
          </a:p>
        </p:txBody>
      </p:sp>
      <p:sp>
        <p:nvSpPr>
          <p:cNvPr id="9" name="Shape 7"/>
          <p:cNvSpPr/>
          <p:nvPr/>
        </p:nvSpPr>
        <p:spPr>
          <a:xfrm>
            <a:off x="3063240" y="960120"/>
            <a:ext cx="2926080" cy="3611880"/>
          </a:xfrm>
          <a:prstGeom prst="roundRect">
            <a:avLst>
              <a:gd name="adj" fmla="val 2500"/>
            </a:avLst>
          </a:prstGeom>
          <a:solidFill>
            <a:srgbClr val="FFFFFF"/>
          </a:solidFill>
          <a:ln w="12700">
            <a:solidFill>
              <a:srgbClr val="D3E0F2"/>
            </a:solidFill>
            <a:prstDash val="solid"/>
          </a:ln>
        </p:spPr>
      </p:sp>
      <p:sp>
        <p:nvSpPr>
          <p:cNvPr id="10" name="Text 8"/>
          <p:cNvSpPr txBox="1"/>
          <p:nvPr/>
        </p:nvSpPr>
        <p:spPr>
          <a:xfrm>
            <a:off x="3200400" y="1033272"/>
            <a:ext cx="2651760" cy="310896"/>
          </a:xfrm>
          <a:prstGeom prst="rect">
            <a:avLst/>
          </a:prstGeom>
          <a:noFill/>
          <a:ln/>
        </p:spPr>
        <p:txBody>
          <a:bodyPr wrap="square" lIns="0" tIns="0" rIns="0" bIns="0" rtlCol="0" anchor="ctr"/>
          <a:lstStyle/>
          <a:p>
            <a:pPr marL="0" indent="0">
              <a:buNone/>
            </a:pPr>
            <a:r>
              <a:rPr lang="en-US" sz="1250" b="1" dirty="0">
                <a:solidFill>
                  <a:srgbClr val="1F6FD1"/>
                </a:solidFill>
              </a:rPr>
              <a:t>Included in the project</a:t>
            </a:r>
            <a:endParaRPr lang="en-US" sz="1250" dirty="0"/>
          </a:p>
        </p:txBody>
      </p:sp>
      <p:sp>
        <p:nvSpPr>
          <p:cNvPr id="11" name="Text 9"/>
          <p:cNvSpPr txBox="1"/>
          <p:nvPr/>
        </p:nvSpPr>
        <p:spPr>
          <a:xfrm>
            <a:off x="3200400" y="1362456"/>
            <a:ext cx="2651760" cy="31546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6253D"/>
                </a:solidFill>
              </a:rPr>
              <a:t>Registration &amp; login</a:t>
            </a:r>
            <a:endParaRPr lang="en-US" sz="1050" dirty="0"/>
          </a:p>
          <a:p>
            <a:pPr marL="342900" indent="-342900">
              <a:spcAft>
                <a:spcPts val="300"/>
              </a:spcAft>
              <a:buSzPct val="100000"/>
              <a:buChar char="•"/>
            </a:pPr>
            <a:r>
              <a:rPr lang="en-US" sz="1050" dirty="0">
                <a:solidFill>
                  <a:srgbClr val="16253D"/>
                </a:solidFill>
              </a:rPr>
              <a:t>Medicine search, category filter</a:t>
            </a:r>
            <a:endParaRPr lang="en-US" sz="1050" dirty="0"/>
          </a:p>
          <a:p>
            <a:pPr marL="342900" indent="-342900">
              <a:spcAft>
                <a:spcPts val="300"/>
              </a:spcAft>
              <a:buSzPct val="100000"/>
              <a:buChar char="•"/>
            </a:pPr>
            <a:r>
              <a:rPr lang="en-US" sz="1050" dirty="0">
                <a:solidFill>
                  <a:srgbClr val="16253D"/>
                </a:solidFill>
              </a:rPr>
              <a:t>Prescription upload &amp; AI-assisted verification design</a:t>
            </a:r>
            <a:endParaRPr lang="en-US" sz="1050" dirty="0"/>
          </a:p>
          <a:p>
            <a:pPr marL="342900" indent="-342900">
              <a:spcAft>
                <a:spcPts val="300"/>
              </a:spcAft>
              <a:buSzPct val="100000"/>
              <a:buChar char="•"/>
            </a:pPr>
            <a:r>
              <a:rPr lang="en-US" sz="1050" dirty="0">
                <a:solidFill>
                  <a:srgbClr val="16253D"/>
                </a:solidFill>
              </a:rPr>
              <a:t>Cart, delivery / take-away option</a:t>
            </a:r>
            <a:endParaRPr lang="en-US" sz="1050" dirty="0"/>
          </a:p>
          <a:p>
            <a:pPr marL="342900" indent="-342900">
              <a:spcAft>
                <a:spcPts val="300"/>
              </a:spcAft>
              <a:buSzPct val="100000"/>
              <a:buChar char="•"/>
            </a:pPr>
            <a:r>
              <a:rPr lang="en-US" sz="1050" dirty="0">
                <a:solidFill>
                  <a:srgbClr val="16253D"/>
                </a:solidFill>
              </a:rPr>
              <a:t>Stock &amp; expiry management</a:t>
            </a:r>
            <a:endParaRPr lang="en-US" sz="1050" dirty="0"/>
          </a:p>
          <a:p>
            <a:pPr marL="342900" indent="-342900">
              <a:spcAft>
                <a:spcPts val="300"/>
              </a:spcAft>
              <a:buSzPct val="100000"/>
              <a:buChar char="•"/>
            </a:pPr>
            <a:r>
              <a:rPr lang="en-US" sz="1050" dirty="0">
                <a:solidFill>
                  <a:srgbClr val="16253D"/>
                </a:solidFill>
              </a:rPr>
              <a:t>Chatbot assistance</a:t>
            </a:r>
            <a:endParaRPr lang="en-US" sz="1050" dirty="0"/>
          </a:p>
          <a:p>
            <a:pPr marL="342900" indent="-342900">
              <a:spcAft>
                <a:spcPts val="300"/>
              </a:spcAft>
              <a:buSzPct val="100000"/>
              <a:buChar char="•"/>
            </a:pPr>
            <a:r>
              <a:rPr lang="en-US" sz="1050" dirty="0">
                <a:solidFill>
                  <a:srgbClr val="16253D"/>
                </a:solidFill>
              </a:rPr>
              <a:t>Admin management</a:t>
            </a:r>
            <a:endParaRPr lang="en-US" sz="1050" dirty="0"/>
          </a:p>
        </p:txBody>
      </p:sp>
      <p:sp>
        <p:nvSpPr>
          <p:cNvPr id="12" name="Shape 10"/>
          <p:cNvSpPr/>
          <p:nvPr/>
        </p:nvSpPr>
        <p:spPr>
          <a:xfrm>
            <a:off x="6126480" y="960120"/>
            <a:ext cx="2560320" cy="1737360"/>
          </a:xfrm>
          <a:prstGeom prst="roundRect">
            <a:avLst>
              <a:gd name="adj" fmla="val 4211"/>
            </a:avLst>
          </a:prstGeom>
          <a:solidFill>
            <a:srgbClr val="FFFFFF"/>
          </a:solidFill>
          <a:ln w="12700">
            <a:solidFill>
              <a:srgbClr val="D3E0F2"/>
            </a:solidFill>
            <a:prstDash val="solid"/>
          </a:ln>
        </p:spPr>
      </p:sp>
      <p:sp>
        <p:nvSpPr>
          <p:cNvPr id="13" name="Text 11"/>
          <p:cNvSpPr txBox="1"/>
          <p:nvPr/>
        </p:nvSpPr>
        <p:spPr>
          <a:xfrm>
            <a:off x="6263640" y="1033272"/>
            <a:ext cx="2286000" cy="310896"/>
          </a:xfrm>
          <a:prstGeom prst="rect">
            <a:avLst/>
          </a:prstGeom>
          <a:noFill/>
          <a:ln/>
        </p:spPr>
        <p:txBody>
          <a:bodyPr wrap="square" lIns="0" tIns="0" rIns="0" bIns="0" rtlCol="0" anchor="ctr"/>
          <a:lstStyle/>
          <a:p>
            <a:pPr marL="0" indent="0">
              <a:buNone/>
            </a:pPr>
            <a:r>
              <a:rPr lang="en-US" sz="1250" b="1" dirty="0">
                <a:solidFill>
                  <a:srgbClr val="1F6FD1"/>
                </a:solidFill>
              </a:rPr>
              <a:t>Application areas</a:t>
            </a:r>
            <a:endParaRPr lang="en-US" sz="1250" dirty="0"/>
          </a:p>
        </p:txBody>
      </p:sp>
      <p:sp>
        <p:nvSpPr>
          <p:cNvPr id="14" name="Text 12"/>
          <p:cNvSpPr txBox="1"/>
          <p:nvPr/>
        </p:nvSpPr>
        <p:spPr>
          <a:xfrm>
            <a:off x="6263640" y="1362456"/>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6253D"/>
                </a:solidFill>
              </a:rPr>
              <a:t>Retail pharmacies</a:t>
            </a:r>
            <a:endParaRPr lang="en-US" sz="1050" dirty="0"/>
          </a:p>
          <a:p>
            <a:pPr marL="342900" indent="-342900">
              <a:spcAft>
                <a:spcPts val="300"/>
              </a:spcAft>
              <a:buSzPct val="100000"/>
              <a:buChar char="•"/>
            </a:pPr>
            <a:r>
              <a:rPr lang="en-US" sz="1050" dirty="0">
                <a:solidFill>
                  <a:srgbClr val="16253D"/>
                </a:solidFill>
              </a:rPr>
              <a:t>Online medicine purchasing</a:t>
            </a:r>
            <a:endParaRPr lang="en-US" sz="1050" dirty="0"/>
          </a:p>
        </p:txBody>
      </p:sp>
      <p:sp>
        <p:nvSpPr>
          <p:cNvPr id="15" name="Shape 13"/>
          <p:cNvSpPr/>
          <p:nvPr/>
        </p:nvSpPr>
        <p:spPr>
          <a:xfrm>
            <a:off x="6126480" y="2834640"/>
            <a:ext cx="2560320" cy="1737360"/>
          </a:xfrm>
          <a:prstGeom prst="roundRect">
            <a:avLst>
              <a:gd name="adj" fmla="val 4211"/>
            </a:avLst>
          </a:prstGeom>
          <a:solidFill>
            <a:srgbClr val="FFF4E0"/>
          </a:solidFill>
          <a:ln w="12700">
            <a:solidFill>
              <a:srgbClr val="F2A541"/>
            </a:solidFill>
            <a:prstDash val="solid"/>
          </a:ln>
        </p:spPr>
      </p:sp>
      <p:sp>
        <p:nvSpPr>
          <p:cNvPr id="16" name="Text 14"/>
          <p:cNvSpPr txBox="1"/>
          <p:nvPr/>
        </p:nvSpPr>
        <p:spPr>
          <a:xfrm>
            <a:off x="6263640" y="2907792"/>
            <a:ext cx="2286000" cy="310896"/>
          </a:xfrm>
          <a:prstGeom prst="rect">
            <a:avLst/>
          </a:prstGeom>
          <a:noFill/>
          <a:ln/>
        </p:spPr>
        <p:txBody>
          <a:bodyPr wrap="square" lIns="0" tIns="0" rIns="0" bIns="0" rtlCol="0" anchor="ctr"/>
          <a:lstStyle/>
          <a:p>
            <a:pPr marL="0" indent="0">
              <a:buNone/>
            </a:pPr>
            <a:r>
              <a:rPr lang="en-US" sz="1250" b="1" dirty="0">
                <a:solidFill>
                  <a:srgbClr val="B26A00"/>
                </a:solidFill>
              </a:rPr>
              <a:t>Possible future applications</a:t>
            </a:r>
            <a:endParaRPr lang="en-US" sz="1250" dirty="0"/>
          </a:p>
        </p:txBody>
      </p:sp>
      <p:sp>
        <p:nvSpPr>
          <p:cNvPr id="17" name="Text 15"/>
          <p:cNvSpPr txBox="1"/>
          <p:nvPr/>
        </p:nvSpPr>
        <p:spPr>
          <a:xfrm>
            <a:off x="6263640" y="3236976"/>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6253D"/>
                </a:solidFill>
              </a:rPr>
              <a:t>Multi-branch pharmacies</a:t>
            </a:r>
            <a:endParaRPr lang="en-US" sz="1050" dirty="0"/>
          </a:p>
          <a:p>
            <a:pPr marL="342900" indent="-342900">
              <a:spcAft>
                <a:spcPts val="300"/>
              </a:spcAft>
              <a:buSzPct val="100000"/>
              <a:buChar char="•"/>
            </a:pPr>
            <a:r>
              <a:rPr lang="en-US" sz="1050" dirty="0">
                <a:solidFill>
                  <a:srgbClr val="16253D"/>
                </a:solidFill>
              </a:rPr>
              <a:t>Hospital integration</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62048"/>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Literature Review</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4085990537"/>
              </p:ext>
            </p:extLst>
          </p:nvPr>
        </p:nvGraphicFramePr>
        <p:xfrm>
          <a:off x="274320" y="1100116"/>
          <a:ext cx="8412480" cy="3364992"/>
        </p:xfrm>
        <a:graphic>
          <a:graphicData uri="http://schemas.openxmlformats.org/drawingml/2006/table">
            <a:tbl>
              <a:tblPr/>
              <a:tblGrid>
                <a:gridCol w="14630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tblGrid>
              <a:tr h="302025">
                <a:tc>
                  <a:txBody>
                    <a:bodyPr/>
                    <a:lstStyle/>
                    <a:p>
                      <a:pPr marL="0" indent="0">
                        <a:buNone/>
                      </a:pPr>
                      <a:r>
                        <a:rPr lang="en-US" sz="850" b="1" dirty="0">
                          <a:solidFill>
                            <a:srgbClr val="FFFFFF"/>
                          </a:solidFill>
                        </a:rPr>
                        <a:t>Title &amp; Year</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850" b="1" dirty="0">
                          <a:solidFill>
                            <a:srgbClr val="FFFFFF"/>
                          </a:solidFill>
                        </a:rPr>
                        <a:t>Author / Publication</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850" b="1" dirty="0">
                          <a:solidFill>
                            <a:srgbClr val="FFFFFF"/>
                          </a:solidFill>
                        </a:rPr>
                        <a:t>Algorithm / Method</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850" b="1" dirty="0">
                          <a:solidFill>
                            <a:srgbClr val="FFFFFF"/>
                          </a:solidFill>
                        </a:rPr>
                        <a:t>Feature / Methodology</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850" b="1" dirty="0">
                          <a:solidFill>
                            <a:srgbClr val="FFFFFF"/>
                          </a:solidFill>
                        </a:rPr>
                        <a:t>Performance / Result</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850" b="1" dirty="0">
                          <a:solidFill>
                            <a:srgbClr val="FFFFFF"/>
                          </a:solidFill>
                        </a:rPr>
                        <a:t>Key Finding</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extLst>
                  <a:ext uri="{0D108BD9-81ED-4DB2-BD59-A6C34878D82A}">
                    <a16:rowId xmlns:a16="http://schemas.microsoft.com/office/drawing/2014/main" val="10000"/>
                  </a:ext>
                </a:extLst>
              </a:tr>
              <a:tr h="495049">
                <a:tc>
                  <a:txBody>
                    <a:bodyPr/>
                    <a:lstStyle/>
                    <a:p>
                      <a:pPr marL="0" indent="0">
                        <a:buNone/>
                      </a:pPr>
                      <a:r>
                        <a:rPr lang="en-US" sz="850" b="1" dirty="0">
                          <a:solidFill>
                            <a:srgbClr val="16253D"/>
                          </a:solidFill>
                        </a:rPr>
                        <a:t>AI-Based Prescription Reader (2026)</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Amal Mariya Sibi &amp; Bijimol T.K., NCECA 2026</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Image processing, OCR, CNN, NLP</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Preprocessing, text extraction, medicine identification</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95.4% recognition accuracy (reported by the study)</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OCR pipeline can read prescriptions reliably</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5049">
                <a:tc>
                  <a:txBody>
                    <a:bodyPr/>
                    <a:lstStyle/>
                    <a:p>
                      <a:pPr marL="0" indent="0">
                        <a:buNone/>
                      </a:pPr>
                      <a:r>
                        <a:rPr lang="en-US" sz="850" b="1" dirty="0">
                          <a:solidFill>
                            <a:srgbClr val="16253D"/>
                          </a:solidFill>
                        </a:rPr>
                        <a:t>Medicine Management System(2023)</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Ruth G. Luciano et al., IJEME</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HTML, PHP, XAMPP, MariaDB; Agile</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Online requisition, prescription upload, authentication</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Usability evaluation (no figure in report)</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Digital requisition &amp; upload are core modules</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2"/>
                  </a:ext>
                </a:extLst>
              </a:tr>
              <a:tr h="688072">
                <a:tc>
                  <a:txBody>
                    <a:bodyPr/>
                    <a:lstStyle/>
                    <a:p>
                      <a:pPr marL="0" indent="0">
                        <a:buNone/>
                      </a:pPr>
                      <a:r>
                        <a:rPr lang="en-US" sz="850" b="1" dirty="0">
                          <a:solidFill>
                            <a:srgbClr val="16253D"/>
                          </a:solidFill>
                        </a:rPr>
                        <a:t>PharmaGo: An Online Pharmaceutical Ordering Platform (2021)</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Ranula Gihara Gamage et al., IEEE ICAC</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OCR, image processing, LSTM, AI chatbot</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Prescription reading, pharmacy recommendation, demand prediction, chatbot</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Demand-prediction performance (value not given)</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OCR + ordering + chatbot is a valid approach</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8072">
                <a:tc>
                  <a:txBody>
                    <a:bodyPr/>
                    <a:lstStyle/>
                    <a:p>
                      <a:pPr marL="0" indent="0">
                        <a:buNone/>
                      </a:pPr>
                      <a:r>
                        <a:rPr lang="en-US" sz="850" b="1" dirty="0">
                          <a:solidFill>
                            <a:srgbClr val="16253D"/>
                          </a:solidFill>
                        </a:rPr>
                        <a:t>Patient Satisfaction with Online Pharmacy Services (2022)</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Etidal-Mihaela Manoliu-Hamwi et al., IEEE EHB 2022</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Questionnaire, SPSS, Pearson Chi-square</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Service evaluation, patient satisfaction</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Satisfaction %, p-value (values not given)</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850" dirty="0">
                          <a:solidFill>
                            <a:srgbClr val="16253D"/>
                          </a:solidFill>
                        </a:rPr>
                        <a:t>High patient satisfaction with online pharmacies</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4"/>
                  </a:ext>
                </a:extLst>
              </a:tr>
              <a:tr h="696725">
                <a:tc>
                  <a:txBody>
                    <a:bodyPr/>
                    <a:lstStyle/>
                    <a:p>
                      <a:pPr marL="0" indent="0">
                        <a:buNone/>
                      </a:pPr>
                      <a:r>
                        <a:rPr lang="en-US" sz="850" b="1" dirty="0">
                          <a:solidFill>
                            <a:srgbClr val="16253D"/>
                          </a:solidFill>
                        </a:rPr>
                        <a:t>PharmAI (2025)</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Roshni Patane &amp; Ramesh D. Jadhav</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AI, predictive analytics, UML</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Inventory, billing, reporting, demand prediction</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System efficiency (figures not given)</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850" dirty="0">
                          <a:solidFill>
                            <a:srgbClr val="16253D"/>
                          </a:solidFill>
                        </a:rPr>
                        <a:t>Improves inventory management and decisions</a:t>
                      </a:r>
                      <a:endParaRPr lang="en-US" sz="8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Technologies Used</a:t>
            </a:r>
            <a:endParaRPr lang="en-US" sz="2400" dirty="0"/>
          </a:p>
        </p:txBody>
      </p:sp>
      <p:sp>
        <p:nvSpPr>
          <p:cNvPr id="6" name="Shape 4"/>
          <p:cNvSpPr/>
          <p:nvPr/>
        </p:nvSpPr>
        <p:spPr>
          <a:xfrm>
            <a:off x="457200" y="960120"/>
            <a:ext cx="2651760" cy="1691640"/>
          </a:xfrm>
          <a:prstGeom prst="roundRect">
            <a:avLst>
              <a:gd name="adj" fmla="val 4324"/>
            </a:avLst>
          </a:prstGeom>
          <a:solidFill>
            <a:srgbClr val="FFFFFF"/>
          </a:solidFill>
          <a:ln w="12700">
            <a:solidFill>
              <a:srgbClr val="D3E0F2"/>
            </a:solidFill>
            <a:prstDash val="solid"/>
          </a:ln>
        </p:spPr>
      </p:sp>
      <p:sp>
        <p:nvSpPr>
          <p:cNvPr id="7" name="Text 5"/>
          <p:cNvSpPr txBox="1"/>
          <p:nvPr/>
        </p:nvSpPr>
        <p:spPr>
          <a:xfrm>
            <a:off x="594360" y="1033272"/>
            <a:ext cx="2377440" cy="310896"/>
          </a:xfrm>
          <a:prstGeom prst="rect">
            <a:avLst/>
          </a:prstGeom>
          <a:noFill/>
          <a:ln/>
        </p:spPr>
        <p:txBody>
          <a:bodyPr wrap="square" lIns="0" tIns="0" rIns="0" bIns="0" rtlCol="0" anchor="ctr"/>
          <a:lstStyle/>
          <a:p>
            <a:pPr marL="0" indent="0">
              <a:buNone/>
            </a:pPr>
            <a:r>
              <a:rPr lang="en-US" sz="1250" b="1" dirty="0">
                <a:solidFill>
                  <a:srgbClr val="1F6FD1"/>
                </a:solidFill>
              </a:rPr>
              <a:t>Frontend</a:t>
            </a:r>
            <a:endParaRPr lang="en-US" sz="1250" dirty="0"/>
          </a:p>
        </p:txBody>
      </p:sp>
      <p:sp>
        <p:nvSpPr>
          <p:cNvPr id="8" name="Text 6"/>
          <p:cNvSpPr txBox="1"/>
          <p:nvPr/>
        </p:nvSpPr>
        <p:spPr>
          <a:xfrm>
            <a:off x="594360" y="1371600"/>
            <a:ext cx="2377440" cy="502920"/>
          </a:xfrm>
          <a:prstGeom prst="rect">
            <a:avLst/>
          </a:prstGeom>
          <a:noFill/>
          <a:ln/>
        </p:spPr>
        <p:txBody>
          <a:bodyPr wrap="square" lIns="0" tIns="0" rIns="0" bIns="0" rtlCol="0" anchor="ctr"/>
          <a:lstStyle/>
          <a:p>
            <a:pPr marL="0" indent="0">
              <a:buNone/>
            </a:pPr>
            <a:endParaRPr lang="en-US" sz="1250" b="1" dirty="0">
              <a:solidFill>
                <a:srgbClr val="16253D"/>
              </a:solidFill>
            </a:endParaRPr>
          </a:p>
          <a:p>
            <a:pPr marL="0" indent="0">
              <a:buNone/>
            </a:pPr>
            <a:r>
              <a:rPr lang="en-US" sz="1250" b="1" dirty="0">
                <a:solidFill>
                  <a:srgbClr val="16253D"/>
                </a:solidFill>
              </a:rPr>
              <a:t>HTML · CSS · JavaScript · Bootstrap</a:t>
            </a:r>
            <a:endParaRPr lang="en-US" sz="1250" dirty="0"/>
          </a:p>
        </p:txBody>
      </p:sp>
      <p:sp>
        <p:nvSpPr>
          <p:cNvPr id="10" name="Shape 8"/>
          <p:cNvSpPr/>
          <p:nvPr/>
        </p:nvSpPr>
        <p:spPr>
          <a:xfrm>
            <a:off x="3246120" y="960120"/>
            <a:ext cx="2651760" cy="1691640"/>
          </a:xfrm>
          <a:prstGeom prst="roundRect">
            <a:avLst>
              <a:gd name="adj" fmla="val 4324"/>
            </a:avLst>
          </a:prstGeom>
          <a:solidFill>
            <a:srgbClr val="FFFFFF"/>
          </a:solidFill>
          <a:ln w="12700">
            <a:solidFill>
              <a:srgbClr val="D3E0F2"/>
            </a:solidFill>
            <a:prstDash val="solid"/>
          </a:ln>
        </p:spPr>
      </p:sp>
      <p:sp>
        <p:nvSpPr>
          <p:cNvPr id="11" name="Text 9"/>
          <p:cNvSpPr txBox="1"/>
          <p:nvPr/>
        </p:nvSpPr>
        <p:spPr>
          <a:xfrm>
            <a:off x="3383280" y="1033272"/>
            <a:ext cx="2377440" cy="310896"/>
          </a:xfrm>
          <a:prstGeom prst="rect">
            <a:avLst/>
          </a:prstGeom>
          <a:noFill/>
          <a:ln/>
        </p:spPr>
        <p:txBody>
          <a:bodyPr wrap="square" lIns="0" tIns="0" rIns="0" bIns="0" rtlCol="0" anchor="ctr"/>
          <a:lstStyle/>
          <a:p>
            <a:pPr marL="0" indent="0">
              <a:buNone/>
            </a:pPr>
            <a:r>
              <a:rPr lang="en-US" sz="1250" b="1" dirty="0">
                <a:solidFill>
                  <a:srgbClr val="1F6FD1"/>
                </a:solidFill>
              </a:rPr>
              <a:t>Backend</a:t>
            </a:r>
            <a:endParaRPr lang="en-US" sz="1250" dirty="0"/>
          </a:p>
        </p:txBody>
      </p:sp>
      <p:sp>
        <p:nvSpPr>
          <p:cNvPr id="12" name="Text 10"/>
          <p:cNvSpPr txBox="1"/>
          <p:nvPr/>
        </p:nvSpPr>
        <p:spPr>
          <a:xfrm>
            <a:off x="3383280" y="1371600"/>
            <a:ext cx="2377440" cy="502920"/>
          </a:xfrm>
          <a:prstGeom prst="rect">
            <a:avLst/>
          </a:prstGeom>
          <a:noFill/>
          <a:ln/>
        </p:spPr>
        <p:txBody>
          <a:bodyPr wrap="square" lIns="0" tIns="0" rIns="0" bIns="0" rtlCol="0" anchor="ctr"/>
          <a:lstStyle/>
          <a:p>
            <a:pPr marL="0" indent="0">
              <a:buNone/>
            </a:pPr>
            <a:endParaRPr lang="en-US" sz="1250" b="1" dirty="0">
              <a:solidFill>
                <a:srgbClr val="16253D"/>
              </a:solidFill>
            </a:endParaRPr>
          </a:p>
          <a:p>
            <a:pPr marL="0" indent="0">
              <a:buNone/>
            </a:pPr>
            <a:r>
              <a:rPr lang="en-US" sz="1250" b="1" dirty="0">
                <a:solidFill>
                  <a:srgbClr val="16253D"/>
                </a:solidFill>
              </a:rPr>
              <a:t>Python · Flask</a:t>
            </a:r>
            <a:endParaRPr lang="en-US" sz="1250" dirty="0"/>
          </a:p>
        </p:txBody>
      </p:sp>
      <p:sp>
        <p:nvSpPr>
          <p:cNvPr id="14" name="Shape 12"/>
          <p:cNvSpPr/>
          <p:nvPr/>
        </p:nvSpPr>
        <p:spPr>
          <a:xfrm>
            <a:off x="6035040" y="960120"/>
            <a:ext cx="2651760" cy="1691640"/>
          </a:xfrm>
          <a:prstGeom prst="roundRect">
            <a:avLst>
              <a:gd name="adj" fmla="val 4324"/>
            </a:avLst>
          </a:prstGeom>
          <a:solidFill>
            <a:srgbClr val="FFFFFF"/>
          </a:solidFill>
          <a:ln w="12700">
            <a:solidFill>
              <a:srgbClr val="D3E0F2"/>
            </a:solidFill>
            <a:prstDash val="solid"/>
          </a:ln>
        </p:spPr>
      </p:sp>
      <p:sp>
        <p:nvSpPr>
          <p:cNvPr id="15" name="Text 13"/>
          <p:cNvSpPr txBox="1"/>
          <p:nvPr/>
        </p:nvSpPr>
        <p:spPr>
          <a:xfrm>
            <a:off x="6172200" y="1033272"/>
            <a:ext cx="2377440" cy="310896"/>
          </a:xfrm>
          <a:prstGeom prst="rect">
            <a:avLst/>
          </a:prstGeom>
          <a:noFill/>
          <a:ln/>
        </p:spPr>
        <p:txBody>
          <a:bodyPr wrap="square" lIns="0" tIns="0" rIns="0" bIns="0" rtlCol="0" anchor="ctr"/>
          <a:lstStyle/>
          <a:p>
            <a:pPr marL="0" indent="0">
              <a:buNone/>
            </a:pPr>
            <a:r>
              <a:rPr lang="en-US" sz="1250" b="1" dirty="0">
                <a:solidFill>
                  <a:srgbClr val="1F6FD1"/>
                </a:solidFill>
              </a:rPr>
              <a:t>Database</a:t>
            </a:r>
            <a:endParaRPr lang="en-US" sz="1250" dirty="0"/>
          </a:p>
        </p:txBody>
      </p:sp>
      <p:sp>
        <p:nvSpPr>
          <p:cNvPr id="16" name="Text 14"/>
          <p:cNvSpPr txBox="1"/>
          <p:nvPr/>
        </p:nvSpPr>
        <p:spPr>
          <a:xfrm>
            <a:off x="6172200" y="1371600"/>
            <a:ext cx="2377440" cy="502920"/>
          </a:xfrm>
          <a:prstGeom prst="rect">
            <a:avLst/>
          </a:prstGeom>
          <a:noFill/>
          <a:ln/>
        </p:spPr>
        <p:txBody>
          <a:bodyPr wrap="square" lIns="0" tIns="0" rIns="0" bIns="0" rtlCol="0" anchor="ctr"/>
          <a:lstStyle/>
          <a:p>
            <a:pPr marL="0" indent="0">
              <a:buNone/>
            </a:pPr>
            <a:endParaRPr lang="en-US" sz="1250" b="1" dirty="0">
              <a:solidFill>
                <a:srgbClr val="16253D"/>
              </a:solidFill>
            </a:endParaRPr>
          </a:p>
          <a:p>
            <a:pPr marL="0" indent="0">
              <a:buNone/>
            </a:pPr>
            <a:r>
              <a:rPr lang="en-US" sz="1250" b="1" dirty="0">
                <a:solidFill>
                  <a:srgbClr val="16253D"/>
                </a:solidFill>
              </a:rPr>
              <a:t>SQLite</a:t>
            </a:r>
            <a:endParaRPr lang="en-US" sz="1250" dirty="0"/>
          </a:p>
        </p:txBody>
      </p:sp>
      <p:sp>
        <p:nvSpPr>
          <p:cNvPr id="18" name="Shape 16"/>
          <p:cNvSpPr/>
          <p:nvPr/>
        </p:nvSpPr>
        <p:spPr>
          <a:xfrm>
            <a:off x="457200" y="2788920"/>
            <a:ext cx="2651760" cy="1691640"/>
          </a:xfrm>
          <a:prstGeom prst="roundRect">
            <a:avLst>
              <a:gd name="adj" fmla="val 4324"/>
            </a:avLst>
          </a:prstGeom>
          <a:solidFill>
            <a:srgbClr val="FFFFFF"/>
          </a:solidFill>
          <a:ln w="12700">
            <a:solidFill>
              <a:srgbClr val="D3E0F2"/>
            </a:solidFill>
            <a:prstDash val="solid"/>
          </a:ln>
        </p:spPr>
      </p:sp>
      <p:sp>
        <p:nvSpPr>
          <p:cNvPr id="19" name="Text 17"/>
          <p:cNvSpPr txBox="1"/>
          <p:nvPr/>
        </p:nvSpPr>
        <p:spPr>
          <a:xfrm>
            <a:off x="649224" y="2862072"/>
            <a:ext cx="2377440" cy="310896"/>
          </a:xfrm>
          <a:prstGeom prst="rect">
            <a:avLst/>
          </a:prstGeom>
          <a:noFill/>
          <a:ln/>
        </p:spPr>
        <p:txBody>
          <a:bodyPr wrap="square" lIns="0" tIns="0" rIns="0" bIns="0" rtlCol="0" anchor="ctr"/>
          <a:lstStyle/>
          <a:p>
            <a:r>
              <a:rPr lang="en-US" sz="1250" b="1" dirty="0">
                <a:solidFill>
                  <a:srgbClr val="1F6FD1"/>
                </a:solidFill>
              </a:rPr>
              <a:t>AI  Technologies</a:t>
            </a:r>
            <a:endParaRPr lang="en-US" sz="1250" dirty="0"/>
          </a:p>
        </p:txBody>
      </p:sp>
      <p:sp>
        <p:nvSpPr>
          <p:cNvPr id="20" name="Text 18"/>
          <p:cNvSpPr txBox="1"/>
          <p:nvPr/>
        </p:nvSpPr>
        <p:spPr>
          <a:xfrm>
            <a:off x="594360" y="3200400"/>
            <a:ext cx="2377440" cy="502920"/>
          </a:xfrm>
          <a:prstGeom prst="rect">
            <a:avLst/>
          </a:prstGeom>
          <a:noFill/>
          <a:ln/>
        </p:spPr>
        <p:txBody>
          <a:bodyPr wrap="square" lIns="0" tIns="0" rIns="0" bIns="0" rtlCol="0" anchor="ctr"/>
          <a:lstStyle/>
          <a:p>
            <a:pPr marL="0" indent="0">
              <a:buNone/>
            </a:pPr>
            <a:endParaRPr lang="en-US" sz="1250" b="1" dirty="0">
              <a:solidFill>
                <a:srgbClr val="16253D"/>
              </a:solidFill>
            </a:endParaRPr>
          </a:p>
          <a:p>
            <a:pPr marL="0" indent="0">
              <a:buNone/>
            </a:pPr>
            <a:r>
              <a:rPr lang="en-US" sz="1250" b="1" dirty="0">
                <a:solidFill>
                  <a:srgbClr val="16253D"/>
                </a:solidFill>
              </a:rPr>
              <a:t>Tesseract OCR · TrOCR</a:t>
            </a:r>
            <a:endParaRPr lang="en-US" sz="1250" dirty="0"/>
          </a:p>
        </p:txBody>
      </p:sp>
      <p:sp>
        <p:nvSpPr>
          <p:cNvPr id="22" name="Shape 20"/>
          <p:cNvSpPr/>
          <p:nvPr/>
        </p:nvSpPr>
        <p:spPr>
          <a:xfrm>
            <a:off x="3246120" y="2788920"/>
            <a:ext cx="2651760" cy="1691640"/>
          </a:xfrm>
          <a:prstGeom prst="roundRect">
            <a:avLst>
              <a:gd name="adj" fmla="val 4324"/>
            </a:avLst>
          </a:prstGeom>
          <a:solidFill>
            <a:srgbClr val="FFFFFF"/>
          </a:solidFill>
          <a:ln w="12700">
            <a:solidFill>
              <a:srgbClr val="D3E0F2"/>
            </a:solidFill>
            <a:prstDash val="solid"/>
          </a:ln>
        </p:spPr>
      </p:sp>
      <p:sp>
        <p:nvSpPr>
          <p:cNvPr id="23" name="Text 21"/>
          <p:cNvSpPr txBox="1"/>
          <p:nvPr/>
        </p:nvSpPr>
        <p:spPr>
          <a:xfrm>
            <a:off x="3383280" y="2862072"/>
            <a:ext cx="2377440" cy="310896"/>
          </a:xfrm>
          <a:prstGeom prst="rect">
            <a:avLst/>
          </a:prstGeom>
          <a:noFill/>
          <a:ln/>
        </p:spPr>
        <p:txBody>
          <a:bodyPr wrap="square" lIns="0" tIns="0" rIns="0" bIns="0" rtlCol="0" anchor="ctr"/>
          <a:lstStyle/>
          <a:p>
            <a:pPr marL="0" indent="0">
              <a:buNone/>
            </a:pPr>
            <a:r>
              <a:rPr lang="en-US" sz="1250" b="1" dirty="0">
                <a:solidFill>
                  <a:srgbClr val="1F6FD1"/>
                </a:solidFill>
              </a:rPr>
              <a:t>AI Interpretation</a:t>
            </a:r>
            <a:endParaRPr lang="en-US" sz="1250" dirty="0"/>
          </a:p>
        </p:txBody>
      </p:sp>
      <p:sp>
        <p:nvSpPr>
          <p:cNvPr id="24" name="Text 22"/>
          <p:cNvSpPr txBox="1"/>
          <p:nvPr/>
        </p:nvSpPr>
        <p:spPr>
          <a:xfrm>
            <a:off x="3383280" y="3200400"/>
            <a:ext cx="2377440" cy="502920"/>
          </a:xfrm>
          <a:prstGeom prst="rect">
            <a:avLst/>
          </a:prstGeom>
          <a:noFill/>
          <a:ln/>
        </p:spPr>
        <p:txBody>
          <a:bodyPr wrap="square" lIns="0" tIns="0" rIns="0" bIns="0" rtlCol="0" anchor="ctr"/>
          <a:lstStyle/>
          <a:p>
            <a:pPr marL="0" indent="0">
              <a:buNone/>
            </a:pPr>
            <a:endParaRPr lang="en-US" sz="1250" b="1" dirty="0">
              <a:solidFill>
                <a:srgbClr val="16253D"/>
              </a:solidFill>
            </a:endParaRPr>
          </a:p>
          <a:p>
            <a:pPr marL="0" indent="0">
              <a:buNone/>
            </a:pPr>
            <a:r>
              <a:rPr lang="en-US" sz="1250" b="1" dirty="0">
                <a:solidFill>
                  <a:srgbClr val="16253D"/>
                </a:solidFill>
              </a:rPr>
              <a:t>Google Gemini API</a:t>
            </a:r>
            <a:endParaRPr lang="en-US" sz="1250" dirty="0"/>
          </a:p>
        </p:txBody>
      </p:sp>
      <p:sp>
        <p:nvSpPr>
          <p:cNvPr id="26" name="Shape 24"/>
          <p:cNvSpPr/>
          <p:nvPr/>
        </p:nvSpPr>
        <p:spPr>
          <a:xfrm>
            <a:off x="6035040" y="2788920"/>
            <a:ext cx="2651760" cy="1691640"/>
          </a:xfrm>
          <a:prstGeom prst="roundRect">
            <a:avLst>
              <a:gd name="adj" fmla="val 4324"/>
            </a:avLst>
          </a:prstGeom>
          <a:solidFill>
            <a:srgbClr val="FFFFFF"/>
          </a:solidFill>
          <a:ln w="12700">
            <a:solidFill>
              <a:srgbClr val="D3E0F2"/>
            </a:solidFill>
            <a:prstDash val="solid"/>
          </a:ln>
        </p:spPr>
      </p:sp>
      <p:sp>
        <p:nvSpPr>
          <p:cNvPr id="27" name="Text 25"/>
          <p:cNvSpPr txBox="1"/>
          <p:nvPr/>
        </p:nvSpPr>
        <p:spPr>
          <a:xfrm>
            <a:off x="6172200" y="2862072"/>
            <a:ext cx="2377440" cy="310896"/>
          </a:xfrm>
          <a:prstGeom prst="rect">
            <a:avLst/>
          </a:prstGeom>
          <a:noFill/>
          <a:ln/>
        </p:spPr>
        <p:txBody>
          <a:bodyPr wrap="square" lIns="0" tIns="0" rIns="0" bIns="0" rtlCol="0" anchor="ctr"/>
          <a:lstStyle/>
          <a:p>
            <a:pPr marL="0" indent="0">
              <a:buNone/>
            </a:pPr>
            <a:r>
              <a:rPr lang="en-US" sz="1250" b="1" dirty="0">
                <a:solidFill>
                  <a:srgbClr val="1F6FD1"/>
                </a:solidFill>
              </a:rPr>
              <a:t>Chatbot</a:t>
            </a:r>
            <a:endParaRPr lang="en-US" sz="1250" dirty="0"/>
          </a:p>
        </p:txBody>
      </p:sp>
      <p:sp>
        <p:nvSpPr>
          <p:cNvPr id="28" name="Text 26"/>
          <p:cNvSpPr txBox="1"/>
          <p:nvPr/>
        </p:nvSpPr>
        <p:spPr>
          <a:xfrm>
            <a:off x="6172200" y="3200400"/>
            <a:ext cx="2377440" cy="502920"/>
          </a:xfrm>
          <a:prstGeom prst="rect">
            <a:avLst/>
          </a:prstGeom>
          <a:noFill/>
          <a:ln/>
        </p:spPr>
        <p:txBody>
          <a:bodyPr wrap="square" lIns="0" tIns="0" rIns="0" bIns="0" rtlCol="0" anchor="ctr"/>
          <a:lstStyle/>
          <a:p>
            <a:pPr marL="0" indent="0">
              <a:buNone/>
            </a:pPr>
            <a:endParaRPr lang="en-US" sz="1250" b="1" dirty="0">
              <a:solidFill>
                <a:srgbClr val="16253D"/>
              </a:solidFill>
            </a:endParaRPr>
          </a:p>
          <a:p>
            <a:pPr marL="0" indent="0">
              <a:buNone/>
            </a:pPr>
            <a:r>
              <a:rPr lang="en-US" sz="1250" b="1" dirty="0">
                <a:solidFill>
                  <a:srgbClr val="16253D"/>
                </a:solidFill>
              </a:rPr>
              <a:t>Rule-based + basic NLP</a:t>
            </a:r>
            <a:endParaRPr lang="en-US" sz="1250" dirty="0"/>
          </a:p>
        </p:txBody>
      </p:sp>
      <p:sp>
        <p:nvSpPr>
          <p:cNvPr id="30"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Software &amp; Hardware Requirements</a:t>
            </a:r>
            <a:endParaRPr lang="en-US" sz="2400" dirty="0"/>
          </a:p>
        </p:txBody>
      </p:sp>
      <p:sp>
        <p:nvSpPr>
          <p:cNvPr id="6" name="Shape 4"/>
          <p:cNvSpPr/>
          <p:nvPr/>
        </p:nvSpPr>
        <p:spPr>
          <a:xfrm>
            <a:off x="457200" y="960120"/>
            <a:ext cx="4023360" cy="3383280"/>
          </a:xfrm>
          <a:prstGeom prst="roundRect">
            <a:avLst>
              <a:gd name="adj" fmla="val 2162"/>
            </a:avLst>
          </a:prstGeom>
          <a:solidFill>
            <a:srgbClr val="FFFFFF"/>
          </a:solidFill>
          <a:ln w="12700">
            <a:solidFill>
              <a:srgbClr val="D3E0F2"/>
            </a:solidFill>
            <a:prstDash val="solid"/>
          </a:ln>
        </p:spPr>
      </p:sp>
      <p:sp>
        <p:nvSpPr>
          <p:cNvPr id="7" name="Text 5"/>
          <p:cNvSpPr txBox="1"/>
          <p:nvPr/>
        </p:nvSpPr>
        <p:spPr>
          <a:xfrm>
            <a:off x="594360" y="103327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Software Requirements</a:t>
            </a:r>
            <a:endParaRPr lang="en-US" sz="1250" dirty="0"/>
          </a:p>
        </p:txBody>
      </p:sp>
      <p:sp>
        <p:nvSpPr>
          <p:cNvPr id="8" name="Text 6"/>
          <p:cNvSpPr txBox="1"/>
          <p:nvPr/>
        </p:nvSpPr>
        <p:spPr>
          <a:xfrm>
            <a:off x="594360" y="1362456"/>
            <a:ext cx="3749040" cy="2926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6253D"/>
                </a:solidFill>
              </a:rPr>
              <a:t>Frontend: HTML, CSS, JavaScript, Bootstrap</a:t>
            </a:r>
            <a:endParaRPr lang="en-US" sz="1150" dirty="0"/>
          </a:p>
          <a:p>
            <a:pPr marL="342900" indent="-342900">
              <a:spcAft>
                <a:spcPts val="300"/>
              </a:spcAft>
              <a:buSzPct val="100000"/>
              <a:buChar char="•"/>
            </a:pPr>
            <a:r>
              <a:rPr lang="en-US" sz="1150" dirty="0">
                <a:solidFill>
                  <a:srgbClr val="16253D"/>
                </a:solidFill>
              </a:rPr>
              <a:t>Backend: Python with Flask</a:t>
            </a:r>
            <a:endParaRPr lang="en-US" sz="1150" dirty="0"/>
          </a:p>
          <a:p>
            <a:pPr marL="342900" indent="-342900">
              <a:spcAft>
                <a:spcPts val="300"/>
              </a:spcAft>
              <a:buSzPct val="100000"/>
              <a:buChar char="•"/>
            </a:pPr>
            <a:r>
              <a:rPr lang="en-US" sz="1150" dirty="0">
                <a:solidFill>
                  <a:srgbClr val="16253D"/>
                </a:solidFill>
              </a:rPr>
              <a:t>Database: SQLite</a:t>
            </a:r>
            <a:endParaRPr lang="en-US" sz="1150" dirty="0"/>
          </a:p>
          <a:p>
            <a:pPr marL="342900" indent="-342900">
              <a:spcAft>
                <a:spcPts val="300"/>
              </a:spcAft>
              <a:buSzPct val="100000"/>
              <a:buChar char="•"/>
            </a:pPr>
            <a:r>
              <a:rPr lang="en-US" sz="1150" dirty="0">
                <a:solidFill>
                  <a:srgbClr val="16253D"/>
                </a:solidFill>
              </a:rPr>
              <a:t>OCR / AI: Tesseract OCR, TrOCR, Google Gemini API</a:t>
            </a:r>
            <a:endParaRPr lang="en-US" sz="1150" dirty="0"/>
          </a:p>
          <a:p>
            <a:pPr marL="342900" indent="-342900">
              <a:spcAft>
                <a:spcPts val="300"/>
              </a:spcAft>
              <a:buSzPct val="100000"/>
              <a:buChar char="•"/>
            </a:pPr>
            <a:r>
              <a:rPr lang="en-US" sz="1150" dirty="0">
                <a:solidFill>
                  <a:srgbClr val="16253D"/>
                </a:solidFill>
              </a:rPr>
              <a:t>Web browser for accessing the application</a:t>
            </a:r>
            <a:endParaRPr lang="en-US" sz="1150" dirty="0"/>
          </a:p>
        </p:txBody>
      </p:sp>
      <p:sp>
        <p:nvSpPr>
          <p:cNvPr id="9" name="Shape 7"/>
          <p:cNvSpPr/>
          <p:nvPr/>
        </p:nvSpPr>
        <p:spPr>
          <a:xfrm>
            <a:off x="4663440" y="960120"/>
            <a:ext cx="4023360" cy="3383280"/>
          </a:xfrm>
          <a:prstGeom prst="roundRect">
            <a:avLst>
              <a:gd name="adj" fmla="val 2162"/>
            </a:avLst>
          </a:prstGeom>
          <a:solidFill>
            <a:srgbClr val="FFFFFF"/>
          </a:solidFill>
          <a:ln w="12700">
            <a:solidFill>
              <a:srgbClr val="D3E0F2"/>
            </a:solidFill>
            <a:prstDash val="solid"/>
          </a:ln>
        </p:spPr>
      </p:sp>
      <p:sp>
        <p:nvSpPr>
          <p:cNvPr id="10" name="Text 8"/>
          <p:cNvSpPr txBox="1"/>
          <p:nvPr/>
        </p:nvSpPr>
        <p:spPr>
          <a:xfrm>
            <a:off x="4800600" y="103327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Hardware Requirements</a:t>
            </a:r>
          </a:p>
        </p:txBody>
      </p:sp>
      <p:sp>
        <p:nvSpPr>
          <p:cNvPr id="11" name="Text 9"/>
          <p:cNvSpPr txBox="1"/>
          <p:nvPr/>
        </p:nvSpPr>
        <p:spPr>
          <a:xfrm>
            <a:off x="4800600" y="1362456"/>
            <a:ext cx="3749040" cy="2926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6253D"/>
                </a:solidFill>
              </a:rPr>
              <a:t>Computer or laptop able to run a web browser and Python / Flask</a:t>
            </a:r>
            <a:endParaRPr lang="en-US" sz="1150" dirty="0"/>
          </a:p>
          <a:p>
            <a:pPr marL="342900" indent="-342900">
              <a:spcAft>
                <a:spcPts val="300"/>
              </a:spcAft>
              <a:buSzPct val="100000"/>
              <a:buChar char="•"/>
            </a:pPr>
            <a:r>
              <a:rPr lang="en-US" sz="1150" dirty="0">
                <a:solidFill>
                  <a:srgbClr val="16253D"/>
                </a:solidFill>
              </a:rPr>
              <a:t>Stable internet connection (needed for online features and the Gemini API)</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txBody>
          <a:bodyPr/>
          <a:lstStyle/>
          <a:p>
            <a:endParaRPr lang="en-IN" dirty="0"/>
          </a:p>
        </p:txBody>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System Architecture</a:t>
            </a:r>
            <a:endParaRPr lang="en-US" sz="2400" dirty="0"/>
          </a:p>
        </p:txBody>
      </p:sp>
      <p:sp>
        <p:nvSpPr>
          <p:cNvPr id="6" name="Shape 4"/>
          <p:cNvSpPr/>
          <p:nvPr/>
        </p:nvSpPr>
        <p:spPr>
          <a:xfrm>
            <a:off x="456916" y="886968"/>
            <a:ext cx="4664008" cy="3803904"/>
          </a:xfrm>
          <a:prstGeom prst="rect">
            <a:avLst/>
          </a:prstGeom>
          <a:solidFill>
            <a:srgbClr val="FFFFFF"/>
          </a:solidFill>
          <a:ln w="12700">
            <a:solidFill>
              <a:srgbClr val="D3E0F2"/>
            </a:solidFill>
            <a:prstDash val="solid"/>
          </a:ln>
        </p:spPr>
      </p:sp>
      <p:pic>
        <p:nvPicPr>
          <p:cNvPr id="7" name="Image 0" descr="arch"/>
          <p:cNvPicPr>
            <a:picLocks noChangeAspect="1"/>
          </p:cNvPicPr>
          <p:nvPr/>
        </p:nvPicPr>
        <p:blipFill>
          <a:blip r:embed="rId3"/>
          <a:stretch>
            <a:fillRect/>
          </a:stretch>
        </p:blipFill>
        <p:spPr>
          <a:xfrm>
            <a:off x="484348" y="914400"/>
            <a:ext cx="4609144" cy="3749040"/>
          </a:xfrm>
          <a:prstGeom prst="rect">
            <a:avLst/>
          </a:prstGeom>
        </p:spPr>
      </p:pic>
      <p:sp>
        <p:nvSpPr>
          <p:cNvPr id="8" name="Shape 5"/>
          <p:cNvSpPr/>
          <p:nvPr/>
        </p:nvSpPr>
        <p:spPr>
          <a:xfrm>
            <a:off x="5394960" y="914400"/>
            <a:ext cx="3383280" cy="868680"/>
          </a:xfrm>
          <a:prstGeom prst="roundRect">
            <a:avLst>
              <a:gd name="adj" fmla="val 8421"/>
            </a:avLst>
          </a:prstGeom>
          <a:solidFill>
            <a:srgbClr val="FFFFFF"/>
          </a:solidFill>
          <a:ln w="12700">
            <a:solidFill>
              <a:srgbClr val="D3E0F2"/>
            </a:solidFill>
            <a:prstDash val="solid"/>
          </a:ln>
        </p:spPr>
      </p:sp>
      <p:sp>
        <p:nvSpPr>
          <p:cNvPr id="9" name="Text 6"/>
          <p:cNvSpPr txBox="1"/>
          <p:nvPr/>
        </p:nvSpPr>
        <p:spPr>
          <a:xfrm>
            <a:off x="5532120" y="987552"/>
            <a:ext cx="3108960" cy="310896"/>
          </a:xfrm>
          <a:prstGeom prst="rect">
            <a:avLst/>
          </a:prstGeom>
          <a:noFill/>
          <a:ln/>
        </p:spPr>
        <p:txBody>
          <a:bodyPr wrap="square" lIns="0" tIns="0" rIns="0" bIns="0" rtlCol="0" anchor="ctr"/>
          <a:lstStyle/>
          <a:p>
            <a:pPr marL="0" indent="0">
              <a:buNone/>
            </a:pPr>
            <a:r>
              <a:rPr lang="en-US" sz="1150" b="1" dirty="0">
                <a:solidFill>
                  <a:srgbClr val="1F6FD1"/>
                </a:solidFill>
              </a:rPr>
              <a:t>Presentation layer</a:t>
            </a:r>
            <a:endParaRPr lang="en-US" sz="1150" dirty="0"/>
          </a:p>
        </p:txBody>
      </p:sp>
      <p:sp>
        <p:nvSpPr>
          <p:cNvPr id="10" name="Text 7"/>
          <p:cNvSpPr txBox="1"/>
          <p:nvPr/>
        </p:nvSpPr>
        <p:spPr>
          <a:xfrm>
            <a:off x="5532120" y="1316736"/>
            <a:ext cx="3108960" cy="411480"/>
          </a:xfrm>
          <a:prstGeom prst="rect">
            <a:avLst/>
          </a:prstGeom>
          <a:noFill/>
          <a:ln/>
        </p:spPr>
        <p:txBody>
          <a:bodyPr wrap="square" lIns="0" tIns="0" rIns="0" bIns="0" rtlCol="0" anchor="t"/>
          <a:lstStyle/>
          <a:p>
            <a:pPr marL="0" indent="0">
              <a:spcAft>
                <a:spcPts val="300"/>
              </a:spcAft>
              <a:buNone/>
            </a:pPr>
            <a:r>
              <a:rPr lang="en-US" sz="950" dirty="0">
                <a:solidFill>
                  <a:srgbClr val="16253D"/>
                </a:solidFill>
              </a:rPr>
              <a:t>HTML, CSS, JavaScript, Bootstrap · user &amp; admin interfaces</a:t>
            </a:r>
            <a:endParaRPr lang="en-US" sz="950" dirty="0"/>
          </a:p>
        </p:txBody>
      </p:sp>
      <p:sp>
        <p:nvSpPr>
          <p:cNvPr id="11" name="Shape 8"/>
          <p:cNvSpPr/>
          <p:nvPr/>
        </p:nvSpPr>
        <p:spPr>
          <a:xfrm>
            <a:off x="5394960" y="1856232"/>
            <a:ext cx="3383280" cy="868680"/>
          </a:xfrm>
          <a:prstGeom prst="roundRect">
            <a:avLst>
              <a:gd name="adj" fmla="val 8421"/>
            </a:avLst>
          </a:prstGeom>
          <a:solidFill>
            <a:srgbClr val="FFFFFF"/>
          </a:solidFill>
          <a:ln w="12700">
            <a:solidFill>
              <a:srgbClr val="D3E0F2"/>
            </a:solidFill>
            <a:prstDash val="solid"/>
          </a:ln>
        </p:spPr>
      </p:sp>
      <p:sp>
        <p:nvSpPr>
          <p:cNvPr id="12" name="Text 9"/>
          <p:cNvSpPr txBox="1"/>
          <p:nvPr/>
        </p:nvSpPr>
        <p:spPr>
          <a:xfrm>
            <a:off x="5532120" y="1929384"/>
            <a:ext cx="3108960" cy="310896"/>
          </a:xfrm>
          <a:prstGeom prst="rect">
            <a:avLst/>
          </a:prstGeom>
          <a:noFill/>
          <a:ln/>
        </p:spPr>
        <p:txBody>
          <a:bodyPr wrap="square" lIns="0" tIns="0" rIns="0" bIns="0" rtlCol="0" anchor="ctr"/>
          <a:lstStyle/>
          <a:p>
            <a:pPr marL="0" indent="0">
              <a:buNone/>
            </a:pPr>
            <a:r>
              <a:rPr lang="en-US" sz="1150" b="1" dirty="0">
                <a:solidFill>
                  <a:srgbClr val="1F6FD1"/>
                </a:solidFill>
              </a:rPr>
              <a:t>Application layer</a:t>
            </a:r>
            <a:endParaRPr lang="en-US" sz="1150" dirty="0"/>
          </a:p>
        </p:txBody>
      </p:sp>
      <p:sp>
        <p:nvSpPr>
          <p:cNvPr id="13" name="Text 10"/>
          <p:cNvSpPr txBox="1"/>
          <p:nvPr/>
        </p:nvSpPr>
        <p:spPr>
          <a:xfrm>
            <a:off x="5532120" y="2258568"/>
            <a:ext cx="3108960" cy="411480"/>
          </a:xfrm>
          <a:prstGeom prst="rect">
            <a:avLst/>
          </a:prstGeom>
          <a:noFill/>
          <a:ln/>
        </p:spPr>
        <p:txBody>
          <a:bodyPr wrap="square" lIns="0" tIns="0" rIns="0" bIns="0" rtlCol="0" anchor="t"/>
          <a:lstStyle/>
          <a:p>
            <a:pPr marL="0" indent="0">
              <a:spcAft>
                <a:spcPts val="300"/>
              </a:spcAft>
              <a:buNone/>
            </a:pPr>
            <a:r>
              <a:rPr lang="en-US" sz="950" dirty="0">
                <a:solidFill>
                  <a:srgbClr val="16253D"/>
                </a:solidFill>
              </a:rPr>
              <a:t>Flask · user, medicine, stock, order, payment, coupon, notification logic</a:t>
            </a:r>
            <a:endParaRPr lang="en-US" sz="950" dirty="0"/>
          </a:p>
        </p:txBody>
      </p:sp>
      <p:sp>
        <p:nvSpPr>
          <p:cNvPr id="14" name="Shape 11"/>
          <p:cNvSpPr/>
          <p:nvPr/>
        </p:nvSpPr>
        <p:spPr>
          <a:xfrm>
            <a:off x="5394960" y="2798064"/>
            <a:ext cx="3383280" cy="868680"/>
          </a:xfrm>
          <a:prstGeom prst="roundRect">
            <a:avLst>
              <a:gd name="adj" fmla="val 8421"/>
            </a:avLst>
          </a:prstGeom>
          <a:solidFill>
            <a:srgbClr val="FFFFFF"/>
          </a:solidFill>
          <a:ln w="12700">
            <a:solidFill>
              <a:srgbClr val="D3E0F2"/>
            </a:solidFill>
            <a:prstDash val="solid"/>
          </a:ln>
        </p:spPr>
      </p:sp>
      <p:sp>
        <p:nvSpPr>
          <p:cNvPr id="15" name="Text 12"/>
          <p:cNvSpPr txBox="1"/>
          <p:nvPr/>
        </p:nvSpPr>
        <p:spPr>
          <a:xfrm>
            <a:off x="5532120" y="2871216"/>
            <a:ext cx="3108960" cy="310896"/>
          </a:xfrm>
          <a:prstGeom prst="rect">
            <a:avLst/>
          </a:prstGeom>
          <a:noFill/>
          <a:ln/>
        </p:spPr>
        <p:txBody>
          <a:bodyPr wrap="square" lIns="0" tIns="0" rIns="0" bIns="0" rtlCol="0" anchor="ctr"/>
          <a:lstStyle/>
          <a:p>
            <a:pPr marL="0" indent="0">
              <a:buNone/>
            </a:pPr>
            <a:r>
              <a:rPr lang="en-US" sz="1150" b="1" dirty="0">
                <a:solidFill>
                  <a:srgbClr val="1F6FD1"/>
                </a:solidFill>
              </a:rPr>
              <a:t>AI processing layer</a:t>
            </a:r>
            <a:endParaRPr lang="en-US" sz="1150" dirty="0"/>
          </a:p>
        </p:txBody>
      </p:sp>
      <p:sp>
        <p:nvSpPr>
          <p:cNvPr id="16" name="Text 13"/>
          <p:cNvSpPr txBox="1"/>
          <p:nvPr/>
        </p:nvSpPr>
        <p:spPr>
          <a:xfrm>
            <a:off x="5532120" y="3200400"/>
            <a:ext cx="3108960" cy="411480"/>
          </a:xfrm>
          <a:prstGeom prst="rect">
            <a:avLst/>
          </a:prstGeom>
          <a:noFill/>
          <a:ln/>
        </p:spPr>
        <p:txBody>
          <a:bodyPr wrap="square" lIns="0" tIns="0" rIns="0" bIns="0" rtlCol="0" anchor="t"/>
          <a:lstStyle/>
          <a:p>
            <a:pPr marL="0" indent="0">
              <a:spcAft>
                <a:spcPts val="300"/>
              </a:spcAft>
              <a:buNone/>
            </a:pPr>
            <a:r>
              <a:rPr lang="en-US" sz="950" dirty="0">
                <a:solidFill>
                  <a:srgbClr val="16253D"/>
                </a:solidFill>
              </a:rPr>
              <a:t>Tesseract OCR, TrOCR, Gemini API</a:t>
            </a:r>
            <a:endParaRPr lang="en-US" sz="950" dirty="0"/>
          </a:p>
        </p:txBody>
      </p:sp>
      <p:sp>
        <p:nvSpPr>
          <p:cNvPr id="17" name="Shape 14"/>
          <p:cNvSpPr/>
          <p:nvPr/>
        </p:nvSpPr>
        <p:spPr>
          <a:xfrm>
            <a:off x="5394960" y="3739896"/>
            <a:ext cx="3383280" cy="868680"/>
          </a:xfrm>
          <a:prstGeom prst="roundRect">
            <a:avLst>
              <a:gd name="adj" fmla="val 8421"/>
            </a:avLst>
          </a:prstGeom>
          <a:solidFill>
            <a:srgbClr val="FFFFFF"/>
          </a:solidFill>
          <a:ln w="12700">
            <a:solidFill>
              <a:srgbClr val="D3E0F2"/>
            </a:solidFill>
            <a:prstDash val="solid"/>
          </a:ln>
        </p:spPr>
      </p:sp>
      <p:sp>
        <p:nvSpPr>
          <p:cNvPr id="18" name="Text 15"/>
          <p:cNvSpPr txBox="1"/>
          <p:nvPr/>
        </p:nvSpPr>
        <p:spPr>
          <a:xfrm>
            <a:off x="5532120" y="3813048"/>
            <a:ext cx="3108960" cy="310896"/>
          </a:xfrm>
          <a:prstGeom prst="rect">
            <a:avLst/>
          </a:prstGeom>
          <a:noFill/>
          <a:ln/>
        </p:spPr>
        <p:txBody>
          <a:bodyPr wrap="square" lIns="0" tIns="0" rIns="0" bIns="0" rtlCol="0" anchor="ctr"/>
          <a:lstStyle/>
          <a:p>
            <a:pPr marL="0" indent="0">
              <a:buNone/>
            </a:pPr>
            <a:r>
              <a:rPr lang="en-US" sz="1150" b="1" dirty="0">
                <a:solidFill>
                  <a:srgbClr val="1F6FD1"/>
                </a:solidFill>
              </a:rPr>
              <a:t>Data layer</a:t>
            </a:r>
            <a:endParaRPr lang="en-US" sz="1150" dirty="0"/>
          </a:p>
        </p:txBody>
      </p:sp>
      <p:sp>
        <p:nvSpPr>
          <p:cNvPr id="19" name="Text 16"/>
          <p:cNvSpPr txBox="1"/>
          <p:nvPr/>
        </p:nvSpPr>
        <p:spPr>
          <a:xfrm>
            <a:off x="5532120" y="4142232"/>
            <a:ext cx="3108960" cy="411480"/>
          </a:xfrm>
          <a:prstGeom prst="rect">
            <a:avLst/>
          </a:prstGeom>
          <a:noFill/>
          <a:ln/>
        </p:spPr>
        <p:txBody>
          <a:bodyPr wrap="square" lIns="0" tIns="0" rIns="0" bIns="0" rtlCol="0" anchor="t"/>
          <a:lstStyle/>
          <a:p>
            <a:pPr marL="0" indent="0">
              <a:spcAft>
                <a:spcPts val="300"/>
              </a:spcAft>
              <a:buNone/>
            </a:pPr>
            <a:r>
              <a:rPr lang="en-US" sz="950" dirty="0">
                <a:solidFill>
                  <a:srgbClr val="16253D"/>
                </a:solidFill>
              </a:rPr>
              <a:t>SQLite · users, medicines, prescriptions, orders, payments, stock</a:t>
            </a:r>
            <a:endParaRPr lang="en-US" sz="9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89F3A-14F7-C840-642E-01C42A93D1F9}"/>
              </a:ext>
            </a:extLst>
          </p:cNvPr>
          <p:cNvSpPr>
            <a:spLocks noGrp="1"/>
          </p:cNvSpPr>
          <p:nvPr>
            <p:ph type="title" idx="104"/>
          </p:nvPr>
        </p:nvSpPr>
        <p:spPr>
          <a:xfrm>
            <a:off x="-459151" y="328221"/>
            <a:ext cx="4114800" cy="548640"/>
          </a:xfrm>
        </p:spPr>
        <p:txBody>
          <a:bodyPr/>
          <a:lstStyle/>
          <a:p>
            <a:pPr algn="ctr"/>
            <a:r>
              <a:rPr lang="en-US" dirty="0">
                <a:solidFill>
                  <a:schemeClr val="bg1"/>
                </a:solidFill>
              </a:rPr>
              <a:t>DFD Level 0</a:t>
            </a:r>
          </a:p>
        </p:txBody>
      </p:sp>
      <p:pic>
        <p:nvPicPr>
          <p:cNvPr id="4" name="Image 0" descr="dfd0">
            <a:extLst>
              <a:ext uri="{FF2B5EF4-FFF2-40B4-BE49-F238E27FC236}">
                <a16:creationId xmlns:a16="http://schemas.microsoft.com/office/drawing/2014/main" id="{FAE14DBA-151B-D3B7-578B-964492B001C8}"/>
              </a:ext>
            </a:extLst>
          </p:cNvPr>
          <p:cNvPicPr>
            <a:picLocks noChangeAspect="1"/>
          </p:cNvPicPr>
          <p:nvPr/>
        </p:nvPicPr>
        <p:blipFill>
          <a:blip r:embed="rId2"/>
          <a:stretch>
            <a:fillRect/>
          </a:stretch>
        </p:blipFill>
        <p:spPr>
          <a:xfrm>
            <a:off x="548640" y="1558228"/>
            <a:ext cx="7632270" cy="1876788"/>
          </a:xfrm>
          <a:prstGeom prst="rect">
            <a:avLst/>
          </a:prstGeom>
        </p:spPr>
      </p:pic>
    </p:spTree>
    <p:extLst>
      <p:ext uri="{BB962C8B-B14F-4D97-AF65-F5344CB8AC3E}">
        <p14:creationId xmlns:p14="http://schemas.microsoft.com/office/powerpoint/2010/main" val="3549534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2EAE9-EF18-D4DC-18DC-16E252DB9BAC}"/>
              </a:ext>
            </a:extLst>
          </p:cNvPr>
          <p:cNvSpPr>
            <a:spLocks noGrp="1"/>
          </p:cNvSpPr>
          <p:nvPr>
            <p:ph type="title" idx="104"/>
          </p:nvPr>
        </p:nvSpPr>
        <p:spPr/>
        <p:txBody>
          <a:bodyPr/>
          <a:lstStyle/>
          <a:p>
            <a:r>
              <a:rPr lang="en-US" dirty="0">
                <a:solidFill>
                  <a:schemeClr val="bg1"/>
                </a:solidFill>
              </a:rPr>
              <a:t>DFD Level 1 – User</a:t>
            </a:r>
            <a:br>
              <a:rPr lang="en-US" dirty="0"/>
            </a:br>
            <a:endParaRPr lang="en-IN" dirty="0"/>
          </a:p>
        </p:txBody>
      </p:sp>
      <p:pic>
        <p:nvPicPr>
          <p:cNvPr id="6" name="Picture 5">
            <a:extLst>
              <a:ext uri="{FF2B5EF4-FFF2-40B4-BE49-F238E27FC236}">
                <a16:creationId xmlns:a16="http://schemas.microsoft.com/office/drawing/2014/main" id="{0C91C5E6-B790-0880-0DFF-7E18F0C705EE}"/>
              </a:ext>
            </a:extLst>
          </p:cNvPr>
          <p:cNvPicPr>
            <a:picLocks noChangeAspect="1"/>
          </p:cNvPicPr>
          <p:nvPr/>
        </p:nvPicPr>
        <p:blipFill>
          <a:blip r:embed="rId2">
            <a:extLst>
              <a:ext uri="{28A0092B-C50C-407E-A947-70E740481C1C}">
                <a14:useLocalDpi xmlns:a14="http://schemas.microsoft.com/office/drawing/2010/main" val="0"/>
              </a:ext>
            </a:extLst>
          </a:blip>
          <a:srcRect l="8894" t="13456" r="7997" b="46300"/>
          <a:stretch>
            <a:fillRect/>
          </a:stretch>
        </p:blipFill>
        <p:spPr>
          <a:xfrm>
            <a:off x="804672" y="1216427"/>
            <a:ext cx="7278624" cy="3148309"/>
          </a:xfrm>
          <a:prstGeom prst="rect">
            <a:avLst/>
          </a:prstGeom>
        </p:spPr>
      </p:pic>
    </p:spTree>
    <p:extLst>
      <p:ext uri="{BB962C8B-B14F-4D97-AF65-F5344CB8AC3E}">
        <p14:creationId xmlns:p14="http://schemas.microsoft.com/office/powerpoint/2010/main" val="2684712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88EB8-1020-33D7-35F8-D133D4D0B641}"/>
              </a:ext>
            </a:extLst>
          </p:cNvPr>
          <p:cNvSpPr>
            <a:spLocks noGrp="1"/>
          </p:cNvSpPr>
          <p:nvPr>
            <p:ph type="title" idx="104"/>
          </p:nvPr>
        </p:nvSpPr>
        <p:spPr/>
        <p:txBody>
          <a:bodyPr/>
          <a:lstStyle/>
          <a:p>
            <a:r>
              <a:rPr lang="en-US" dirty="0">
                <a:solidFill>
                  <a:schemeClr val="bg1"/>
                </a:solidFill>
              </a:rPr>
              <a:t>DFD Level 1 – Admin</a:t>
            </a:r>
            <a:br>
              <a:rPr lang="en-US" dirty="0"/>
            </a:br>
            <a:endParaRPr lang="en-IN" dirty="0"/>
          </a:p>
        </p:txBody>
      </p:sp>
      <p:pic>
        <p:nvPicPr>
          <p:cNvPr id="4" name="Picture 3">
            <a:extLst>
              <a:ext uri="{FF2B5EF4-FFF2-40B4-BE49-F238E27FC236}">
                <a16:creationId xmlns:a16="http://schemas.microsoft.com/office/drawing/2014/main" id="{AB712BE7-AC5E-F131-6602-8D9BD44E43E6}"/>
              </a:ext>
            </a:extLst>
          </p:cNvPr>
          <p:cNvPicPr>
            <a:picLocks noChangeAspect="1"/>
          </p:cNvPicPr>
          <p:nvPr/>
        </p:nvPicPr>
        <p:blipFill>
          <a:blip r:embed="rId2">
            <a:extLst>
              <a:ext uri="{28A0092B-C50C-407E-A947-70E740481C1C}">
                <a14:useLocalDpi xmlns:a14="http://schemas.microsoft.com/office/drawing/2010/main" val="0"/>
              </a:ext>
            </a:extLst>
          </a:blip>
          <a:srcRect l="6045" t="13088" r="8314" b="38717"/>
          <a:stretch>
            <a:fillRect/>
          </a:stretch>
        </p:blipFill>
        <p:spPr>
          <a:xfrm>
            <a:off x="694945" y="1118644"/>
            <a:ext cx="6790943" cy="3364761"/>
          </a:xfrm>
          <a:prstGeom prst="rect">
            <a:avLst/>
          </a:prstGeom>
        </p:spPr>
      </p:pic>
    </p:spTree>
    <p:extLst>
      <p:ext uri="{BB962C8B-B14F-4D97-AF65-F5344CB8AC3E}">
        <p14:creationId xmlns:p14="http://schemas.microsoft.com/office/powerpoint/2010/main" val="471146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1073E-FF00-6CF5-A47D-E4CAF0CFCCF3}"/>
              </a:ext>
            </a:extLst>
          </p:cNvPr>
          <p:cNvSpPr>
            <a:spLocks noGrp="1"/>
          </p:cNvSpPr>
          <p:nvPr>
            <p:ph type="title" idx="104"/>
          </p:nvPr>
        </p:nvSpPr>
        <p:spPr/>
        <p:txBody>
          <a:bodyPr/>
          <a:lstStyle/>
          <a:p>
            <a:r>
              <a:rPr lang="en-US" dirty="0">
                <a:solidFill>
                  <a:schemeClr val="bg1"/>
                </a:solidFill>
              </a:rPr>
              <a:t>Use Case Diagram</a:t>
            </a:r>
            <a:br>
              <a:rPr lang="en-US" dirty="0"/>
            </a:br>
            <a:endParaRPr lang="en-IN" dirty="0"/>
          </a:p>
        </p:txBody>
      </p:sp>
      <p:pic>
        <p:nvPicPr>
          <p:cNvPr id="4" name="Picture 3">
            <a:extLst>
              <a:ext uri="{FF2B5EF4-FFF2-40B4-BE49-F238E27FC236}">
                <a16:creationId xmlns:a16="http://schemas.microsoft.com/office/drawing/2014/main" id="{58399C08-F814-004B-CA37-C76327F9E3D1}"/>
              </a:ext>
            </a:extLst>
          </p:cNvPr>
          <p:cNvPicPr>
            <a:picLocks noChangeAspect="1"/>
          </p:cNvPicPr>
          <p:nvPr/>
        </p:nvPicPr>
        <p:blipFill>
          <a:blip r:embed="rId2">
            <a:extLst>
              <a:ext uri="{28A0092B-C50C-407E-A947-70E740481C1C}">
                <a14:useLocalDpi xmlns:a14="http://schemas.microsoft.com/office/drawing/2010/main" val="0"/>
              </a:ext>
            </a:extLst>
          </a:blip>
          <a:srcRect l="7364" t="7387" r="7122" b="40747"/>
          <a:stretch>
            <a:fillRect/>
          </a:stretch>
        </p:blipFill>
        <p:spPr>
          <a:xfrm>
            <a:off x="792479" y="1096850"/>
            <a:ext cx="5132049" cy="3469674"/>
          </a:xfrm>
          <a:prstGeom prst="rect">
            <a:avLst/>
          </a:prstGeom>
        </p:spPr>
      </p:pic>
    </p:spTree>
    <p:extLst>
      <p:ext uri="{BB962C8B-B14F-4D97-AF65-F5344CB8AC3E}">
        <p14:creationId xmlns:p14="http://schemas.microsoft.com/office/powerpoint/2010/main" val="3525735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7AEB3-ACAB-8F81-318F-8E3E78D44921}"/>
              </a:ext>
            </a:extLst>
          </p:cNvPr>
          <p:cNvSpPr>
            <a:spLocks noGrp="1"/>
          </p:cNvSpPr>
          <p:nvPr>
            <p:ph type="title" idx="104"/>
          </p:nvPr>
        </p:nvSpPr>
        <p:spPr/>
        <p:txBody>
          <a:bodyPr/>
          <a:lstStyle/>
          <a:p>
            <a:r>
              <a:rPr lang="en-US" dirty="0">
                <a:solidFill>
                  <a:schemeClr val="bg1"/>
                </a:solidFill>
              </a:rPr>
              <a:t>Class Diagram</a:t>
            </a:r>
            <a:br>
              <a:rPr lang="en-US" dirty="0"/>
            </a:br>
            <a:endParaRPr lang="en-IN" dirty="0"/>
          </a:p>
        </p:txBody>
      </p:sp>
      <p:pic>
        <p:nvPicPr>
          <p:cNvPr id="4" name="Picture 3">
            <a:extLst>
              <a:ext uri="{FF2B5EF4-FFF2-40B4-BE49-F238E27FC236}">
                <a16:creationId xmlns:a16="http://schemas.microsoft.com/office/drawing/2014/main" id="{48F6E2EF-7CE8-62FC-4F7E-502597425A4C}"/>
              </a:ext>
            </a:extLst>
          </p:cNvPr>
          <p:cNvPicPr>
            <a:picLocks noChangeAspect="1"/>
          </p:cNvPicPr>
          <p:nvPr/>
        </p:nvPicPr>
        <p:blipFill>
          <a:blip r:embed="rId2"/>
          <a:srcRect t="5256"/>
          <a:stretch>
            <a:fillRect/>
          </a:stretch>
        </p:blipFill>
        <p:spPr>
          <a:xfrm>
            <a:off x="588264" y="1115665"/>
            <a:ext cx="7409688" cy="3209065"/>
          </a:xfrm>
          <a:prstGeom prst="rect">
            <a:avLst/>
          </a:prstGeom>
        </p:spPr>
      </p:pic>
    </p:spTree>
    <p:extLst>
      <p:ext uri="{BB962C8B-B14F-4D97-AF65-F5344CB8AC3E}">
        <p14:creationId xmlns:p14="http://schemas.microsoft.com/office/powerpoint/2010/main" val="321064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6FF62-08FB-B2E4-84EB-80EC3DF0C9E9}"/>
              </a:ext>
            </a:extLst>
          </p:cNvPr>
          <p:cNvSpPr>
            <a:spLocks noGrp="1"/>
          </p:cNvSpPr>
          <p:nvPr>
            <p:ph type="title" idx="104"/>
          </p:nvPr>
        </p:nvSpPr>
        <p:spPr/>
        <p:txBody>
          <a:bodyPr/>
          <a:lstStyle/>
          <a:p>
            <a:r>
              <a:rPr lang="en-US" dirty="0">
                <a:solidFill>
                  <a:schemeClr val="bg1"/>
                </a:solidFill>
              </a:rPr>
              <a:t>State Diagram</a:t>
            </a:r>
            <a:br>
              <a:rPr lang="en-US" dirty="0"/>
            </a:br>
            <a:endParaRPr lang="en-IN" dirty="0"/>
          </a:p>
        </p:txBody>
      </p:sp>
      <p:pic>
        <p:nvPicPr>
          <p:cNvPr id="4" name="Picture 3">
            <a:extLst>
              <a:ext uri="{FF2B5EF4-FFF2-40B4-BE49-F238E27FC236}">
                <a16:creationId xmlns:a16="http://schemas.microsoft.com/office/drawing/2014/main" id="{DC10C941-7B37-30B1-21BB-8A9B9D9782C7}"/>
              </a:ext>
            </a:extLst>
          </p:cNvPr>
          <p:cNvPicPr>
            <a:picLocks noChangeAspect="1"/>
          </p:cNvPicPr>
          <p:nvPr/>
        </p:nvPicPr>
        <p:blipFill>
          <a:blip r:embed="rId2">
            <a:extLst>
              <a:ext uri="{28A0092B-C50C-407E-A947-70E740481C1C}">
                <a14:useLocalDpi xmlns:a14="http://schemas.microsoft.com/office/drawing/2010/main" val="0"/>
              </a:ext>
            </a:extLst>
          </a:blip>
          <a:srcRect t="3713"/>
          <a:stretch>
            <a:fillRect/>
          </a:stretch>
        </p:blipFill>
        <p:spPr>
          <a:xfrm>
            <a:off x="621792" y="1057866"/>
            <a:ext cx="6216222" cy="3525542"/>
          </a:xfrm>
          <a:prstGeom prst="rect">
            <a:avLst/>
          </a:prstGeom>
        </p:spPr>
      </p:pic>
    </p:spTree>
    <p:extLst>
      <p:ext uri="{BB962C8B-B14F-4D97-AF65-F5344CB8AC3E}">
        <p14:creationId xmlns:p14="http://schemas.microsoft.com/office/powerpoint/2010/main" val="2397706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290E-C431-7A1D-6C9A-56D288B27E67}"/>
              </a:ext>
            </a:extLst>
          </p:cNvPr>
          <p:cNvSpPr>
            <a:spLocks noGrp="1"/>
          </p:cNvSpPr>
          <p:nvPr>
            <p:ph type="title" idx="104"/>
          </p:nvPr>
        </p:nvSpPr>
        <p:spPr/>
        <p:txBody>
          <a:bodyPr/>
          <a:lstStyle/>
          <a:p>
            <a:r>
              <a:rPr lang="en-US" dirty="0">
                <a:solidFill>
                  <a:schemeClr val="bg1"/>
                </a:solidFill>
              </a:rPr>
              <a:t>Activity Diagram</a:t>
            </a:r>
            <a:br>
              <a:rPr lang="en-US" dirty="0"/>
            </a:br>
            <a:endParaRPr lang="en-IN" dirty="0"/>
          </a:p>
        </p:txBody>
      </p:sp>
      <p:pic>
        <p:nvPicPr>
          <p:cNvPr id="4" name="Picture 3">
            <a:extLst>
              <a:ext uri="{FF2B5EF4-FFF2-40B4-BE49-F238E27FC236}">
                <a16:creationId xmlns:a16="http://schemas.microsoft.com/office/drawing/2014/main" id="{33818BFC-B303-843B-3021-83A9B6616C9A}"/>
              </a:ext>
            </a:extLst>
          </p:cNvPr>
          <p:cNvPicPr>
            <a:picLocks noChangeAspect="1"/>
          </p:cNvPicPr>
          <p:nvPr/>
        </p:nvPicPr>
        <p:blipFill>
          <a:blip r:embed="rId2"/>
          <a:srcRect l="-1059" t="5765" r="1059"/>
          <a:stretch>
            <a:fillRect/>
          </a:stretch>
        </p:blipFill>
        <p:spPr>
          <a:xfrm>
            <a:off x="292609" y="1057656"/>
            <a:ext cx="6632448" cy="3515685"/>
          </a:xfrm>
          <a:prstGeom prst="rect">
            <a:avLst/>
          </a:prstGeom>
        </p:spPr>
      </p:pic>
    </p:spTree>
    <p:extLst>
      <p:ext uri="{BB962C8B-B14F-4D97-AF65-F5344CB8AC3E}">
        <p14:creationId xmlns:p14="http://schemas.microsoft.com/office/powerpoint/2010/main" val="3075989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46B1-333A-0C9A-9B82-B976845A4865}"/>
              </a:ext>
            </a:extLst>
          </p:cNvPr>
          <p:cNvSpPr>
            <a:spLocks noGrp="1"/>
          </p:cNvSpPr>
          <p:nvPr>
            <p:ph type="title" idx="104"/>
          </p:nvPr>
        </p:nvSpPr>
        <p:spPr/>
        <p:txBody>
          <a:bodyPr/>
          <a:lstStyle/>
          <a:p>
            <a:r>
              <a:rPr lang="en-US" dirty="0">
                <a:solidFill>
                  <a:schemeClr val="bg1"/>
                </a:solidFill>
              </a:rPr>
              <a:t>Sequence Diagram</a:t>
            </a:r>
            <a:br>
              <a:rPr lang="en-US" dirty="0"/>
            </a:br>
            <a:endParaRPr lang="en-IN" dirty="0"/>
          </a:p>
        </p:txBody>
      </p:sp>
      <p:pic>
        <p:nvPicPr>
          <p:cNvPr id="4" name="Picture 3">
            <a:extLst>
              <a:ext uri="{FF2B5EF4-FFF2-40B4-BE49-F238E27FC236}">
                <a16:creationId xmlns:a16="http://schemas.microsoft.com/office/drawing/2014/main" id="{8035DA26-0663-8EBD-9359-6C5A411817B1}"/>
              </a:ext>
            </a:extLst>
          </p:cNvPr>
          <p:cNvPicPr>
            <a:picLocks noChangeAspect="1"/>
          </p:cNvPicPr>
          <p:nvPr/>
        </p:nvPicPr>
        <p:blipFill>
          <a:blip r:embed="rId2"/>
          <a:srcRect t="5326"/>
          <a:stretch>
            <a:fillRect/>
          </a:stretch>
        </p:blipFill>
        <p:spPr>
          <a:xfrm>
            <a:off x="457201" y="1084386"/>
            <a:ext cx="6638544" cy="3535283"/>
          </a:xfrm>
          <a:prstGeom prst="rect">
            <a:avLst/>
          </a:prstGeom>
        </p:spPr>
      </p:pic>
    </p:spTree>
    <p:extLst>
      <p:ext uri="{BB962C8B-B14F-4D97-AF65-F5344CB8AC3E}">
        <p14:creationId xmlns:p14="http://schemas.microsoft.com/office/powerpoint/2010/main" val="2769695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Module Description</a:t>
            </a:r>
            <a:endParaRPr lang="en-US" sz="2400" dirty="0"/>
          </a:p>
        </p:txBody>
      </p:sp>
      <p:sp>
        <p:nvSpPr>
          <p:cNvPr id="6" name="Shape 4"/>
          <p:cNvSpPr/>
          <p:nvPr/>
        </p:nvSpPr>
        <p:spPr>
          <a:xfrm>
            <a:off x="457199" y="1005840"/>
            <a:ext cx="2514601" cy="1645225"/>
          </a:xfrm>
          <a:prstGeom prst="roundRect">
            <a:avLst>
              <a:gd name="adj" fmla="val 4444"/>
            </a:avLst>
          </a:prstGeom>
          <a:solidFill>
            <a:srgbClr val="FFFFFF"/>
          </a:solidFill>
          <a:ln w="12700">
            <a:solidFill>
              <a:srgbClr val="D3E0F2"/>
            </a:solidFill>
            <a:prstDash val="solid"/>
          </a:ln>
        </p:spPr>
      </p:sp>
      <p:sp>
        <p:nvSpPr>
          <p:cNvPr id="7" name="Text 5"/>
          <p:cNvSpPr txBox="1"/>
          <p:nvPr/>
        </p:nvSpPr>
        <p:spPr>
          <a:xfrm>
            <a:off x="594360" y="1078992"/>
            <a:ext cx="1645920" cy="310896"/>
          </a:xfrm>
          <a:prstGeom prst="rect">
            <a:avLst/>
          </a:prstGeom>
          <a:noFill/>
          <a:ln/>
        </p:spPr>
        <p:txBody>
          <a:bodyPr wrap="square" lIns="0" tIns="0" rIns="0" bIns="0" rtlCol="0" anchor="ctr"/>
          <a:lstStyle/>
          <a:p>
            <a:pPr marL="0" indent="0">
              <a:buNone/>
            </a:pPr>
            <a:r>
              <a:rPr lang="en-US" sz="1200" b="1" dirty="0">
                <a:solidFill>
                  <a:srgbClr val="1F6FD1"/>
                </a:solidFill>
              </a:rPr>
              <a:t>1. User</a:t>
            </a:r>
            <a:endParaRPr lang="en-US" sz="1200" dirty="0"/>
          </a:p>
        </p:txBody>
      </p:sp>
      <p:sp>
        <p:nvSpPr>
          <p:cNvPr id="8" name="Text 6"/>
          <p:cNvSpPr txBox="1"/>
          <p:nvPr/>
        </p:nvSpPr>
        <p:spPr>
          <a:xfrm>
            <a:off x="594360" y="1478059"/>
            <a:ext cx="1645920" cy="118872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Registration, login, profile and dashboard</a:t>
            </a:r>
            <a:endParaRPr lang="en-US" sz="1050" dirty="0"/>
          </a:p>
        </p:txBody>
      </p:sp>
      <p:sp>
        <p:nvSpPr>
          <p:cNvPr id="9" name="Shape 7"/>
          <p:cNvSpPr/>
          <p:nvPr/>
        </p:nvSpPr>
        <p:spPr>
          <a:xfrm>
            <a:off x="3404113" y="1019903"/>
            <a:ext cx="2377439" cy="1645920"/>
          </a:xfrm>
          <a:prstGeom prst="roundRect">
            <a:avLst>
              <a:gd name="adj" fmla="val 4444"/>
            </a:avLst>
          </a:prstGeom>
          <a:solidFill>
            <a:srgbClr val="FFFFFF"/>
          </a:solidFill>
          <a:ln w="12700">
            <a:solidFill>
              <a:srgbClr val="D3E0F2"/>
            </a:solidFill>
            <a:prstDash val="solid"/>
          </a:ln>
        </p:spPr>
      </p:sp>
      <p:sp>
        <p:nvSpPr>
          <p:cNvPr id="10" name="Text 8"/>
          <p:cNvSpPr txBox="1"/>
          <p:nvPr/>
        </p:nvSpPr>
        <p:spPr>
          <a:xfrm>
            <a:off x="3520440" y="1102778"/>
            <a:ext cx="1645920" cy="310896"/>
          </a:xfrm>
          <a:prstGeom prst="rect">
            <a:avLst/>
          </a:prstGeom>
          <a:noFill/>
          <a:ln/>
        </p:spPr>
        <p:txBody>
          <a:bodyPr wrap="square" lIns="0" tIns="0" rIns="0" bIns="0" rtlCol="0" anchor="ctr"/>
          <a:lstStyle/>
          <a:p>
            <a:pPr marL="0" indent="0">
              <a:buNone/>
            </a:pPr>
            <a:r>
              <a:rPr lang="en-US" sz="1200" b="1" dirty="0">
                <a:solidFill>
                  <a:srgbClr val="1F6FD1"/>
                </a:solidFill>
              </a:rPr>
              <a:t>2. Prescription</a:t>
            </a:r>
            <a:endParaRPr lang="en-US" sz="1200" dirty="0"/>
          </a:p>
        </p:txBody>
      </p:sp>
      <p:sp>
        <p:nvSpPr>
          <p:cNvPr id="11" name="Text 9"/>
          <p:cNvSpPr txBox="1"/>
          <p:nvPr/>
        </p:nvSpPr>
        <p:spPr>
          <a:xfrm>
            <a:off x="3556611" y="1488852"/>
            <a:ext cx="1645920" cy="118872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Upload prescription; AI-assisted verification; admin review if doubtful or invalid</a:t>
            </a:r>
            <a:endParaRPr lang="en-US" sz="1050" dirty="0"/>
          </a:p>
        </p:txBody>
      </p:sp>
      <p:sp>
        <p:nvSpPr>
          <p:cNvPr id="12" name="Shape 10"/>
          <p:cNvSpPr/>
          <p:nvPr/>
        </p:nvSpPr>
        <p:spPr>
          <a:xfrm>
            <a:off x="6263640" y="1005145"/>
            <a:ext cx="2377440" cy="1645920"/>
          </a:xfrm>
          <a:prstGeom prst="roundRect">
            <a:avLst>
              <a:gd name="adj" fmla="val 4444"/>
            </a:avLst>
          </a:prstGeom>
          <a:solidFill>
            <a:srgbClr val="FFFFFF"/>
          </a:solidFill>
          <a:ln w="12700">
            <a:solidFill>
              <a:srgbClr val="D3E0F2"/>
            </a:solidFill>
            <a:prstDash val="solid"/>
          </a:ln>
        </p:spPr>
        <p:txBody>
          <a:bodyPr/>
          <a:lstStyle/>
          <a:p>
            <a:endParaRPr lang="en-IN" dirty="0"/>
          </a:p>
        </p:txBody>
      </p:sp>
      <p:sp>
        <p:nvSpPr>
          <p:cNvPr id="13" name="Text 11"/>
          <p:cNvSpPr txBox="1"/>
          <p:nvPr/>
        </p:nvSpPr>
        <p:spPr>
          <a:xfrm>
            <a:off x="6446520" y="1147514"/>
            <a:ext cx="1645920" cy="310896"/>
          </a:xfrm>
          <a:prstGeom prst="rect">
            <a:avLst/>
          </a:prstGeom>
          <a:noFill/>
          <a:ln/>
        </p:spPr>
        <p:txBody>
          <a:bodyPr wrap="square" lIns="0" tIns="0" rIns="0" bIns="0" rtlCol="0" anchor="ctr"/>
          <a:lstStyle/>
          <a:p>
            <a:pPr marL="0" indent="0">
              <a:buNone/>
            </a:pPr>
            <a:r>
              <a:rPr lang="en-US" sz="1200" b="1" dirty="0">
                <a:solidFill>
                  <a:srgbClr val="1F6FD1"/>
                </a:solidFill>
              </a:rPr>
              <a:t>3. Order &amp; Search</a:t>
            </a:r>
            <a:endParaRPr lang="en-US" sz="1200" dirty="0"/>
          </a:p>
        </p:txBody>
      </p:sp>
      <p:sp>
        <p:nvSpPr>
          <p:cNvPr id="14" name="Text 12"/>
          <p:cNvSpPr txBox="1"/>
          <p:nvPr/>
        </p:nvSpPr>
        <p:spPr>
          <a:xfrm>
            <a:off x="6446520" y="1604714"/>
            <a:ext cx="1645920" cy="118872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Search and filter medicines, cart, delivery or take-away, order status</a:t>
            </a:r>
            <a:endParaRPr lang="en-US" sz="1050" dirty="0"/>
          </a:p>
        </p:txBody>
      </p:sp>
      <p:sp>
        <p:nvSpPr>
          <p:cNvPr id="15" name="Shape 13"/>
          <p:cNvSpPr/>
          <p:nvPr/>
        </p:nvSpPr>
        <p:spPr>
          <a:xfrm>
            <a:off x="457200" y="2881055"/>
            <a:ext cx="2476403" cy="1498921"/>
          </a:xfrm>
          <a:prstGeom prst="roundRect">
            <a:avLst>
              <a:gd name="adj" fmla="val 4444"/>
            </a:avLst>
          </a:prstGeom>
          <a:solidFill>
            <a:srgbClr val="FFFFFF"/>
          </a:solidFill>
          <a:ln w="12700">
            <a:solidFill>
              <a:srgbClr val="D3E0F2"/>
            </a:solidFill>
            <a:prstDash val="solid"/>
          </a:ln>
        </p:spPr>
      </p:sp>
      <p:sp>
        <p:nvSpPr>
          <p:cNvPr id="16" name="Text 14"/>
          <p:cNvSpPr txBox="1"/>
          <p:nvPr/>
        </p:nvSpPr>
        <p:spPr>
          <a:xfrm>
            <a:off x="841248" y="3038818"/>
            <a:ext cx="1645920" cy="310896"/>
          </a:xfrm>
          <a:prstGeom prst="rect">
            <a:avLst/>
          </a:prstGeom>
          <a:noFill/>
          <a:ln/>
        </p:spPr>
        <p:txBody>
          <a:bodyPr wrap="square" lIns="0" tIns="0" rIns="0" bIns="0" rtlCol="0" anchor="ctr"/>
          <a:lstStyle/>
          <a:p>
            <a:pPr marL="0" indent="0">
              <a:buNone/>
            </a:pPr>
            <a:r>
              <a:rPr lang="en-US" sz="1200" b="1" dirty="0">
                <a:solidFill>
                  <a:srgbClr val="1F6FD1"/>
                </a:solidFill>
              </a:rPr>
              <a:t>4. Chatbot</a:t>
            </a:r>
            <a:endParaRPr lang="en-US" sz="1200" dirty="0"/>
          </a:p>
        </p:txBody>
      </p:sp>
      <p:sp>
        <p:nvSpPr>
          <p:cNvPr id="17" name="Text 15"/>
          <p:cNvSpPr txBox="1"/>
          <p:nvPr/>
        </p:nvSpPr>
        <p:spPr>
          <a:xfrm>
            <a:off x="818909" y="3366729"/>
            <a:ext cx="1645920" cy="118872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Rule-based answers on medicines, prescriptions and delivery</a:t>
            </a:r>
            <a:endParaRPr lang="en-US" sz="1050" dirty="0"/>
          </a:p>
        </p:txBody>
      </p:sp>
      <p:sp>
        <p:nvSpPr>
          <p:cNvPr id="18" name="Shape 16"/>
          <p:cNvSpPr/>
          <p:nvPr/>
        </p:nvSpPr>
        <p:spPr>
          <a:xfrm>
            <a:off x="3419451" y="2862072"/>
            <a:ext cx="2377440" cy="1517904"/>
          </a:xfrm>
          <a:prstGeom prst="roundRect">
            <a:avLst>
              <a:gd name="adj" fmla="val 4444"/>
            </a:avLst>
          </a:prstGeom>
          <a:solidFill>
            <a:srgbClr val="FFFFFF"/>
          </a:solidFill>
          <a:ln w="12700">
            <a:solidFill>
              <a:srgbClr val="D3E0F2"/>
            </a:solidFill>
            <a:prstDash val="solid"/>
          </a:ln>
        </p:spPr>
      </p:sp>
      <p:sp>
        <p:nvSpPr>
          <p:cNvPr id="19" name="Text 17"/>
          <p:cNvSpPr txBox="1"/>
          <p:nvPr/>
        </p:nvSpPr>
        <p:spPr>
          <a:xfrm>
            <a:off x="3611880" y="2987194"/>
            <a:ext cx="2377440" cy="310896"/>
          </a:xfrm>
          <a:prstGeom prst="rect">
            <a:avLst/>
          </a:prstGeom>
          <a:noFill/>
          <a:ln/>
        </p:spPr>
        <p:txBody>
          <a:bodyPr wrap="square" lIns="0" tIns="0" rIns="0" bIns="0" rtlCol="0" anchor="ctr"/>
          <a:lstStyle/>
          <a:p>
            <a:pPr marL="0" indent="0">
              <a:buNone/>
            </a:pPr>
            <a:r>
              <a:rPr lang="en-US" sz="1200" b="1" dirty="0">
                <a:solidFill>
                  <a:srgbClr val="1F6FD1"/>
                </a:solidFill>
              </a:rPr>
              <a:t>5. Stock</a:t>
            </a:r>
            <a:endParaRPr lang="en-US" sz="1200" dirty="0"/>
          </a:p>
        </p:txBody>
      </p:sp>
      <p:sp>
        <p:nvSpPr>
          <p:cNvPr id="20" name="Text 18"/>
          <p:cNvSpPr txBox="1"/>
          <p:nvPr/>
        </p:nvSpPr>
        <p:spPr>
          <a:xfrm>
            <a:off x="3556611" y="3349714"/>
            <a:ext cx="1767743" cy="118872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Central stock records and availability</a:t>
            </a:r>
            <a:endParaRPr lang="en-US" sz="1050" dirty="0"/>
          </a:p>
        </p:txBody>
      </p:sp>
      <p:sp>
        <p:nvSpPr>
          <p:cNvPr id="21" name="Shape 19"/>
          <p:cNvSpPr/>
          <p:nvPr/>
        </p:nvSpPr>
        <p:spPr>
          <a:xfrm>
            <a:off x="6263640" y="2851539"/>
            <a:ext cx="2377440" cy="1517904"/>
          </a:xfrm>
          <a:prstGeom prst="roundRect">
            <a:avLst>
              <a:gd name="adj" fmla="val 4444"/>
            </a:avLst>
          </a:prstGeom>
          <a:solidFill>
            <a:srgbClr val="FFFFFF"/>
          </a:solidFill>
          <a:ln w="12700">
            <a:solidFill>
              <a:srgbClr val="D3E0F2"/>
            </a:solidFill>
            <a:prstDash val="solid"/>
          </a:ln>
        </p:spPr>
        <p:txBody>
          <a:bodyPr/>
          <a:lstStyle/>
          <a:p>
            <a:endParaRPr lang="en-IN" dirty="0"/>
          </a:p>
        </p:txBody>
      </p:sp>
      <p:sp>
        <p:nvSpPr>
          <p:cNvPr id="22" name="Text 20"/>
          <p:cNvSpPr txBox="1"/>
          <p:nvPr/>
        </p:nvSpPr>
        <p:spPr>
          <a:xfrm>
            <a:off x="6537960" y="2987194"/>
            <a:ext cx="2377440" cy="310896"/>
          </a:xfrm>
          <a:prstGeom prst="rect">
            <a:avLst/>
          </a:prstGeom>
          <a:noFill/>
          <a:ln/>
        </p:spPr>
        <p:txBody>
          <a:bodyPr wrap="square" lIns="0" tIns="0" rIns="0" bIns="0" rtlCol="0" anchor="ctr"/>
          <a:lstStyle/>
          <a:p>
            <a:pPr marL="0" indent="0">
              <a:buNone/>
            </a:pPr>
            <a:r>
              <a:rPr lang="en-US" sz="1200" b="1" dirty="0">
                <a:solidFill>
                  <a:srgbClr val="1F6FD1"/>
                </a:solidFill>
              </a:rPr>
              <a:t>6. Expiry Tracking</a:t>
            </a:r>
            <a:endParaRPr lang="en-US" sz="1200" dirty="0"/>
          </a:p>
        </p:txBody>
      </p:sp>
      <p:sp>
        <p:nvSpPr>
          <p:cNvPr id="23" name="Text 21"/>
          <p:cNvSpPr txBox="1"/>
          <p:nvPr/>
        </p:nvSpPr>
        <p:spPr>
          <a:xfrm>
            <a:off x="6537960" y="3329921"/>
            <a:ext cx="2103120" cy="118872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Stores expiry dates; identifies medicines nearing expiry</a:t>
            </a:r>
            <a:endParaRPr lang="en-US" sz="1050" dirty="0"/>
          </a:p>
        </p:txBody>
      </p:sp>
      <p:sp>
        <p:nvSpPr>
          <p:cNvPr id="27"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Methodology</a:t>
            </a:r>
            <a:endParaRPr lang="en-US" sz="2400" dirty="0"/>
          </a:p>
        </p:txBody>
      </p:sp>
      <p:sp>
        <p:nvSpPr>
          <p:cNvPr id="6" name="Shape 4"/>
          <p:cNvSpPr/>
          <p:nvPr/>
        </p:nvSpPr>
        <p:spPr>
          <a:xfrm>
            <a:off x="457200" y="960120"/>
            <a:ext cx="1828800" cy="868680"/>
          </a:xfrm>
          <a:prstGeom prst="roundRect">
            <a:avLst>
              <a:gd name="adj" fmla="val 8421"/>
            </a:avLst>
          </a:prstGeom>
          <a:solidFill>
            <a:srgbClr val="EEF3FB"/>
          </a:solidFill>
          <a:ln w="12700">
            <a:solidFill>
              <a:srgbClr val="D3E0F2"/>
            </a:solidFill>
            <a:prstDash val="solid"/>
          </a:ln>
        </p:spPr>
      </p:sp>
      <p:sp>
        <p:nvSpPr>
          <p:cNvPr id="7" name="Text 5"/>
          <p:cNvSpPr txBox="1"/>
          <p:nvPr/>
        </p:nvSpPr>
        <p:spPr>
          <a:xfrm>
            <a:off x="457200" y="960120"/>
            <a:ext cx="1828800" cy="868680"/>
          </a:xfrm>
          <a:prstGeom prst="rect">
            <a:avLst/>
          </a:prstGeom>
          <a:noFill/>
          <a:ln/>
        </p:spPr>
        <p:txBody>
          <a:bodyPr wrap="square" lIns="50800" tIns="50800" rIns="50800" bIns="50800" rtlCol="0" anchor="ctr"/>
          <a:lstStyle/>
          <a:p>
            <a:pPr marL="0" indent="0" algn="ctr">
              <a:buNone/>
            </a:pPr>
            <a:r>
              <a:rPr lang="en-US" sz="1100" b="1" dirty="0">
                <a:solidFill>
                  <a:srgbClr val="12356B"/>
                </a:solidFill>
              </a:rPr>
              <a:t>Prescription upload</a:t>
            </a:r>
            <a:endParaRPr lang="en-US" sz="1100" dirty="0"/>
          </a:p>
          <a:p>
            <a:pPr marL="0" indent="0" algn="ctr">
              <a:buNone/>
            </a:pPr>
            <a:r>
              <a:rPr lang="en-US" sz="950" dirty="0">
                <a:solidFill>
                  <a:srgbClr val="5B6B80"/>
                </a:solidFill>
              </a:rPr>
              <a:t>Image + optional note</a:t>
            </a:r>
            <a:endParaRPr lang="en-US" sz="1100" dirty="0"/>
          </a:p>
        </p:txBody>
      </p:sp>
      <p:sp>
        <p:nvSpPr>
          <p:cNvPr id="8" name="Text 6"/>
          <p:cNvSpPr txBox="1"/>
          <p:nvPr/>
        </p:nvSpPr>
        <p:spPr>
          <a:xfrm>
            <a:off x="2286000" y="1188720"/>
            <a:ext cx="274320" cy="411480"/>
          </a:xfrm>
          <a:prstGeom prst="rect">
            <a:avLst/>
          </a:prstGeom>
          <a:noFill/>
          <a:ln/>
        </p:spPr>
        <p:txBody>
          <a:bodyPr wrap="square" lIns="0" tIns="0" rIns="0" bIns="0" rtlCol="0" anchor="ctr"/>
          <a:lstStyle/>
          <a:p>
            <a:pPr marL="0" indent="0" algn="ctr">
              <a:buNone/>
            </a:pPr>
            <a:r>
              <a:rPr lang="en-US" sz="1600" dirty="0">
                <a:solidFill>
                  <a:srgbClr val="1F6FD1"/>
                </a:solidFill>
              </a:rPr>
              <a:t>→</a:t>
            </a:r>
            <a:endParaRPr lang="en-US" sz="1600" dirty="0"/>
          </a:p>
        </p:txBody>
      </p:sp>
      <p:sp>
        <p:nvSpPr>
          <p:cNvPr id="9" name="Shape 7"/>
          <p:cNvSpPr/>
          <p:nvPr/>
        </p:nvSpPr>
        <p:spPr>
          <a:xfrm>
            <a:off x="2560320" y="960120"/>
            <a:ext cx="1828800" cy="868680"/>
          </a:xfrm>
          <a:prstGeom prst="roundRect">
            <a:avLst>
              <a:gd name="adj" fmla="val 8421"/>
            </a:avLst>
          </a:prstGeom>
          <a:solidFill>
            <a:srgbClr val="EEF3FB"/>
          </a:solidFill>
          <a:ln w="12700">
            <a:solidFill>
              <a:srgbClr val="D3E0F2"/>
            </a:solidFill>
            <a:prstDash val="solid"/>
          </a:ln>
        </p:spPr>
      </p:sp>
      <p:sp>
        <p:nvSpPr>
          <p:cNvPr id="10" name="Text 8"/>
          <p:cNvSpPr txBox="1"/>
          <p:nvPr/>
        </p:nvSpPr>
        <p:spPr>
          <a:xfrm>
            <a:off x="2560320" y="960120"/>
            <a:ext cx="1828800" cy="868680"/>
          </a:xfrm>
          <a:prstGeom prst="rect">
            <a:avLst/>
          </a:prstGeom>
          <a:noFill/>
          <a:ln/>
        </p:spPr>
        <p:txBody>
          <a:bodyPr wrap="square" lIns="50800" tIns="50800" rIns="50800" bIns="50800" rtlCol="0" anchor="ctr"/>
          <a:lstStyle/>
          <a:p>
            <a:pPr marL="0" indent="0" algn="ctr">
              <a:buNone/>
            </a:pPr>
            <a:r>
              <a:rPr lang="en-US" sz="1100" b="1" dirty="0">
                <a:solidFill>
                  <a:srgbClr val="12356B"/>
                </a:solidFill>
              </a:rPr>
              <a:t>Image processing</a:t>
            </a:r>
            <a:endParaRPr lang="en-US" sz="1100" dirty="0"/>
          </a:p>
          <a:p>
            <a:pPr marL="0" indent="0" algn="ctr">
              <a:buNone/>
            </a:pPr>
            <a:r>
              <a:rPr lang="en-US" sz="950" dirty="0">
                <a:solidFill>
                  <a:srgbClr val="5B6B80"/>
                </a:solidFill>
              </a:rPr>
              <a:t>Preprocess image</a:t>
            </a:r>
            <a:endParaRPr lang="en-US" sz="1100" dirty="0"/>
          </a:p>
        </p:txBody>
      </p:sp>
      <p:sp>
        <p:nvSpPr>
          <p:cNvPr id="11" name="Text 9"/>
          <p:cNvSpPr txBox="1"/>
          <p:nvPr/>
        </p:nvSpPr>
        <p:spPr>
          <a:xfrm>
            <a:off x="4389120" y="1188720"/>
            <a:ext cx="274320" cy="411480"/>
          </a:xfrm>
          <a:prstGeom prst="rect">
            <a:avLst/>
          </a:prstGeom>
          <a:noFill/>
          <a:ln/>
        </p:spPr>
        <p:txBody>
          <a:bodyPr wrap="square" lIns="0" tIns="0" rIns="0" bIns="0" rtlCol="0" anchor="ctr"/>
          <a:lstStyle/>
          <a:p>
            <a:pPr marL="0" indent="0" algn="ctr">
              <a:buNone/>
            </a:pPr>
            <a:r>
              <a:rPr lang="en-US" sz="1600" dirty="0">
                <a:solidFill>
                  <a:srgbClr val="1F6FD1"/>
                </a:solidFill>
              </a:rPr>
              <a:t>→</a:t>
            </a:r>
            <a:endParaRPr lang="en-US" sz="1600" dirty="0"/>
          </a:p>
        </p:txBody>
      </p:sp>
      <p:sp>
        <p:nvSpPr>
          <p:cNvPr id="12" name="Shape 10"/>
          <p:cNvSpPr/>
          <p:nvPr/>
        </p:nvSpPr>
        <p:spPr>
          <a:xfrm>
            <a:off x="4663440" y="960120"/>
            <a:ext cx="1828800" cy="868680"/>
          </a:xfrm>
          <a:prstGeom prst="roundRect">
            <a:avLst>
              <a:gd name="adj" fmla="val 8421"/>
            </a:avLst>
          </a:prstGeom>
          <a:solidFill>
            <a:srgbClr val="EEF3FB"/>
          </a:solidFill>
          <a:ln w="12700">
            <a:solidFill>
              <a:srgbClr val="D3E0F2"/>
            </a:solidFill>
            <a:prstDash val="solid"/>
          </a:ln>
        </p:spPr>
      </p:sp>
      <p:sp>
        <p:nvSpPr>
          <p:cNvPr id="13" name="Text 11"/>
          <p:cNvSpPr txBox="1"/>
          <p:nvPr/>
        </p:nvSpPr>
        <p:spPr>
          <a:xfrm>
            <a:off x="4663440" y="960120"/>
            <a:ext cx="1828800" cy="868680"/>
          </a:xfrm>
          <a:prstGeom prst="rect">
            <a:avLst/>
          </a:prstGeom>
          <a:noFill/>
          <a:ln/>
        </p:spPr>
        <p:txBody>
          <a:bodyPr wrap="square" lIns="50800" tIns="50800" rIns="50800" bIns="50800" rtlCol="0" anchor="ctr"/>
          <a:lstStyle/>
          <a:p>
            <a:pPr marL="0" indent="0" algn="ctr">
              <a:buNone/>
            </a:pPr>
            <a:r>
              <a:rPr lang="en-US" sz="1100" b="1" dirty="0">
                <a:solidFill>
                  <a:srgbClr val="12356B"/>
                </a:solidFill>
              </a:rPr>
              <a:t>Tesseract OCR / TrOCR</a:t>
            </a:r>
            <a:endParaRPr lang="en-US" sz="1100" dirty="0"/>
          </a:p>
          <a:p>
            <a:pPr marL="0" indent="0" algn="ctr">
              <a:buNone/>
            </a:pPr>
            <a:r>
              <a:rPr lang="en-US" sz="950" dirty="0">
                <a:solidFill>
                  <a:srgbClr val="5B6B80"/>
                </a:solidFill>
              </a:rPr>
              <a:t>Extract text</a:t>
            </a:r>
            <a:endParaRPr lang="en-US" sz="1100" dirty="0"/>
          </a:p>
        </p:txBody>
      </p:sp>
      <p:sp>
        <p:nvSpPr>
          <p:cNvPr id="14" name="Text 12"/>
          <p:cNvSpPr txBox="1"/>
          <p:nvPr/>
        </p:nvSpPr>
        <p:spPr>
          <a:xfrm>
            <a:off x="6492240" y="1188720"/>
            <a:ext cx="274320" cy="411480"/>
          </a:xfrm>
          <a:prstGeom prst="rect">
            <a:avLst/>
          </a:prstGeom>
          <a:noFill/>
          <a:ln/>
        </p:spPr>
        <p:txBody>
          <a:bodyPr wrap="square" lIns="0" tIns="0" rIns="0" bIns="0" rtlCol="0" anchor="ctr"/>
          <a:lstStyle/>
          <a:p>
            <a:pPr marL="0" indent="0" algn="ctr">
              <a:buNone/>
            </a:pPr>
            <a:r>
              <a:rPr lang="en-US" sz="1600" dirty="0">
                <a:solidFill>
                  <a:srgbClr val="1F6FD1"/>
                </a:solidFill>
              </a:rPr>
              <a:t>→</a:t>
            </a:r>
            <a:endParaRPr lang="en-US" sz="1600" dirty="0"/>
          </a:p>
        </p:txBody>
      </p:sp>
      <p:sp>
        <p:nvSpPr>
          <p:cNvPr id="15" name="Shape 13"/>
          <p:cNvSpPr/>
          <p:nvPr/>
        </p:nvSpPr>
        <p:spPr>
          <a:xfrm>
            <a:off x="6766560" y="960120"/>
            <a:ext cx="1828800" cy="868680"/>
          </a:xfrm>
          <a:prstGeom prst="roundRect">
            <a:avLst>
              <a:gd name="adj" fmla="val 8421"/>
            </a:avLst>
          </a:prstGeom>
          <a:solidFill>
            <a:srgbClr val="1F6FD1"/>
          </a:solidFill>
          <a:ln w="12700">
            <a:solidFill>
              <a:srgbClr val="1F6FD1"/>
            </a:solidFill>
            <a:prstDash val="solid"/>
          </a:ln>
        </p:spPr>
      </p:sp>
      <p:sp>
        <p:nvSpPr>
          <p:cNvPr id="16" name="Text 14"/>
          <p:cNvSpPr txBox="1"/>
          <p:nvPr/>
        </p:nvSpPr>
        <p:spPr>
          <a:xfrm>
            <a:off x="6766560" y="960120"/>
            <a:ext cx="1828800" cy="868680"/>
          </a:xfrm>
          <a:prstGeom prst="rect">
            <a:avLst/>
          </a:prstGeom>
          <a:noFill/>
          <a:ln/>
        </p:spPr>
        <p:txBody>
          <a:bodyPr wrap="square" lIns="50800" tIns="50800" rIns="50800" bIns="50800" rtlCol="0" anchor="ctr"/>
          <a:lstStyle/>
          <a:p>
            <a:pPr marL="0" indent="0" algn="ctr">
              <a:buNone/>
            </a:pPr>
            <a:r>
              <a:rPr lang="en-US" sz="1100" b="1" dirty="0">
                <a:solidFill>
                  <a:srgbClr val="FFFFFF"/>
                </a:solidFill>
              </a:rPr>
              <a:t>Google Gemini API</a:t>
            </a:r>
            <a:endParaRPr lang="en-US" sz="1100" dirty="0"/>
          </a:p>
          <a:p>
            <a:pPr marL="0" indent="0" algn="ctr">
              <a:buNone/>
            </a:pPr>
            <a:r>
              <a:rPr lang="en-US" sz="950" dirty="0">
                <a:solidFill>
                  <a:srgbClr val="FFFFFF"/>
                </a:solidFill>
              </a:rPr>
              <a:t>Identify medicines, classify</a:t>
            </a:r>
            <a:endParaRPr lang="en-US" sz="1100" dirty="0"/>
          </a:p>
        </p:txBody>
      </p:sp>
      <p:sp>
        <p:nvSpPr>
          <p:cNvPr id="17" name="Text 15"/>
          <p:cNvSpPr txBox="1"/>
          <p:nvPr/>
        </p:nvSpPr>
        <p:spPr>
          <a:xfrm>
            <a:off x="457200" y="2011680"/>
            <a:ext cx="2743200" cy="274320"/>
          </a:xfrm>
          <a:prstGeom prst="rect">
            <a:avLst/>
          </a:prstGeom>
          <a:noFill/>
          <a:ln/>
        </p:spPr>
        <p:txBody>
          <a:bodyPr wrap="square" lIns="0" tIns="0" rIns="0" bIns="0" rtlCol="0" anchor="ctr"/>
          <a:lstStyle/>
          <a:p>
            <a:pPr marL="0" indent="0">
              <a:buNone/>
            </a:pPr>
            <a:r>
              <a:rPr lang="en-US" sz="1100" b="1" dirty="0">
                <a:solidFill>
                  <a:srgbClr val="FFFFFF"/>
                </a:solidFill>
              </a:rPr>
              <a:t>Prescription classification</a:t>
            </a:r>
            <a:endParaRPr lang="en-US" sz="1100" dirty="0"/>
          </a:p>
        </p:txBody>
      </p:sp>
      <p:sp>
        <p:nvSpPr>
          <p:cNvPr id="18" name="Shape 16"/>
          <p:cNvSpPr/>
          <p:nvPr/>
        </p:nvSpPr>
        <p:spPr>
          <a:xfrm>
            <a:off x="457200" y="2331720"/>
            <a:ext cx="1828800" cy="731520"/>
          </a:xfrm>
          <a:prstGeom prst="roundRect">
            <a:avLst>
              <a:gd name="adj" fmla="val 10000"/>
            </a:avLst>
          </a:prstGeom>
          <a:solidFill>
            <a:srgbClr val="FFFFFF"/>
          </a:solidFill>
          <a:ln w="25400">
            <a:solidFill>
              <a:srgbClr val="2E8B57"/>
            </a:solidFill>
            <a:prstDash val="solid"/>
          </a:ln>
        </p:spPr>
      </p:sp>
      <p:sp>
        <p:nvSpPr>
          <p:cNvPr id="19" name="Text 17"/>
          <p:cNvSpPr txBox="1"/>
          <p:nvPr/>
        </p:nvSpPr>
        <p:spPr>
          <a:xfrm>
            <a:off x="457200" y="2331720"/>
            <a:ext cx="1828800" cy="731520"/>
          </a:xfrm>
          <a:prstGeom prst="rect">
            <a:avLst/>
          </a:prstGeom>
          <a:noFill/>
          <a:ln/>
        </p:spPr>
        <p:txBody>
          <a:bodyPr wrap="square" lIns="38100" tIns="38100" rIns="38100" bIns="38100" rtlCol="0" anchor="ctr"/>
          <a:lstStyle/>
          <a:p>
            <a:pPr marL="0" indent="0" algn="ctr">
              <a:buNone/>
            </a:pPr>
            <a:r>
              <a:rPr lang="en-US" sz="1300" b="1" dirty="0">
                <a:solidFill>
                  <a:srgbClr val="2E8B57"/>
                </a:solidFill>
              </a:rPr>
              <a:t>Verified</a:t>
            </a:r>
            <a:endParaRPr lang="en-US" sz="1300" dirty="0"/>
          </a:p>
          <a:p>
            <a:pPr marL="0" indent="0" algn="ctr">
              <a:buNone/>
            </a:pPr>
            <a:r>
              <a:rPr lang="en-US" sz="950" dirty="0">
                <a:solidFill>
                  <a:srgbClr val="16253D"/>
                </a:solidFill>
              </a:rPr>
              <a:t>Proceeds to ordering</a:t>
            </a:r>
            <a:endParaRPr lang="en-US" sz="1300" dirty="0"/>
          </a:p>
        </p:txBody>
      </p:sp>
      <p:sp>
        <p:nvSpPr>
          <p:cNvPr id="20" name="Shape 18"/>
          <p:cNvSpPr/>
          <p:nvPr/>
        </p:nvSpPr>
        <p:spPr>
          <a:xfrm>
            <a:off x="2560320" y="2331720"/>
            <a:ext cx="1828800" cy="731520"/>
          </a:xfrm>
          <a:prstGeom prst="roundRect">
            <a:avLst>
              <a:gd name="adj" fmla="val 10000"/>
            </a:avLst>
          </a:prstGeom>
          <a:solidFill>
            <a:srgbClr val="FFFFFF"/>
          </a:solidFill>
          <a:ln w="25400">
            <a:solidFill>
              <a:srgbClr val="F2A541"/>
            </a:solidFill>
            <a:prstDash val="solid"/>
          </a:ln>
        </p:spPr>
      </p:sp>
      <p:sp>
        <p:nvSpPr>
          <p:cNvPr id="21" name="Text 19"/>
          <p:cNvSpPr txBox="1"/>
          <p:nvPr/>
        </p:nvSpPr>
        <p:spPr>
          <a:xfrm>
            <a:off x="2560320" y="2331720"/>
            <a:ext cx="1828800" cy="731520"/>
          </a:xfrm>
          <a:prstGeom prst="rect">
            <a:avLst/>
          </a:prstGeom>
          <a:noFill/>
          <a:ln/>
        </p:spPr>
        <p:txBody>
          <a:bodyPr wrap="square" lIns="38100" tIns="38100" rIns="38100" bIns="38100" rtlCol="0" anchor="ctr"/>
          <a:lstStyle/>
          <a:p>
            <a:pPr marL="0" indent="0" algn="ctr">
              <a:buNone/>
            </a:pPr>
            <a:r>
              <a:rPr lang="en-US" sz="1300" b="1" dirty="0">
                <a:solidFill>
                  <a:srgbClr val="F2A541"/>
                </a:solidFill>
              </a:rPr>
              <a:t>Doubtful</a:t>
            </a:r>
            <a:endParaRPr lang="en-US" sz="1300" dirty="0"/>
          </a:p>
          <a:p>
            <a:pPr marL="0" indent="0" algn="ctr">
              <a:buNone/>
            </a:pPr>
            <a:r>
              <a:rPr lang="en-US" sz="950" dirty="0">
                <a:solidFill>
                  <a:srgbClr val="16253D"/>
                </a:solidFill>
              </a:rPr>
              <a:t>Sent to admin review</a:t>
            </a:r>
            <a:endParaRPr lang="en-US" sz="1300" dirty="0"/>
          </a:p>
        </p:txBody>
      </p:sp>
      <p:sp>
        <p:nvSpPr>
          <p:cNvPr id="22" name="Shape 20"/>
          <p:cNvSpPr/>
          <p:nvPr/>
        </p:nvSpPr>
        <p:spPr>
          <a:xfrm>
            <a:off x="4663440" y="2331720"/>
            <a:ext cx="1828800" cy="731520"/>
          </a:xfrm>
          <a:prstGeom prst="roundRect">
            <a:avLst>
              <a:gd name="adj" fmla="val 10000"/>
            </a:avLst>
          </a:prstGeom>
          <a:solidFill>
            <a:srgbClr val="FFFFFF"/>
          </a:solidFill>
          <a:ln w="25400">
            <a:solidFill>
              <a:srgbClr val="E4572E"/>
            </a:solidFill>
            <a:prstDash val="solid"/>
          </a:ln>
        </p:spPr>
      </p:sp>
      <p:sp>
        <p:nvSpPr>
          <p:cNvPr id="23" name="Text 21"/>
          <p:cNvSpPr txBox="1"/>
          <p:nvPr/>
        </p:nvSpPr>
        <p:spPr>
          <a:xfrm>
            <a:off x="4663440" y="2331720"/>
            <a:ext cx="1828800" cy="731520"/>
          </a:xfrm>
          <a:prstGeom prst="rect">
            <a:avLst/>
          </a:prstGeom>
          <a:noFill/>
          <a:ln/>
        </p:spPr>
        <p:txBody>
          <a:bodyPr wrap="square" lIns="38100" tIns="38100" rIns="38100" bIns="38100" rtlCol="0" anchor="ctr"/>
          <a:lstStyle/>
          <a:p>
            <a:pPr marL="0" indent="0" algn="ctr">
              <a:buNone/>
            </a:pPr>
            <a:r>
              <a:rPr lang="en-US" sz="1300" b="1" dirty="0">
                <a:solidFill>
                  <a:srgbClr val="E4572E"/>
                </a:solidFill>
              </a:rPr>
              <a:t>Invalid</a:t>
            </a:r>
            <a:endParaRPr lang="en-US" sz="1300" dirty="0"/>
          </a:p>
          <a:p>
            <a:pPr marL="0" indent="0" algn="ctr">
              <a:buNone/>
            </a:pPr>
            <a:r>
              <a:rPr lang="en-US" sz="950" dirty="0">
                <a:solidFill>
                  <a:srgbClr val="16253D"/>
                </a:solidFill>
              </a:rPr>
              <a:t>Sent to admin review</a:t>
            </a:r>
            <a:endParaRPr lang="en-US" sz="1300" dirty="0"/>
          </a:p>
        </p:txBody>
      </p:sp>
      <p:sp>
        <p:nvSpPr>
          <p:cNvPr id="24" name="Text 22"/>
          <p:cNvSpPr txBox="1"/>
          <p:nvPr/>
        </p:nvSpPr>
        <p:spPr>
          <a:xfrm>
            <a:off x="6583680" y="2331720"/>
            <a:ext cx="2194560" cy="731520"/>
          </a:xfrm>
          <a:prstGeom prst="rect">
            <a:avLst/>
          </a:prstGeom>
          <a:noFill/>
          <a:ln/>
        </p:spPr>
        <p:txBody>
          <a:bodyPr wrap="square" lIns="0" tIns="0" rIns="0" bIns="0" rtlCol="0" anchor="ctr"/>
          <a:lstStyle/>
          <a:p>
            <a:pPr marL="0" indent="0">
              <a:buNone/>
            </a:pPr>
            <a:r>
              <a:rPr lang="en-US" sz="1000" i="1" dirty="0">
                <a:solidFill>
                  <a:srgbClr val="BCD6FF"/>
                </a:solidFill>
              </a:rPr>
              <a:t>Admin approves or rejects; final status is stored and shown to the user.</a:t>
            </a:r>
            <a:endParaRPr lang="en-US" sz="1000" dirty="0"/>
          </a:p>
        </p:txBody>
      </p:sp>
      <p:sp>
        <p:nvSpPr>
          <p:cNvPr id="25" name="Shape 23"/>
          <p:cNvSpPr/>
          <p:nvPr/>
        </p:nvSpPr>
        <p:spPr>
          <a:xfrm>
            <a:off x="457200" y="3246120"/>
            <a:ext cx="8229600" cy="1371600"/>
          </a:xfrm>
          <a:prstGeom prst="roundRect">
            <a:avLst>
              <a:gd name="adj" fmla="val 5333"/>
            </a:avLst>
          </a:prstGeom>
          <a:solidFill>
            <a:srgbClr val="FFFFFF"/>
          </a:solidFill>
          <a:ln w="12700">
            <a:solidFill>
              <a:srgbClr val="D3E0F2"/>
            </a:solidFill>
            <a:prstDash val="solid"/>
          </a:ln>
        </p:spPr>
      </p:sp>
      <p:sp>
        <p:nvSpPr>
          <p:cNvPr id="26" name="Text 24"/>
          <p:cNvSpPr txBox="1"/>
          <p:nvPr/>
        </p:nvSpPr>
        <p:spPr>
          <a:xfrm>
            <a:off x="594360" y="3319272"/>
            <a:ext cx="7955280" cy="310896"/>
          </a:xfrm>
          <a:prstGeom prst="rect">
            <a:avLst/>
          </a:prstGeom>
          <a:noFill/>
          <a:ln/>
        </p:spPr>
        <p:txBody>
          <a:bodyPr wrap="square" lIns="0" tIns="0" rIns="0" bIns="0" rtlCol="0" anchor="ctr"/>
          <a:lstStyle/>
          <a:p>
            <a:pPr marL="0" indent="0">
              <a:buNone/>
            </a:pPr>
            <a:r>
              <a:rPr lang="en-US" sz="1250" b="1" dirty="0">
                <a:solidFill>
                  <a:srgbClr val="1F6FD1"/>
                </a:solidFill>
              </a:rPr>
              <a:t>Development methodology</a:t>
            </a:r>
            <a:endParaRPr lang="en-US" sz="1250" dirty="0"/>
          </a:p>
        </p:txBody>
      </p:sp>
      <p:sp>
        <p:nvSpPr>
          <p:cNvPr id="27" name="Shape 25"/>
          <p:cNvSpPr/>
          <p:nvPr/>
        </p:nvSpPr>
        <p:spPr>
          <a:xfrm>
            <a:off x="594360" y="3749040"/>
            <a:ext cx="1234440" cy="548640"/>
          </a:xfrm>
          <a:prstGeom prst="roundRect">
            <a:avLst>
              <a:gd name="adj" fmla="val 10000"/>
            </a:avLst>
          </a:prstGeom>
          <a:solidFill>
            <a:srgbClr val="EEF3FB"/>
          </a:solidFill>
          <a:ln w="12700">
            <a:solidFill>
              <a:srgbClr val="D3E0F2"/>
            </a:solidFill>
            <a:prstDash val="solid"/>
          </a:ln>
        </p:spPr>
      </p:sp>
      <p:sp>
        <p:nvSpPr>
          <p:cNvPr id="28" name="Text 26"/>
          <p:cNvSpPr txBox="1"/>
          <p:nvPr/>
        </p:nvSpPr>
        <p:spPr>
          <a:xfrm>
            <a:off x="594360" y="3749040"/>
            <a:ext cx="1234440" cy="548640"/>
          </a:xfrm>
          <a:prstGeom prst="rect">
            <a:avLst/>
          </a:prstGeom>
          <a:noFill/>
          <a:ln/>
        </p:spPr>
        <p:txBody>
          <a:bodyPr wrap="square" lIns="25400" tIns="25400" rIns="25400" bIns="25400" rtlCol="0" anchor="ctr"/>
          <a:lstStyle/>
          <a:p>
            <a:pPr marL="0" indent="0" algn="ctr">
              <a:buNone/>
            </a:pPr>
            <a:r>
              <a:rPr lang="en-US" sz="950" b="1" dirty="0">
                <a:solidFill>
                  <a:srgbClr val="12356B"/>
                </a:solidFill>
              </a:rPr>
              <a:t>Requirement analysis</a:t>
            </a:r>
            <a:endParaRPr lang="en-US" sz="950" dirty="0"/>
          </a:p>
        </p:txBody>
      </p:sp>
      <p:sp>
        <p:nvSpPr>
          <p:cNvPr id="29" name="Shape 27"/>
          <p:cNvSpPr/>
          <p:nvPr/>
        </p:nvSpPr>
        <p:spPr>
          <a:xfrm>
            <a:off x="1920240" y="3749040"/>
            <a:ext cx="1234440" cy="548640"/>
          </a:xfrm>
          <a:prstGeom prst="roundRect">
            <a:avLst>
              <a:gd name="adj" fmla="val 10000"/>
            </a:avLst>
          </a:prstGeom>
          <a:solidFill>
            <a:srgbClr val="EEF3FB"/>
          </a:solidFill>
          <a:ln w="12700">
            <a:solidFill>
              <a:srgbClr val="D3E0F2"/>
            </a:solidFill>
            <a:prstDash val="solid"/>
          </a:ln>
        </p:spPr>
      </p:sp>
      <p:sp>
        <p:nvSpPr>
          <p:cNvPr id="30" name="Text 28"/>
          <p:cNvSpPr txBox="1"/>
          <p:nvPr/>
        </p:nvSpPr>
        <p:spPr>
          <a:xfrm>
            <a:off x="1920240" y="3749040"/>
            <a:ext cx="1234440" cy="548640"/>
          </a:xfrm>
          <a:prstGeom prst="rect">
            <a:avLst/>
          </a:prstGeom>
          <a:noFill/>
          <a:ln/>
        </p:spPr>
        <p:txBody>
          <a:bodyPr wrap="square" lIns="25400" tIns="25400" rIns="25400" bIns="25400" rtlCol="0" anchor="ctr"/>
          <a:lstStyle/>
          <a:p>
            <a:pPr marL="0" indent="0" algn="ctr">
              <a:buNone/>
            </a:pPr>
            <a:r>
              <a:rPr lang="en-US" sz="950" b="1" dirty="0">
                <a:solidFill>
                  <a:srgbClr val="12356B"/>
                </a:solidFill>
              </a:rPr>
              <a:t>System design</a:t>
            </a:r>
            <a:endParaRPr lang="en-US" sz="950" dirty="0"/>
          </a:p>
        </p:txBody>
      </p:sp>
      <p:sp>
        <p:nvSpPr>
          <p:cNvPr id="31" name="Shape 29"/>
          <p:cNvSpPr/>
          <p:nvPr/>
        </p:nvSpPr>
        <p:spPr>
          <a:xfrm>
            <a:off x="3246120" y="3749040"/>
            <a:ext cx="1234440" cy="548640"/>
          </a:xfrm>
          <a:prstGeom prst="roundRect">
            <a:avLst>
              <a:gd name="adj" fmla="val 10000"/>
            </a:avLst>
          </a:prstGeom>
          <a:solidFill>
            <a:srgbClr val="EEF3FB"/>
          </a:solidFill>
          <a:ln w="12700">
            <a:solidFill>
              <a:srgbClr val="D3E0F2"/>
            </a:solidFill>
            <a:prstDash val="solid"/>
          </a:ln>
        </p:spPr>
      </p:sp>
      <p:sp>
        <p:nvSpPr>
          <p:cNvPr id="32" name="Text 30"/>
          <p:cNvSpPr txBox="1"/>
          <p:nvPr/>
        </p:nvSpPr>
        <p:spPr>
          <a:xfrm>
            <a:off x="3246120" y="3749040"/>
            <a:ext cx="1234440" cy="548640"/>
          </a:xfrm>
          <a:prstGeom prst="rect">
            <a:avLst/>
          </a:prstGeom>
          <a:noFill/>
          <a:ln/>
        </p:spPr>
        <p:txBody>
          <a:bodyPr wrap="square" lIns="25400" tIns="25400" rIns="25400" bIns="25400" rtlCol="0" anchor="ctr"/>
          <a:lstStyle/>
          <a:p>
            <a:pPr marL="0" indent="0" algn="ctr">
              <a:buNone/>
            </a:pPr>
            <a:r>
              <a:rPr lang="en-US" sz="950" b="1" dirty="0">
                <a:solidFill>
                  <a:srgbClr val="12356B"/>
                </a:solidFill>
              </a:rPr>
              <a:t>Front-end</a:t>
            </a:r>
            <a:endParaRPr lang="en-US" sz="950" dirty="0"/>
          </a:p>
        </p:txBody>
      </p:sp>
      <p:sp>
        <p:nvSpPr>
          <p:cNvPr id="33" name="Shape 31"/>
          <p:cNvSpPr/>
          <p:nvPr/>
        </p:nvSpPr>
        <p:spPr>
          <a:xfrm>
            <a:off x="4572000" y="3749040"/>
            <a:ext cx="1234440" cy="548640"/>
          </a:xfrm>
          <a:prstGeom prst="roundRect">
            <a:avLst>
              <a:gd name="adj" fmla="val 10000"/>
            </a:avLst>
          </a:prstGeom>
          <a:solidFill>
            <a:srgbClr val="EEF3FB"/>
          </a:solidFill>
          <a:ln w="12700">
            <a:solidFill>
              <a:srgbClr val="D3E0F2"/>
            </a:solidFill>
            <a:prstDash val="solid"/>
          </a:ln>
        </p:spPr>
      </p:sp>
      <p:sp>
        <p:nvSpPr>
          <p:cNvPr id="34" name="Text 32"/>
          <p:cNvSpPr txBox="1"/>
          <p:nvPr/>
        </p:nvSpPr>
        <p:spPr>
          <a:xfrm>
            <a:off x="4572000" y="3749040"/>
            <a:ext cx="1234440" cy="548640"/>
          </a:xfrm>
          <a:prstGeom prst="rect">
            <a:avLst/>
          </a:prstGeom>
          <a:noFill/>
          <a:ln/>
        </p:spPr>
        <p:txBody>
          <a:bodyPr wrap="square" lIns="25400" tIns="25400" rIns="25400" bIns="25400" rtlCol="0" anchor="ctr"/>
          <a:lstStyle/>
          <a:p>
            <a:pPr marL="0" indent="0" algn="ctr">
              <a:buNone/>
            </a:pPr>
            <a:r>
              <a:rPr lang="en-US" sz="950" b="1" dirty="0">
                <a:solidFill>
                  <a:srgbClr val="12356B"/>
                </a:solidFill>
              </a:rPr>
              <a:t>Back-end</a:t>
            </a:r>
            <a:endParaRPr lang="en-US" sz="950" dirty="0"/>
          </a:p>
        </p:txBody>
      </p:sp>
      <p:sp>
        <p:nvSpPr>
          <p:cNvPr id="35" name="Shape 33"/>
          <p:cNvSpPr/>
          <p:nvPr/>
        </p:nvSpPr>
        <p:spPr>
          <a:xfrm>
            <a:off x="5897880" y="3749040"/>
            <a:ext cx="1234440" cy="548640"/>
          </a:xfrm>
          <a:prstGeom prst="roundRect">
            <a:avLst>
              <a:gd name="adj" fmla="val 10000"/>
            </a:avLst>
          </a:prstGeom>
          <a:solidFill>
            <a:srgbClr val="EEF3FB"/>
          </a:solidFill>
          <a:ln w="12700">
            <a:solidFill>
              <a:srgbClr val="D3E0F2"/>
            </a:solidFill>
            <a:prstDash val="solid"/>
          </a:ln>
        </p:spPr>
      </p:sp>
      <p:sp>
        <p:nvSpPr>
          <p:cNvPr id="36" name="Text 34"/>
          <p:cNvSpPr txBox="1"/>
          <p:nvPr/>
        </p:nvSpPr>
        <p:spPr>
          <a:xfrm>
            <a:off x="5897880" y="3749040"/>
            <a:ext cx="1234440" cy="548640"/>
          </a:xfrm>
          <a:prstGeom prst="rect">
            <a:avLst/>
          </a:prstGeom>
          <a:noFill/>
          <a:ln/>
        </p:spPr>
        <p:txBody>
          <a:bodyPr wrap="square" lIns="25400" tIns="25400" rIns="25400" bIns="25400" rtlCol="0" anchor="ctr"/>
          <a:lstStyle/>
          <a:p>
            <a:pPr marL="0" indent="0" algn="ctr">
              <a:buNone/>
            </a:pPr>
            <a:r>
              <a:rPr lang="en-US" sz="950" b="1" dirty="0">
                <a:solidFill>
                  <a:srgbClr val="12356B"/>
                </a:solidFill>
              </a:rPr>
              <a:t>AI verification</a:t>
            </a:r>
            <a:endParaRPr lang="en-US" sz="950" dirty="0"/>
          </a:p>
        </p:txBody>
      </p:sp>
      <p:sp>
        <p:nvSpPr>
          <p:cNvPr id="37" name="Shape 35"/>
          <p:cNvSpPr/>
          <p:nvPr/>
        </p:nvSpPr>
        <p:spPr>
          <a:xfrm>
            <a:off x="7223760" y="3749040"/>
            <a:ext cx="1234440" cy="548640"/>
          </a:xfrm>
          <a:prstGeom prst="roundRect">
            <a:avLst>
              <a:gd name="adj" fmla="val 10000"/>
            </a:avLst>
          </a:prstGeom>
          <a:solidFill>
            <a:srgbClr val="EEF3FB"/>
          </a:solidFill>
          <a:ln w="12700">
            <a:solidFill>
              <a:srgbClr val="D3E0F2"/>
            </a:solidFill>
            <a:prstDash val="solid"/>
          </a:ln>
        </p:spPr>
      </p:sp>
      <p:sp>
        <p:nvSpPr>
          <p:cNvPr id="38" name="Text 36"/>
          <p:cNvSpPr txBox="1"/>
          <p:nvPr/>
        </p:nvSpPr>
        <p:spPr>
          <a:xfrm>
            <a:off x="7223760" y="3749040"/>
            <a:ext cx="1234440" cy="548640"/>
          </a:xfrm>
          <a:prstGeom prst="rect">
            <a:avLst/>
          </a:prstGeom>
          <a:noFill/>
          <a:ln/>
        </p:spPr>
        <p:txBody>
          <a:bodyPr wrap="square" lIns="25400" tIns="25400" rIns="25400" bIns="25400" rtlCol="0" anchor="ctr"/>
          <a:lstStyle/>
          <a:p>
            <a:pPr marL="0" indent="0" algn="ctr">
              <a:buNone/>
            </a:pPr>
            <a:r>
              <a:rPr lang="en-US" sz="950" b="1" dirty="0">
                <a:solidFill>
                  <a:srgbClr val="12356B"/>
                </a:solidFill>
              </a:rPr>
              <a:t>Testing</a:t>
            </a:r>
            <a:endParaRPr lang="en-US" sz="950" dirty="0"/>
          </a:p>
        </p:txBody>
      </p:sp>
      <p:sp>
        <p:nvSpPr>
          <p:cNvPr id="39"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Implementation</a:t>
            </a:r>
            <a:endParaRPr lang="en-US" sz="2400" dirty="0"/>
          </a:p>
        </p:txBody>
      </p:sp>
      <p:sp>
        <p:nvSpPr>
          <p:cNvPr id="6" name="Shape 4"/>
          <p:cNvSpPr/>
          <p:nvPr/>
        </p:nvSpPr>
        <p:spPr>
          <a:xfrm>
            <a:off x="457200" y="960120"/>
            <a:ext cx="4023360" cy="1691640"/>
          </a:xfrm>
          <a:prstGeom prst="roundRect">
            <a:avLst>
              <a:gd name="adj" fmla="val 4324"/>
            </a:avLst>
          </a:prstGeom>
          <a:solidFill>
            <a:srgbClr val="FFFFFF"/>
          </a:solidFill>
          <a:ln w="12700">
            <a:solidFill>
              <a:srgbClr val="D3E0F2"/>
            </a:solidFill>
            <a:prstDash val="solid"/>
          </a:ln>
        </p:spPr>
      </p:sp>
      <p:sp>
        <p:nvSpPr>
          <p:cNvPr id="7" name="Text 5"/>
          <p:cNvSpPr txBox="1"/>
          <p:nvPr/>
        </p:nvSpPr>
        <p:spPr>
          <a:xfrm>
            <a:off x="594360" y="103327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Frontend</a:t>
            </a:r>
            <a:endParaRPr lang="en-US" sz="1250" dirty="0"/>
          </a:p>
        </p:txBody>
      </p:sp>
      <p:sp>
        <p:nvSpPr>
          <p:cNvPr id="8" name="Text 6"/>
          <p:cNvSpPr txBox="1"/>
          <p:nvPr/>
        </p:nvSpPr>
        <p:spPr>
          <a:xfrm>
            <a:off x="594360" y="1362456"/>
            <a:ext cx="3749040" cy="123444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Login, registration, home, medicine search, prescription upload, dashboard, chatbot pages (Bootstrap, responsive)</a:t>
            </a:r>
            <a:endParaRPr lang="en-US" sz="1050" dirty="0"/>
          </a:p>
        </p:txBody>
      </p:sp>
      <p:sp>
        <p:nvSpPr>
          <p:cNvPr id="9" name="Shape 7"/>
          <p:cNvSpPr/>
          <p:nvPr/>
        </p:nvSpPr>
        <p:spPr>
          <a:xfrm>
            <a:off x="594360" y="2331720"/>
            <a:ext cx="2011680" cy="219456"/>
          </a:xfrm>
          <a:prstGeom prst="roundRect">
            <a:avLst>
              <a:gd name="adj" fmla="val 50000"/>
            </a:avLst>
          </a:prstGeom>
          <a:solidFill>
            <a:srgbClr val="2E8B57"/>
          </a:solidFill>
          <a:ln/>
        </p:spPr>
      </p:sp>
      <p:sp>
        <p:nvSpPr>
          <p:cNvPr id="10" name="Text 8"/>
          <p:cNvSpPr txBox="1"/>
          <p:nvPr/>
        </p:nvSpPr>
        <p:spPr>
          <a:xfrm>
            <a:off x="594360" y="2331720"/>
            <a:ext cx="2011680" cy="219456"/>
          </a:xfrm>
          <a:prstGeom prst="rect">
            <a:avLst/>
          </a:prstGeom>
          <a:noFill/>
          <a:ln/>
        </p:spPr>
        <p:txBody>
          <a:bodyPr wrap="square" lIns="0" tIns="0" rIns="0" bIns="0" rtlCol="0" anchor="ctr"/>
          <a:lstStyle/>
          <a:p>
            <a:pPr marL="0" indent="0" algn="ctr">
              <a:buNone/>
            </a:pPr>
            <a:r>
              <a:rPr lang="en-US" sz="850" b="1" dirty="0">
                <a:solidFill>
                  <a:srgbClr val="FFFFFF"/>
                </a:solidFill>
              </a:rPr>
              <a:t>Implemented · ~80%</a:t>
            </a:r>
            <a:endParaRPr lang="en-US" sz="850" dirty="0"/>
          </a:p>
        </p:txBody>
      </p:sp>
      <p:sp>
        <p:nvSpPr>
          <p:cNvPr id="11" name="Shape 9"/>
          <p:cNvSpPr/>
          <p:nvPr/>
        </p:nvSpPr>
        <p:spPr>
          <a:xfrm>
            <a:off x="4663440" y="960120"/>
            <a:ext cx="4023360" cy="1691640"/>
          </a:xfrm>
          <a:prstGeom prst="roundRect">
            <a:avLst>
              <a:gd name="adj" fmla="val 4324"/>
            </a:avLst>
          </a:prstGeom>
          <a:solidFill>
            <a:srgbClr val="FFFFFF"/>
          </a:solidFill>
          <a:ln w="12700">
            <a:solidFill>
              <a:srgbClr val="D3E0F2"/>
            </a:solidFill>
            <a:prstDash val="solid"/>
          </a:ln>
        </p:spPr>
      </p:sp>
      <p:sp>
        <p:nvSpPr>
          <p:cNvPr id="12" name="Text 10"/>
          <p:cNvSpPr txBox="1"/>
          <p:nvPr/>
        </p:nvSpPr>
        <p:spPr>
          <a:xfrm>
            <a:off x="4800600" y="103327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Backend (Flask)</a:t>
            </a:r>
            <a:endParaRPr lang="en-US" sz="1250" dirty="0"/>
          </a:p>
        </p:txBody>
      </p:sp>
      <p:sp>
        <p:nvSpPr>
          <p:cNvPr id="13" name="Text 11"/>
          <p:cNvSpPr txBox="1"/>
          <p:nvPr/>
        </p:nvSpPr>
        <p:spPr>
          <a:xfrm>
            <a:off x="4800600" y="1362456"/>
            <a:ext cx="3749040" cy="123444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Modular structure: user, medicine, category, stock, prescription, order, coupon, payment, notification</a:t>
            </a:r>
            <a:endParaRPr lang="en-US" sz="1050" dirty="0"/>
          </a:p>
        </p:txBody>
      </p:sp>
      <p:sp>
        <p:nvSpPr>
          <p:cNvPr id="14" name="Shape 12"/>
          <p:cNvSpPr/>
          <p:nvPr/>
        </p:nvSpPr>
        <p:spPr>
          <a:xfrm>
            <a:off x="4800600" y="2331720"/>
            <a:ext cx="2011680" cy="219456"/>
          </a:xfrm>
          <a:prstGeom prst="roundRect">
            <a:avLst>
              <a:gd name="adj" fmla="val 50000"/>
            </a:avLst>
          </a:prstGeom>
          <a:solidFill>
            <a:srgbClr val="F2A541"/>
          </a:solidFill>
          <a:ln/>
        </p:spPr>
      </p:sp>
      <p:sp>
        <p:nvSpPr>
          <p:cNvPr id="15" name="Text 13"/>
          <p:cNvSpPr txBox="1"/>
          <p:nvPr/>
        </p:nvSpPr>
        <p:spPr>
          <a:xfrm>
            <a:off x="4800600" y="2331720"/>
            <a:ext cx="2011680" cy="219456"/>
          </a:xfrm>
          <a:prstGeom prst="rect">
            <a:avLst/>
          </a:prstGeom>
          <a:noFill/>
          <a:ln/>
        </p:spPr>
        <p:txBody>
          <a:bodyPr wrap="square" lIns="0" tIns="0" rIns="0" bIns="0" rtlCol="0" anchor="ctr"/>
          <a:lstStyle/>
          <a:p>
            <a:pPr marL="0" indent="0" algn="ctr">
              <a:buNone/>
            </a:pPr>
            <a:r>
              <a:rPr lang="en-US" sz="850" b="1" dirty="0">
                <a:solidFill>
                  <a:srgbClr val="FFFFFF"/>
                </a:solidFill>
              </a:rPr>
              <a:t>Designed / partly integrated</a:t>
            </a:r>
            <a:endParaRPr lang="en-US" sz="850" dirty="0"/>
          </a:p>
        </p:txBody>
      </p:sp>
      <p:sp>
        <p:nvSpPr>
          <p:cNvPr id="16" name="Shape 14"/>
          <p:cNvSpPr/>
          <p:nvPr/>
        </p:nvSpPr>
        <p:spPr>
          <a:xfrm>
            <a:off x="457200" y="2788920"/>
            <a:ext cx="4023360" cy="1691640"/>
          </a:xfrm>
          <a:prstGeom prst="roundRect">
            <a:avLst>
              <a:gd name="adj" fmla="val 4324"/>
            </a:avLst>
          </a:prstGeom>
          <a:solidFill>
            <a:srgbClr val="FFFFFF"/>
          </a:solidFill>
          <a:ln w="12700">
            <a:solidFill>
              <a:srgbClr val="D3E0F2"/>
            </a:solidFill>
            <a:prstDash val="solid"/>
          </a:ln>
        </p:spPr>
      </p:sp>
      <p:sp>
        <p:nvSpPr>
          <p:cNvPr id="17" name="Text 15"/>
          <p:cNvSpPr txBox="1"/>
          <p:nvPr/>
        </p:nvSpPr>
        <p:spPr>
          <a:xfrm>
            <a:off x="594360" y="286207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Database (SQLite)</a:t>
            </a:r>
            <a:endParaRPr lang="en-US" sz="1250" dirty="0"/>
          </a:p>
        </p:txBody>
      </p:sp>
      <p:sp>
        <p:nvSpPr>
          <p:cNvPr id="18" name="Text 16"/>
          <p:cNvSpPr txBox="1"/>
          <p:nvPr/>
        </p:nvSpPr>
        <p:spPr>
          <a:xfrm>
            <a:off x="594360" y="3191256"/>
            <a:ext cx="3749040" cy="123444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Users, medicines, categories, prescriptions, orders, payments, stock, coupons, notifications</a:t>
            </a:r>
            <a:endParaRPr lang="en-US" sz="1050" dirty="0"/>
          </a:p>
        </p:txBody>
      </p:sp>
      <p:sp>
        <p:nvSpPr>
          <p:cNvPr id="19" name="Shape 17"/>
          <p:cNvSpPr/>
          <p:nvPr/>
        </p:nvSpPr>
        <p:spPr>
          <a:xfrm>
            <a:off x="594360" y="4160520"/>
            <a:ext cx="2011680" cy="219456"/>
          </a:xfrm>
          <a:prstGeom prst="roundRect">
            <a:avLst>
              <a:gd name="adj" fmla="val 50000"/>
            </a:avLst>
          </a:prstGeom>
          <a:solidFill>
            <a:srgbClr val="F2A541"/>
          </a:solidFill>
          <a:ln/>
        </p:spPr>
      </p:sp>
      <p:sp>
        <p:nvSpPr>
          <p:cNvPr id="20" name="Text 18"/>
          <p:cNvSpPr txBox="1"/>
          <p:nvPr/>
        </p:nvSpPr>
        <p:spPr>
          <a:xfrm>
            <a:off x="594360" y="4160520"/>
            <a:ext cx="2011680" cy="219456"/>
          </a:xfrm>
          <a:prstGeom prst="rect">
            <a:avLst/>
          </a:prstGeom>
          <a:noFill/>
          <a:ln/>
        </p:spPr>
        <p:txBody>
          <a:bodyPr wrap="square" lIns="0" tIns="0" rIns="0" bIns="0" rtlCol="0" anchor="ctr"/>
          <a:lstStyle/>
          <a:p>
            <a:pPr marL="0" indent="0" algn="ctr">
              <a:buNone/>
            </a:pPr>
            <a:r>
              <a:rPr lang="en-US" sz="850" b="1" dirty="0">
                <a:solidFill>
                  <a:srgbClr val="FFFFFF"/>
                </a:solidFill>
              </a:rPr>
              <a:t>Designed from ER diagram</a:t>
            </a:r>
            <a:endParaRPr lang="en-US" sz="850" dirty="0"/>
          </a:p>
        </p:txBody>
      </p:sp>
      <p:sp>
        <p:nvSpPr>
          <p:cNvPr id="21" name="Shape 19"/>
          <p:cNvSpPr/>
          <p:nvPr/>
        </p:nvSpPr>
        <p:spPr>
          <a:xfrm>
            <a:off x="4663440" y="2788920"/>
            <a:ext cx="4023360" cy="1691640"/>
          </a:xfrm>
          <a:prstGeom prst="roundRect">
            <a:avLst>
              <a:gd name="adj" fmla="val 4324"/>
            </a:avLst>
          </a:prstGeom>
          <a:solidFill>
            <a:srgbClr val="FFFFFF"/>
          </a:solidFill>
          <a:ln w="12700">
            <a:solidFill>
              <a:srgbClr val="D3E0F2"/>
            </a:solidFill>
            <a:prstDash val="solid"/>
          </a:ln>
        </p:spPr>
      </p:sp>
      <p:sp>
        <p:nvSpPr>
          <p:cNvPr id="22" name="Text 20"/>
          <p:cNvSpPr txBox="1"/>
          <p:nvPr/>
        </p:nvSpPr>
        <p:spPr>
          <a:xfrm>
            <a:off x="4800600" y="2862072"/>
            <a:ext cx="3749040" cy="310896"/>
          </a:xfrm>
          <a:prstGeom prst="rect">
            <a:avLst/>
          </a:prstGeom>
          <a:noFill/>
          <a:ln/>
        </p:spPr>
        <p:txBody>
          <a:bodyPr wrap="square" lIns="0" tIns="0" rIns="0" bIns="0" rtlCol="0" anchor="ctr"/>
          <a:lstStyle/>
          <a:p>
            <a:pPr marL="0" indent="0">
              <a:buNone/>
            </a:pPr>
            <a:r>
              <a:rPr lang="en-US" sz="1250" b="1" dirty="0">
                <a:solidFill>
                  <a:srgbClr val="1F6FD1"/>
                </a:solidFill>
              </a:rPr>
              <a:t>AI integration</a:t>
            </a:r>
            <a:endParaRPr lang="en-US" sz="1250" dirty="0"/>
          </a:p>
        </p:txBody>
      </p:sp>
      <p:sp>
        <p:nvSpPr>
          <p:cNvPr id="23" name="Text 21"/>
          <p:cNvSpPr txBox="1"/>
          <p:nvPr/>
        </p:nvSpPr>
        <p:spPr>
          <a:xfrm>
            <a:off x="4800600" y="3191256"/>
            <a:ext cx="3749040" cy="123444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Tesseract OCR + TrOCR + Gemini API pipeline; interface shows simulated / preview responses</a:t>
            </a:r>
            <a:endParaRPr lang="en-US" sz="1050" dirty="0"/>
          </a:p>
        </p:txBody>
      </p:sp>
      <p:sp>
        <p:nvSpPr>
          <p:cNvPr id="24" name="Shape 22"/>
          <p:cNvSpPr/>
          <p:nvPr/>
        </p:nvSpPr>
        <p:spPr>
          <a:xfrm>
            <a:off x="4800600" y="4160520"/>
            <a:ext cx="2011680" cy="219456"/>
          </a:xfrm>
          <a:prstGeom prst="roundRect">
            <a:avLst>
              <a:gd name="adj" fmla="val 50000"/>
            </a:avLst>
          </a:prstGeom>
          <a:solidFill>
            <a:srgbClr val="E4572E"/>
          </a:solidFill>
          <a:ln/>
        </p:spPr>
      </p:sp>
      <p:sp>
        <p:nvSpPr>
          <p:cNvPr id="25" name="Text 23"/>
          <p:cNvSpPr txBox="1"/>
          <p:nvPr/>
        </p:nvSpPr>
        <p:spPr>
          <a:xfrm>
            <a:off x="4800600" y="4160520"/>
            <a:ext cx="2011680" cy="219456"/>
          </a:xfrm>
          <a:prstGeom prst="rect">
            <a:avLst/>
          </a:prstGeom>
          <a:noFill/>
          <a:ln/>
        </p:spPr>
        <p:txBody>
          <a:bodyPr wrap="square" lIns="0" tIns="0" rIns="0" bIns="0" rtlCol="0" anchor="ctr"/>
          <a:lstStyle/>
          <a:p>
            <a:pPr marL="0" indent="0" algn="ctr">
              <a:buNone/>
            </a:pPr>
            <a:r>
              <a:rPr lang="en-US" sz="850" b="1" dirty="0">
                <a:solidFill>
                  <a:srgbClr val="FFFFFF"/>
                </a:solidFill>
              </a:rPr>
              <a:t>Live integration planned</a:t>
            </a:r>
            <a:endParaRPr lang="en-US" sz="850" dirty="0"/>
          </a:p>
        </p:txBody>
      </p:sp>
      <p:sp>
        <p:nvSpPr>
          <p:cNvPr id="26" name="Text 24"/>
          <p:cNvSpPr txBox="1"/>
          <p:nvPr/>
        </p:nvSpPr>
        <p:spPr>
          <a:xfrm>
            <a:off x="457200" y="4572000"/>
            <a:ext cx="8229600" cy="182880"/>
          </a:xfrm>
          <a:prstGeom prst="rect">
            <a:avLst/>
          </a:prstGeom>
          <a:noFill/>
          <a:ln/>
        </p:spPr>
        <p:txBody>
          <a:bodyPr wrap="square" lIns="0" tIns="0" rIns="0" bIns="0" rtlCol="0" anchor="ctr"/>
          <a:lstStyle/>
          <a:p>
            <a:pPr marL="0" indent="0">
              <a:buNone/>
            </a:pPr>
            <a:r>
              <a:rPr lang="en-US" sz="850" i="1" dirty="0">
                <a:solidFill>
                  <a:srgbClr val="BCD6FF"/>
                </a:solidFill>
              </a:rPr>
              <a:t>Core registration, login, search and filtering are verified; AI verification, live payment and admin functions still need end-to-end testing.</a:t>
            </a:r>
            <a:endParaRPr lang="en-US" sz="850" dirty="0"/>
          </a:p>
        </p:txBody>
      </p:sp>
      <p:sp>
        <p:nvSpPr>
          <p:cNvPr id="27"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Results / Analysis</a:t>
            </a:r>
            <a:endParaRPr lang="en-US" sz="24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24</a:t>
            </a:fld>
            <a:endParaRPr lang="en-US"/>
          </a:p>
        </p:txBody>
      </p:sp>
      <p:sp>
        <p:nvSpPr>
          <p:cNvPr id="15" name="Shape 557">
            <a:extLst>
              <a:ext uri="{FF2B5EF4-FFF2-40B4-BE49-F238E27FC236}">
                <a16:creationId xmlns:a16="http://schemas.microsoft.com/office/drawing/2014/main" id="{A46EE0D2-3173-F055-EEDA-FDC280476EA1}"/>
              </a:ext>
            </a:extLst>
          </p:cNvPr>
          <p:cNvSpPr/>
          <p:nvPr/>
        </p:nvSpPr>
        <p:spPr>
          <a:xfrm>
            <a:off x="228600" y="1122426"/>
            <a:ext cx="2804160" cy="1559052"/>
          </a:xfrm>
          <a:prstGeom prst="roundRect">
            <a:avLst>
              <a:gd name="adj" fmla="val 6000"/>
            </a:avLst>
          </a:prstGeom>
          <a:solidFill>
            <a:schemeClr val="bg1"/>
          </a:solidFill>
          <a:ln w="9525">
            <a:solidFill>
              <a:srgbClr val="D5DFEF"/>
            </a:solidFill>
            <a:prstDash val="solid"/>
          </a:ln>
          <a:effectLst>
            <a:outerShdw blurRad="101600" dist="25400" dir="5400000" algn="bl" rotWithShape="0">
              <a:srgbClr val="0B1220">
                <a:alpha val="10000"/>
              </a:srgbClr>
            </a:outerShdw>
          </a:effectLst>
        </p:spPr>
        <p:txBody>
          <a:bodyPr/>
          <a:lstStyle/>
          <a:p>
            <a:r>
              <a:rPr lang="en-IN" dirty="0"/>
              <a:t>💊 </a:t>
            </a:r>
            <a:r>
              <a:rPr lang="en-IN" b="1" dirty="0"/>
              <a:t>Medicine Search</a:t>
            </a:r>
            <a:br>
              <a:rPr lang="en-IN" dirty="0"/>
            </a:br>
            <a:r>
              <a:rPr lang="en-US" dirty="0"/>
              <a:t>Users can search for medicines and view relevant information.</a:t>
            </a:r>
            <a:endParaRPr lang="en-IN" dirty="0"/>
          </a:p>
        </p:txBody>
      </p:sp>
      <p:sp>
        <p:nvSpPr>
          <p:cNvPr id="17" name="Shape 561">
            <a:extLst>
              <a:ext uri="{FF2B5EF4-FFF2-40B4-BE49-F238E27FC236}">
                <a16:creationId xmlns:a16="http://schemas.microsoft.com/office/drawing/2014/main" id="{793C1D64-20DC-B066-1068-044C56E071A5}"/>
              </a:ext>
            </a:extLst>
          </p:cNvPr>
          <p:cNvSpPr/>
          <p:nvPr/>
        </p:nvSpPr>
        <p:spPr>
          <a:xfrm>
            <a:off x="3203448" y="1143000"/>
            <a:ext cx="2804160" cy="1539240"/>
          </a:xfrm>
          <a:prstGeom prst="roundRect">
            <a:avLst>
              <a:gd name="adj" fmla="val 6000"/>
            </a:avLst>
          </a:prstGeom>
          <a:solidFill>
            <a:schemeClr val="bg1"/>
          </a:solidFill>
          <a:ln w="9525">
            <a:solidFill>
              <a:srgbClr val="D5DFEF"/>
            </a:solidFill>
            <a:prstDash val="solid"/>
          </a:ln>
          <a:effectLst>
            <a:outerShdw blurRad="101600" dist="25400" dir="5400000" algn="bl" rotWithShape="0">
              <a:srgbClr val="0B1220">
                <a:alpha val="10000"/>
              </a:srgbClr>
            </a:outerShdw>
          </a:effectLst>
        </p:spPr>
        <p:txBody>
          <a:bodyPr/>
          <a:lstStyle/>
          <a:p>
            <a:r>
              <a:rPr lang="en-IN" dirty="0"/>
              <a:t>📄 </a:t>
            </a:r>
            <a:r>
              <a:rPr lang="en-IN" b="1" dirty="0"/>
              <a:t>Prescription Upload</a:t>
            </a:r>
            <a:br>
              <a:rPr lang="en-IN" dirty="0"/>
            </a:br>
            <a:r>
              <a:rPr lang="en-US" dirty="0"/>
              <a:t>Users can upload prescription images for further processing.</a:t>
            </a:r>
            <a:endParaRPr lang="en-IN" dirty="0"/>
          </a:p>
        </p:txBody>
      </p:sp>
      <p:sp>
        <p:nvSpPr>
          <p:cNvPr id="19" name="Shape 561">
            <a:extLst>
              <a:ext uri="{FF2B5EF4-FFF2-40B4-BE49-F238E27FC236}">
                <a16:creationId xmlns:a16="http://schemas.microsoft.com/office/drawing/2014/main" id="{2E88B0ED-CFFA-9535-D34E-2612CA6B22D8}"/>
              </a:ext>
            </a:extLst>
          </p:cNvPr>
          <p:cNvSpPr/>
          <p:nvPr/>
        </p:nvSpPr>
        <p:spPr>
          <a:xfrm>
            <a:off x="6178296" y="1143000"/>
            <a:ext cx="2737104" cy="1539240"/>
          </a:xfrm>
          <a:prstGeom prst="roundRect">
            <a:avLst>
              <a:gd name="adj" fmla="val 6000"/>
            </a:avLst>
          </a:prstGeom>
          <a:solidFill>
            <a:schemeClr val="bg1"/>
          </a:solidFill>
          <a:ln w="9525">
            <a:solidFill>
              <a:srgbClr val="D5DFEF"/>
            </a:solidFill>
            <a:prstDash val="solid"/>
          </a:ln>
          <a:effectLst>
            <a:outerShdw blurRad="101600" dist="25400" dir="5400000" algn="bl" rotWithShape="0">
              <a:srgbClr val="0B1220">
                <a:alpha val="10000"/>
              </a:srgbClr>
            </a:outerShdw>
          </a:effectLst>
        </p:spPr>
        <p:txBody>
          <a:bodyPr/>
          <a:lstStyle/>
          <a:p>
            <a:r>
              <a:rPr lang="en-IN" dirty="0"/>
              <a:t>🏠 </a:t>
            </a:r>
            <a:r>
              <a:rPr lang="en-IN" b="1" dirty="0"/>
              <a:t>User Dashboard</a:t>
            </a:r>
            <a:br>
              <a:rPr lang="en-IN" dirty="0"/>
            </a:br>
            <a:r>
              <a:rPr lang="en-US" dirty="0"/>
              <a:t>Dashboard provides access to user-related features and activities.</a:t>
            </a:r>
            <a:endParaRPr lang="en-IN" dirty="0"/>
          </a:p>
        </p:txBody>
      </p:sp>
      <p:sp>
        <p:nvSpPr>
          <p:cNvPr id="21" name="Shape 557">
            <a:extLst>
              <a:ext uri="{FF2B5EF4-FFF2-40B4-BE49-F238E27FC236}">
                <a16:creationId xmlns:a16="http://schemas.microsoft.com/office/drawing/2014/main" id="{E2CD7826-E5AC-3AA4-5E9D-52F3ADFDF44D}"/>
              </a:ext>
            </a:extLst>
          </p:cNvPr>
          <p:cNvSpPr/>
          <p:nvPr/>
        </p:nvSpPr>
        <p:spPr>
          <a:xfrm>
            <a:off x="228600" y="3000756"/>
            <a:ext cx="2804160" cy="1539240"/>
          </a:xfrm>
          <a:prstGeom prst="roundRect">
            <a:avLst>
              <a:gd name="adj" fmla="val 6000"/>
            </a:avLst>
          </a:prstGeom>
          <a:solidFill>
            <a:schemeClr val="bg1"/>
          </a:solidFill>
          <a:ln w="9525">
            <a:solidFill>
              <a:srgbClr val="D5DFEF"/>
            </a:solidFill>
            <a:prstDash val="solid"/>
          </a:ln>
          <a:effectLst>
            <a:outerShdw blurRad="101600" dist="25400" dir="5400000" algn="bl" rotWithShape="0">
              <a:srgbClr val="0B1220">
                <a:alpha val="10000"/>
              </a:srgbClr>
            </a:outerShdw>
          </a:effectLst>
        </p:spPr>
        <p:txBody>
          <a:bodyPr/>
          <a:lstStyle/>
          <a:p>
            <a:r>
              <a:rPr lang="en-IN" dirty="0"/>
              <a:t>🤖 </a:t>
            </a:r>
            <a:r>
              <a:rPr lang="en-IN" b="1" dirty="0"/>
              <a:t>AI Chatbot</a:t>
            </a:r>
            <a:br>
              <a:rPr lang="en-IN" dirty="0"/>
            </a:br>
            <a:r>
              <a:rPr lang="en-US" dirty="0"/>
              <a:t>Chatbot assists users with basic medicine-related queries.</a:t>
            </a:r>
            <a:endParaRPr lang="en-IN" dirty="0"/>
          </a:p>
        </p:txBody>
      </p:sp>
      <p:sp>
        <p:nvSpPr>
          <p:cNvPr id="23" name="Shape 557">
            <a:extLst>
              <a:ext uri="{FF2B5EF4-FFF2-40B4-BE49-F238E27FC236}">
                <a16:creationId xmlns:a16="http://schemas.microsoft.com/office/drawing/2014/main" id="{A8504435-A1CF-F146-A201-1906BD6C634E}"/>
              </a:ext>
            </a:extLst>
          </p:cNvPr>
          <p:cNvSpPr/>
          <p:nvPr/>
        </p:nvSpPr>
        <p:spPr>
          <a:xfrm>
            <a:off x="3355848" y="2999232"/>
            <a:ext cx="2651760" cy="1540764"/>
          </a:xfrm>
          <a:prstGeom prst="roundRect">
            <a:avLst>
              <a:gd name="adj" fmla="val 6000"/>
            </a:avLst>
          </a:prstGeom>
          <a:solidFill>
            <a:schemeClr val="bg1"/>
          </a:solidFill>
          <a:ln w="9525">
            <a:solidFill>
              <a:srgbClr val="D5DFEF"/>
            </a:solidFill>
            <a:prstDash val="solid"/>
          </a:ln>
          <a:effectLst>
            <a:outerShdw blurRad="101600" dist="25400" dir="5400000" algn="bl" rotWithShape="0">
              <a:srgbClr val="0B1220">
                <a:alpha val="10000"/>
              </a:srgbClr>
            </a:outerShdw>
          </a:effectLst>
        </p:spPr>
        <p:txBody>
          <a:bodyPr/>
          <a:lstStyle/>
          <a:p>
            <a:r>
              <a:rPr lang="en-IN" dirty="0"/>
              <a:t>🔍 </a:t>
            </a:r>
            <a:r>
              <a:rPr lang="en-IN" b="1" dirty="0"/>
              <a:t>Medicine Filtering</a:t>
            </a:r>
            <a:br>
              <a:rPr lang="en-IN" dirty="0"/>
            </a:br>
            <a:r>
              <a:rPr lang="en-US" dirty="0"/>
              <a:t>Category-based filtering helps users find medicines easily.</a:t>
            </a:r>
            <a:endParaRPr lang="en-IN" dirty="0"/>
          </a:p>
        </p:txBody>
      </p:sp>
      <p:sp>
        <p:nvSpPr>
          <p:cNvPr id="26" name="Shape 557">
            <a:extLst>
              <a:ext uri="{FF2B5EF4-FFF2-40B4-BE49-F238E27FC236}">
                <a16:creationId xmlns:a16="http://schemas.microsoft.com/office/drawing/2014/main" id="{3D21C35D-4D6D-214B-68A2-4928B203E6D1}"/>
              </a:ext>
            </a:extLst>
          </p:cNvPr>
          <p:cNvSpPr/>
          <p:nvPr/>
        </p:nvSpPr>
        <p:spPr>
          <a:xfrm>
            <a:off x="6263640" y="2950464"/>
            <a:ext cx="2651760" cy="1539240"/>
          </a:xfrm>
          <a:prstGeom prst="roundRect">
            <a:avLst>
              <a:gd name="adj" fmla="val 6000"/>
            </a:avLst>
          </a:prstGeom>
          <a:solidFill>
            <a:schemeClr val="bg1"/>
          </a:solidFill>
          <a:ln w="9525">
            <a:solidFill>
              <a:srgbClr val="D5DFEF"/>
            </a:solidFill>
            <a:prstDash val="solid"/>
          </a:ln>
          <a:effectLst>
            <a:outerShdw blurRad="101600" dist="25400" dir="5400000" algn="bl" rotWithShape="0">
              <a:srgbClr val="0B1220">
                <a:alpha val="10000"/>
              </a:srgbClr>
            </a:outerShdw>
          </a:effectLst>
        </p:spPr>
        <p:txBody>
          <a:bodyPr/>
          <a:lstStyle/>
          <a:p>
            <a:r>
              <a:rPr lang="en-IN" dirty="0"/>
              <a:t>👤 </a:t>
            </a:r>
            <a:r>
              <a:rPr lang="en-IN" b="1" dirty="0"/>
              <a:t>User Management</a:t>
            </a:r>
            <a:br>
              <a:rPr lang="en-IN" dirty="0"/>
            </a:br>
            <a:r>
              <a:rPr lang="en-US" dirty="0"/>
              <a:t>User profile and account-related </a:t>
            </a:r>
            <a:r>
              <a:rPr lang="en-US" dirty="0" err="1"/>
              <a:t>functio</a:t>
            </a:r>
            <a:r>
              <a:rPr lang="en-US" dirty="0"/>
              <a:t>…</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Screenshots </a:t>
            </a:r>
            <a:endParaRPr lang="en-US" sz="2400" dirty="0"/>
          </a:p>
        </p:txBody>
      </p:sp>
      <p:sp>
        <p:nvSpPr>
          <p:cNvPr id="6" name="Shape 4"/>
          <p:cNvSpPr/>
          <p:nvPr/>
        </p:nvSpPr>
        <p:spPr>
          <a:xfrm>
            <a:off x="364923" y="1024128"/>
            <a:ext cx="5122315" cy="3163824"/>
          </a:xfrm>
          <a:prstGeom prst="rect">
            <a:avLst/>
          </a:prstGeom>
          <a:solidFill>
            <a:srgbClr val="FFFFFF"/>
          </a:solidFill>
          <a:ln w="12700">
            <a:solidFill>
              <a:srgbClr val="D3E0F2"/>
            </a:solidFill>
            <a:prstDash val="solid"/>
          </a:ln>
        </p:spPr>
      </p:sp>
      <p:pic>
        <p:nvPicPr>
          <p:cNvPr id="7" name="Image 0" descr="Registration"/>
          <p:cNvPicPr>
            <a:picLocks noChangeAspect="1"/>
          </p:cNvPicPr>
          <p:nvPr/>
        </p:nvPicPr>
        <p:blipFill>
          <a:blip r:embed="rId3"/>
          <a:stretch>
            <a:fillRect/>
          </a:stretch>
        </p:blipFill>
        <p:spPr>
          <a:xfrm>
            <a:off x="392355" y="1051560"/>
            <a:ext cx="5067451" cy="3108960"/>
          </a:xfrm>
          <a:prstGeom prst="rect">
            <a:avLst/>
          </a:prstGeom>
        </p:spPr>
      </p:pic>
      <p:sp>
        <p:nvSpPr>
          <p:cNvPr id="8" name="Text 5"/>
          <p:cNvSpPr txBox="1"/>
          <p:nvPr/>
        </p:nvSpPr>
        <p:spPr>
          <a:xfrm>
            <a:off x="365760" y="4197096"/>
            <a:ext cx="5120640" cy="219456"/>
          </a:xfrm>
          <a:prstGeom prst="rect">
            <a:avLst/>
          </a:prstGeom>
          <a:noFill/>
          <a:ln/>
        </p:spPr>
        <p:txBody>
          <a:bodyPr wrap="square" lIns="0" tIns="0" rIns="0" bIns="0" rtlCol="0" anchor="ctr"/>
          <a:lstStyle/>
          <a:p>
            <a:pPr marL="0" indent="0" algn="ctr">
              <a:buNone/>
            </a:pPr>
            <a:r>
              <a:rPr lang="en-US" sz="950" b="1" dirty="0">
                <a:solidFill>
                  <a:srgbClr val="12356B"/>
                </a:solidFill>
              </a:rPr>
              <a:t>Registration</a:t>
            </a:r>
            <a:endParaRPr lang="en-US" sz="950" dirty="0"/>
          </a:p>
        </p:txBody>
      </p:sp>
      <p:sp>
        <p:nvSpPr>
          <p:cNvPr id="9" name="Shape 6"/>
          <p:cNvSpPr/>
          <p:nvPr/>
        </p:nvSpPr>
        <p:spPr>
          <a:xfrm>
            <a:off x="5743269" y="1024128"/>
            <a:ext cx="2960983" cy="1426464"/>
          </a:xfrm>
          <a:prstGeom prst="rect">
            <a:avLst/>
          </a:prstGeom>
          <a:solidFill>
            <a:srgbClr val="FFFFFF"/>
          </a:solidFill>
          <a:ln w="12700">
            <a:solidFill>
              <a:srgbClr val="D3E0F2"/>
            </a:solidFill>
            <a:prstDash val="solid"/>
          </a:ln>
        </p:spPr>
      </p:sp>
      <p:pic>
        <p:nvPicPr>
          <p:cNvPr id="10" name="Image 1" descr="Login"/>
          <p:cNvPicPr>
            <a:picLocks noChangeAspect="1"/>
          </p:cNvPicPr>
          <p:nvPr/>
        </p:nvPicPr>
        <p:blipFill>
          <a:blip r:embed="rId4"/>
          <a:stretch>
            <a:fillRect/>
          </a:stretch>
        </p:blipFill>
        <p:spPr>
          <a:xfrm>
            <a:off x="5770701" y="1051560"/>
            <a:ext cx="2906119" cy="1371600"/>
          </a:xfrm>
          <a:prstGeom prst="rect">
            <a:avLst/>
          </a:prstGeom>
        </p:spPr>
      </p:pic>
      <p:sp>
        <p:nvSpPr>
          <p:cNvPr id="11" name="Text 7"/>
          <p:cNvSpPr txBox="1"/>
          <p:nvPr/>
        </p:nvSpPr>
        <p:spPr>
          <a:xfrm>
            <a:off x="5669280" y="2459736"/>
            <a:ext cx="3108960" cy="219456"/>
          </a:xfrm>
          <a:prstGeom prst="rect">
            <a:avLst/>
          </a:prstGeom>
          <a:noFill/>
          <a:ln/>
        </p:spPr>
        <p:txBody>
          <a:bodyPr wrap="square" lIns="0" tIns="0" rIns="0" bIns="0" rtlCol="0" anchor="ctr"/>
          <a:lstStyle/>
          <a:p>
            <a:pPr marL="0" indent="0" algn="ctr">
              <a:buNone/>
            </a:pPr>
            <a:r>
              <a:rPr lang="en-US" sz="950" b="1" dirty="0">
                <a:solidFill>
                  <a:srgbClr val="12356B"/>
                </a:solidFill>
              </a:rPr>
              <a:t>Login</a:t>
            </a:r>
            <a:endParaRPr lang="en-US" sz="950" dirty="0"/>
          </a:p>
        </p:txBody>
      </p:sp>
      <p:sp>
        <p:nvSpPr>
          <p:cNvPr id="12" name="Shape 8"/>
          <p:cNvSpPr/>
          <p:nvPr/>
        </p:nvSpPr>
        <p:spPr>
          <a:xfrm>
            <a:off x="5689356" y="2715768"/>
            <a:ext cx="3068808" cy="1426464"/>
          </a:xfrm>
          <a:prstGeom prst="rect">
            <a:avLst/>
          </a:prstGeom>
          <a:solidFill>
            <a:srgbClr val="FFFFFF"/>
          </a:solidFill>
          <a:ln w="12700">
            <a:solidFill>
              <a:srgbClr val="D3E0F2"/>
            </a:solidFill>
            <a:prstDash val="solid"/>
          </a:ln>
        </p:spPr>
      </p:sp>
      <p:pic>
        <p:nvPicPr>
          <p:cNvPr id="13" name="Image 2" descr="Home page"/>
          <p:cNvPicPr>
            <a:picLocks noChangeAspect="1"/>
          </p:cNvPicPr>
          <p:nvPr/>
        </p:nvPicPr>
        <p:blipFill>
          <a:blip r:embed="rId5"/>
          <a:stretch>
            <a:fillRect/>
          </a:stretch>
        </p:blipFill>
        <p:spPr>
          <a:xfrm>
            <a:off x="5716788" y="2743200"/>
            <a:ext cx="3013944" cy="1371600"/>
          </a:xfrm>
          <a:prstGeom prst="rect">
            <a:avLst/>
          </a:prstGeom>
        </p:spPr>
      </p:pic>
      <p:sp>
        <p:nvSpPr>
          <p:cNvPr id="14" name="Text 9"/>
          <p:cNvSpPr txBox="1"/>
          <p:nvPr/>
        </p:nvSpPr>
        <p:spPr>
          <a:xfrm>
            <a:off x="5669280" y="4151376"/>
            <a:ext cx="3108960" cy="219456"/>
          </a:xfrm>
          <a:prstGeom prst="rect">
            <a:avLst/>
          </a:prstGeom>
          <a:noFill/>
          <a:ln/>
        </p:spPr>
        <p:txBody>
          <a:bodyPr wrap="square" lIns="0" tIns="0" rIns="0" bIns="0" rtlCol="0" anchor="ctr"/>
          <a:lstStyle/>
          <a:p>
            <a:pPr marL="0" indent="0" algn="ctr">
              <a:buNone/>
            </a:pPr>
            <a:r>
              <a:rPr lang="en-US" sz="950" b="1" dirty="0">
                <a:solidFill>
                  <a:srgbClr val="12356B"/>
                </a:solidFill>
              </a:rPr>
              <a:t>Home page</a:t>
            </a:r>
            <a:endParaRPr lang="en-US" sz="9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6" name="Shape 4"/>
          <p:cNvSpPr/>
          <p:nvPr/>
        </p:nvSpPr>
        <p:spPr>
          <a:xfrm>
            <a:off x="338328" y="1381726"/>
            <a:ext cx="5175504" cy="2448628"/>
          </a:xfrm>
          <a:prstGeom prst="rect">
            <a:avLst/>
          </a:prstGeom>
          <a:solidFill>
            <a:srgbClr val="FFFFFF"/>
          </a:solidFill>
          <a:ln w="12700">
            <a:solidFill>
              <a:srgbClr val="D3E0F2"/>
            </a:solidFill>
            <a:prstDash val="solid"/>
          </a:ln>
        </p:spPr>
      </p:sp>
      <p:pic>
        <p:nvPicPr>
          <p:cNvPr id="7" name="Image 0" descr="User dashboard"/>
          <p:cNvPicPr>
            <a:picLocks noChangeAspect="1"/>
          </p:cNvPicPr>
          <p:nvPr/>
        </p:nvPicPr>
        <p:blipFill>
          <a:blip r:embed="rId3"/>
          <a:stretch>
            <a:fillRect/>
          </a:stretch>
        </p:blipFill>
        <p:spPr>
          <a:xfrm>
            <a:off x="365760" y="1409158"/>
            <a:ext cx="5120640" cy="2393764"/>
          </a:xfrm>
          <a:prstGeom prst="rect">
            <a:avLst/>
          </a:prstGeom>
        </p:spPr>
      </p:pic>
      <p:sp>
        <p:nvSpPr>
          <p:cNvPr id="8" name="Text 5"/>
          <p:cNvSpPr txBox="1"/>
          <p:nvPr/>
        </p:nvSpPr>
        <p:spPr>
          <a:xfrm>
            <a:off x="365760" y="4197096"/>
            <a:ext cx="5120640" cy="219456"/>
          </a:xfrm>
          <a:prstGeom prst="rect">
            <a:avLst/>
          </a:prstGeom>
          <a:noFill/>
          <a:ln/>
        </p:spPr>
        <p:txBody>
          <a:bodyPr wrap="square" lIns="0" tIns="0" rIns="0" bIns="0" rtlCol="0" anchor="ctr"/>
          <a:lstStyle/>
          <a:p>
            <a:pPr marL="0" indent="0" algn="ctr">
              <a:buNone/>
            </a:pPr>
            <a:r>
              <a:rPr lang="en-US" sz="950" b="1" dirty="0">
                <a:solidFill>
                  <a:srgbClr val="12356B"/>
                </a:solidFill>
              </a:rPr>
              <a:t>User dashboard</a:t>
            </a:r>
            <a:endParaRPr lang="en-US" sz="950" dirty="0"/>
          </a:p>
        </p:txBody>
      </p:sp>
      <p:sp>
        <p:nvSpPr>
          <p:cNvPr id="9" name="Shape 6"/>
          <p:cNvSpPr/>
          <p:nvPr/>
        </p:nvSpPr>
        <p:spPr>
          <a:xfrm>
            <a:off x="5733067" y="1024128"/>
            <a:ext cx="2981386" cy="1426464"/>
          </a:xfrm>
          <a:prstGeom prst="rect">
            <a:avLst/>
          </a:prstGeom>
          <a:solidFill>
            <a:srgbClr val="FFFFFF"/>
          </a:solidFill>
          <a:ln w="12700">
            <a:solidFill>
              <a:srgbClr val="D3E0F2"/>
            </a:solidFill>
            <a:prstDash val="solid"/>
          </a:ln>
        </p:spPr>
      </p:sp>
      <p:pic>
        <p:nvPicPr>
          <p:cNvPr id="10" name="Image 1" descr="Medicine search / catalogue"/>
          <p:cNvPicPr>
            <a:picLocks noChangeAspect="1"/>
          </p:cNvPicPr>
          <p:nvPr/>
        </p:nvPicPr>
        <p:blipFill>
          <a:blip r:embed="rId4"/>
          <a:stretch>
            <a:fillRect/>
          </a:stretch>
        </p:blipFill>
        <p:spPr>
          <a:xfrm>
            <a:off x="5760499" y="1051560"/>
            <a:ext cx="2926522" cy="1371600"/>
          </a:xfrm>
          <a:prstGeom prst="rect">
            <a:avLst/>
          </a:prstGeom>
        </p:spPr>
      </p:pic>
      <p:sp>
        <p:nvSpPr>
          <p:cNvPr id="11" name="Text 7"/>
          <p:cNvSpPr txBox="1"/>
          <p:nvPr/>
        </p:nvSpPr>
        <p:spPr>
          <a:xfrm>
            <a:off x="5669280" y="2459736"/>
            <a:ext cx="3108960" cy="219456"/>
          </a:xfrm>
          <a:prstGeom prst="rect">
            <a:avLst/>
          </a:prstGeom>
          <a:noFill/>
          <a:ln/>
        </p:spPr>
        <p:txBody>
          <a:bodyPr wrap="square" lIns="0" tIns="0" rIns="0" bIns="0" rtlCol="0" anchor="ctr"/>
          <a:lstStyle/>
          <a:p>
            <a:pPr marL="0" indent="0" algn="ctr">
              <a:buNone/>
            </a:pPr>
            <a:r>
              <a:rPr lang="en-US" sz="950" b="1" dirty="0">
                <a:solidFill>
                  <a:srgbClr val="12356B"/>
                </a:solidFill>
              </a:rPr>
              <a:t>Medicine search / catalogue</a:t>
            </a:r>
            <a:endParaRPr lang="en-US" sz="950" dirty="0"/>
          </a:p>
        </p:txBody>
      </p:sp>
      <p:sp>
        <p:nvSpPr>
          <p:cNvPr id="12" name="Shape 8"/>
          <p:cNvSpPr/>
          <p:nvPr/>
        </p:nvSpPr>
        <p:spPr>
          <a:xfrm>
            <a:off x="5779140" y="2715768"/>
            <a:ext cx="2889240" cy="1426464"/>
          </a:xfrm>
          <a:prstGeom prst="rect">
            <a:avLst/>
          </a:prstGeom>
          <a:solidFill>
            <a:srgbClr val="FFFFFF"/>
          </a:solidFill>
          <a:ln w="12700">
            <a:solidFill>
              <a:srgbClr val="D3E0F2"/>
            </a:solidFill>
            <a:prstDash val="solid"/>
          </a:ln>
        </p:spPr>
      </p:sp>
      <p:pic>
        <p:nvPicPr>
          <p:cNvPr id="13" name="Image 2" descr="Prescription upload"/>
          <p:cNvPicPr>
            <a:picLocks noChangeAspect="1"/>
          </p:cNvPicPr>
          <p:nvPr/>
        </p:nvPicPr>
        <p:blipFill>
          <a:blip r:embed="rId5"/>
          <a:stretch>
            <a:fillRect/>
          </a:stretch>
        </p:blipFill>
        <p:spPr>
          <a:xfrm>
            <a:off x="5806572" y="2743200"/>
            <a:ext cx="2834376" cy="1371600"/>
          </a:xfrm>
          <a:prstGeom prst="rect">
            <a:avLst/>
          </a:prstGeom>
        </p:spPr>
      </p:pic>
      <p:sp>
        <p:nvSpPr>
          <p:cNvPr id="14" name="Text 9"/>
          <p:cNvSpPr txBox="1"/>
          <p:nvPr/>
        </p:nvSpPr>
        <p:spPr>
          <a:xfrm>
            <a:off x="5669280" y="4151376"/>
            <a:ext cx="3108960" cy="219456"/>
          </a:xfrm>
          <a:prstGeom prst="rect">
            <a:avLst/>
          </a:prstGeom>
          <a:noFill/>
          <a:ln/>
        </p:spPr>
        <p:txBody>
          <a:bodyPr wrap="square" lIns="0" tIns="0" rIns="0" bIns="0" rtlCol="0" anchor="ctr"/>
          <a:lstStyle/>
          <a:p>
            <a:pPr marL="0" indent="0" algn="ctr">
              <a:buNone/>
            </a:pPr>
            <a:r>
              <a:rPr lang="en-US" sz="950" b="1" dirty="0">
                <a:solidFill>
                  <a:srgbClr val="12356B"/>
                </a:solidFill>
              </a:rPr>
              <a:t>Prescription upload</a:t>
            </a:r>
            <a:endParaRPr lang="en-US" sz="9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6" name="Shape 4"/>
          <p:cNvSpPr/>
          <p:nvPr/>
        </p:nvSpPr>
        <p:spPr>
          <a:xfrm>
            <a:off x="375490" y="1024128"/>
            <a:ext cx="5101181" cy="3163824"/>
          </a:xfrm>
          <a:prstGeom prst="rect">
            <a:avLst/>
          </a:prstGeom>
          <a:solidFill>
            <a:srgbClr val="FFFFFF"/>
          </a:solidFill>
          <a:ln w="12700">
            <a:solidFill>
              <a:srgbClr val="D3E0F2"/>
            </a:solidFill>
            <a:prstDash val="solid"/>
          </a:ln>
        </p:spPr>
      </p:sp>
      <p:pic>
        <p:nvPicPr>
          <p:cNvPr id="7" name="Image 0" descr="AI assistant (chatbot)"/>
          <p:cNvPicPr>
            <a:picLocks noChangeAspect="1"/>
          </p:cNvPicPr>
          <p:nvPr/>
        </p:nvPicPr>
        <p:blipFill>
          <a:blip r:embed="rId3"/>
          <a:stretch>
            <a:fillRect/>
          </a:stretch>
        </p:blipFill>
        <p:spPr>
          <a:xfrm>
            <a:off x="402922" y="1051560"/>
            <a:ext cx="5046317" cy="3108960"/>
          </a:xfrm>
          <a:prstGeom prst="rect">
            <a:avLst/>
          </a:prstGeom>
        </p:spPr>
      </p:pic>
      <p:sp>
        <p:nvSpPr>
          <p:cNvPr id="8" name="Text 5"/>
          <p:cNvSpPr txBox="1"/>
          <p:nvPr/>
        </p:nvSpPr>
        <p:spPr>
          <a:xfrm>
            <a:off x="365760" y="4197096"/>
            <a:ext cx="5120640" cy="219456"/>
          </a:xfrm>
          <a:prstGeom prst="rect">
            <a:avLst/>
          </a:prstGeom>
          <a:noFill/>
          <a:ln/>
        </p:spPr>
        <p:txBody>
          <a:bodyPr wrap="square" lIns="0" tIns="0" rIns="0" bIns="0" rtlCol="0" anchor="ctr"/>
          <a:lstStyle/>
          <a:p>
            <a:pPr marL="0" indent="0" algn="ctr">
              <a:buNone/>
            </a:pPr>
            <a:r>
              <a:rPr lang="en-US" sz="950" b="1" dirty="0">
                <a:solidFill>
                  <a:srgbClr val="12356B"/>
                </a:solidFill>
              </a:rPr>
              <a:t>AI assistant (chatbot)</a:t>
            </a:r>
            <a:endParaRPr lang="en-US" sz="950" dirty="0"/>
          </a:p>
        </p:txBody>
      </p:sp>
      <p:sp>
        <p:nvSpPr>
          <p:cNvPr id="9" name="Shape 6"/>
          <p:cNvSpPr/>
          <p:nvPr/>
        </p:nvSpPr>
        <p:spPr>
          <a:xfrm>
            <a:off x="5641848" y="1152750"/>
            <a:ext cx="3163824" cy="1169220"/>
          </a:xfrm>
          <a:prstGeom prst="rect">
            <a:avLst/>
          </a:prstGeom>
          <a:solidFill>
            <a:srgbClr val="FFFFFF"/>
          </a:solidFill>
          <a:ln w="12700">
            <a:solidFill>
              <a:srgbClr val="D3E0F2"/>
            </a:solidFill>
            <a:prstDash val="solid"/>
          </a:ln>
        </p:spPr>
      </p:sp>
      <p:pic>
        <p:nvPicPr>
          <p:cNvPr id="10" name="Image 1" descr="Stock management"/>
          <p:cNvPicPr>
            <a:picLocks noChangeAspect="1"/>
          </p:cNvPicPr>
          <p:nvPr/>
        </p:nvPicPr>
        <p:blipFill>
          <a:blip r:embed="rId4"/>
          <a:stretch>
            <a:fillRect/>
          </a:stretch>
        </p:blipFill>
        <p:spPr>
          <a:xfrm>
            <a:off x="5669280" y="1180182"/>
            <a:ext cx="3108960" cy="1114356"/>
          </a:xfrm>
          <a:prstGeom prst="rect">
            <a:avLst/>
          </a:prstGeom>
        </p:spPr>
      </p:pic>
      <p:sp>
        <p:nvSpPr>
          <p:cNvPr id="11" name="Text 7"/>
          <p:cNvSpPr txBox="1"/>
          <p:nvPr/>
        </p:nvSpPr>
        <p:spPr>
          <a:xfrm>
            <a:off x="5669280" y="2459736"/>
            <a:ext cx="3108960" cy="219456"/>
          </a:xfrm>
          <a:prstGeom prst="rect">
            <a:avLst/>
          </a:prstGeom>
          <a:noFill/>
          <a:ln/>
        </p:spPr>
        <p:txBody>
          <a:bodyPr wrap="square" lIns="0" tIns="0" rIns="0" bIns="0" rtlCol="0" anchor="ctr"/>
          <a:lstStyle/>
          <a:p>
            <a:pPr marL="0" indent="0" algn="ctr">
              <a:buNone/>
            </a:pPr>
            <a:r>
              <a:rPr lang="en-US" sz="950" b="1" dirty="0">
                <a:solidFill>
                  <a:srgbClr val="12356B"/>
                </a:solidFill>
              </a:rPr>
              <a:t>Stock management</a:t>
            </a:r>
            <a:endParaRPr lang="en-US" sz="950" dirty="0"/>
          </a:p>
        </p:txBody>
      </p:sp>
      <p:pic>
        <p:nvPicPr>
          <p:cNvPr id="13" name="Image 2" descr="3D expiry timeline"/>
          <p:cNvPicPr>
            <a:picLocks noChangeAspect="1"/>
          </p:cNvPicPr>
          <p:nvPr/>
        </p:nvPicPr>
        <p:blipFill>
          <a:blip r:embed="rId5"/>
          <a:srcRect t="20193"/>
          <a:stretch>
            <a:fillRect/>
          </a:stretch>
        </p:blipFill>
        <p:spPr>
          <a:xfrm>
            <a:off x="5669281" y="2486562"/>
            <a:ext cx="3215504" cy="1710534"/>
          </a:xfrm>
          <a:prstGeom prst="rect">
            <a:avLst/>
          </a:prstGeom>
        </p:spPr>
      </p:pic>
      <p:sp>
        <p:nvSpPr>
          <p:cNvPr id="14" name="Text 9"/>
          <p:cNvSpPr txBox="1"/>
          <p:nvPr/>
        </p:nvSpPr>
        <p:spPr>
          <a:xfrm>
            <a:off x="5669280" y="4151376"/>
            <a:ext cx="3108960" cy="219456"/>
          </a:xfrm>
          <a:prstGeom prst="rect">
            <a:avLst/>
          </a:prstGeom>
          <a:noFill/>
          <a:ln/>
        </p:spPr>
        <p:txBody>
          <a:bodyPr wrap="square" lIns="0" tIns="0" rIns="0" bIns="0" rtlCol="0" anchor="ctr"/>
          <a:lstStyle/>
          <a:p>
            <a:pPr marL="0" indent="0" algn="ctr">
              <a:buNone/>
            </a:pPr>
            <a:r>
              <a:rPr lang="en-US" sz="950" b="1" dirty="0">
                <a:solidFill>
                  <a:srgbClr val="12356B"/>
                </a:solidFill>
              </a:rPr>
              <a:t>3D expiry timeline</a:t>
            </a:r>
            <a:endParaRPr lang="en-US" sz="9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Comparison with Existing System</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925148220"/>
              </p:ext>
            </p:extLst>
          </p:nvPr>
        </p:nvGraphicFramePr>
        <p:xfrm>
          <a:off x="320040" y="1074420"/>
          <a:ext cx="8229600" cy="3204970"/>
        </p:xfrm>
        <a:graphic>
          <a:graphicData uri="http://schemas.openxmlformats.org/drawingml/2006/table">
            <a:tbl>
              <a:tblPr/>
              <a:tblGrid>
                <a:gridCol w="19202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20497">
                <a:tc>
                  <a:txBody>
                    <a:bodyPr/>
                    <a:lstStyle/>
                    <a:p>
                      <a:pPr marL="0" indent="0">
                        <a:buNone/>
                      </a:pPr>
                      <a:r>
                        <a:rPr lang="en-US" sz="950" b="1" dirty="0">
                          <a:solidFill>
                            <a:srgbClr val="FFFFFF"/>
                          </a:solidFill>
                        </a:rPr>
                        <a:t>Feature</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950" b="1" dirty="0">
                          <a:solidFill>
                            <a:srgbClr val="FFFFFF"/>
                          </a:solidFill>
                        </a:rPr>
                        <a:t>Existing System</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950" b="1" dirty="0">
                          <a:solidFill>
                            <a:srgbClr val="FFFFFF"/>
                          </a:solidFill>
                        </a:rPr>
                        <a:t>MediSmart</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extLst>
                  <a:ext uri="{0D108BD9-81ED-4DB2-BD59-A6C34878D82A}">
                    <a16:rowId xmlns:a16="http://schemas.microsoft.com/office/drawing/2014/main" val="10000"/>
                  </a:ext>
                </a:extLst>
              </a:tr>
              <a:tr h="320497">
                <a:tc>
                  <a:txBody>
                    <a:bodyPr/>
                    <a:lstStyle/>
                    <a:p>
                      <a:pPr marL="0" indent="0">
                        <a:buNone/>
                      </a:pPr>
                      <a:r>
                        <a:rPr lang="en-US" sz="950" b="1" dirty="0">
                          <a:solidFill>
                            <a:srgbClr val="16253D"/>
                          </a:solidFill>
                        </a:rPr>
                        <a:t>Medicine search</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dirty="0">
                          <a:solidFill>
                            <a:srgbClr val="16253D"/>
                          </a:solidFill>
                        </a:rPr>
                        <a:t>Visit or call the pharmacy</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b="1" dirty="0">
                          <a:solidFill>
                            <a:srgbClr val="2E8B57"/>
                          </a:solidFill>
                        </a:rPr>
                        <a:t>Online search and category filter (tested)</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497">
                <a:tc>
                  <a:txBody>
                    <a:bodyPr/>
                    <a:lstStyle/>
                    <a:p>
                      <a:pPr marL="0" indent="0">
                        <a:buNone/>
                      </a:pPr>
                      <a:r>
                        <a:rPr lang="en-US" sz="950" b="1" dirty="0">
                          <a:solidFill>
                            <a:srgbClr val="16253D"/>
                          </a:solidFill>
                        </a:rPr>
                        <a:t>Prescription processing</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50" dirty="0">
                          <a:solidFill>
                            <a:srgbClr val="16253D"/>
                          </a:solidFill>
                        </a:rPr>
                        <a:t>Manual reading by pharmacist</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50" b="1" dirty="0">
                          <a:solidFill>
                            <a:srgbClr val="B26A00"/>
                          </a:solidFill>
                        </a:rPr>
                        <a:t>AI-assisted OCR + Gemini with admin review (preview level)</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2"/>
                  </a:ext>
                </a:extLst>
              </a:tr>
              <a:tr h="320497">
                <a:tc>
                  <a:txBody>
                    <a:bodyPr/>
                    <a:lstStyle/>
                    <a:p>
                      <a:pPr marL="0" indent="0">
                        <a:buNone/>
                      </a:pPr>
                      <a:r>
                        <a:rPr lang="en-US" sz="950" b="1" dirty="0">
                          <a:solidFill>
                            <a:srgbClr val="16253D"/>
                          </a:solidFill>
                        </a:rPr>
                        <a:t>Stock management</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dirty="0">
                          <a:solidFill>
                            <a:srgbClr val="16253D"/>
                          </a:solidFill>
                        </a:rPr>
                        <a:t>Paper registers / spreadsheets</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b="1" dirty="0">
                          <a:solidFill>
                            <a:srgbClr val="2E8B57"/>
                          </a:solidFill>
                        </a:rPr>
                        <a:t>Central database stock records</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497">
                <a:tc>
                  <a:txBody>
                    <a:bodyPr/>
                    <a:lstStyle/>
                    <a:p>
                      <a:pPr marL="0" indent="0">
                        <a:buNone/>
                      </a:pPr>
                      <a:r>
                        <a:rPr lang="en-US" sz="950" b="1" dirty="0">
                          <a:solidFill>
                            <a:srgbClr val="16253D"/>
                          </a:solidFill>
                        </a:rPr>
                        <a:t>Expiry tracking</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50" dirty="0">
                          <a:solidFill>
                            <a:srgbClr val="16253D"/>
                          </a:solidFill>
                        </a:rPr>
                        <a:t>Not tracked systematically</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50" b="1" dirty="0">
                          <a:solidFill>
                            <a:srgbClr val="2E8B57"/>
                          </a:solidFill>
                        </a:rPr>
                        <a:t>Expiry date stored; timeline view</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4"/>
                  </a:ext>
                </a:extLst>
              </a:tr>
              <a:tr h="320497">
                <a:tc>
                  <a:txBody>
                    <a:bodyPr/>
                    <a:lstStyle/>
                    <a:p>
                      <a:pPr marL="0" indent="0">
                        <a:buNone/>
                      </a:pPr>
                      <a:r>
                        <a:rPr lang="en-US" sz="950" b="1" dirty="0">
                          <a:solidFill>
                            <a:srgbClr val="16253D"/>
                          </a:solidFill>
                        </a:rPr>
                        <a:t>Online ordering</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dirty="0">
                          <a:solidFill>
                            <a:srgbClr val="16253D"/>
                          </a:solidFill>
                        </a:rPr>
                        <a:t>Customer visits pharmacy</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b="1" dirty="0">
                          <a:solidFill>
                            <a:srgbClr val="B26A00"/>
                          </a:solidFill>
                        </a:rPr>
                        <a:t>Cart, delivery / take-away (interface level)</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497">
                <a:tc>
                  <a:txBody>
                    <a:bodyPr/>
                    <a:lstStyle/>
                    <a:p>
                      <a:pPr marL="0" indent="0">
                        <a:buNone/>
                      </a:pPr>
                      <a:r>
                        <a:rPr lang="en-US" sz="950" b="1" dirty="0">
                          <a:solidFill>
                            <a:srgbClr val="16253D"/>
                          </a:solidFill>
                        </a:rPr>
                        <a:t>Order tracking</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50" dirty="0">
                          <a:solidFill>
                            <a:srgbClr val="16253D"/>
                          </a:solidFill>
                        </a:rPr>
                        <a:t>No online tracking</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50" b="1" dirty="0">
                          <a:solidFill>
                            <a:srgbClr val="B26A00"/>
                          </a:solidFill>
                        </a:rPr>
                        <a:t>Order status tracking (designed)</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6"/>
                  </a:ext>
                </a:extLst>
              </a:tr>
              <a:tr h="320497">
                <a:tc>
                  <a:txBody>
                    <a:bodyPr/>
                    <a:lstStyle/>
                    <a:p>
                      <a:pPr marL="0" indent="0">
                        <a:buNone/>
                      </a:pPr>
                      <a:r>
                        <a:rPr lang="en-US" sz="950" b="1" dirty="0">
                          <a:solidFill>
                            <a:srgbClr val="16253D"/>
                          </a:solidFill>
                        </a:rPr>
                        <a:t>Customer–pharmacy link</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dirty="0">
                          <a:solidFill>
                            <a:srgbClr val="16253D"/>
                          </a:solidFill>
                        </a:rPr>
                        <a:t>No direct online channel</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b="1" dirty="0">
                          <a:solidFill>
                            <a:srgbClr val="2E8B57"/>
                          </a:solidFill>
                        </a:rPr>
                        <a:t>Single web platform</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497">
                <a:tc>
                  <a:txBody>
                    <a:bodyPr/>
                    <a:lstStyle/>
                    <a:p>
                      <a:pPr marL="0" indent="0">
                        <a:buNone/>
                      </a:pPr>
                      <a:r>
                        <a:rPr lang="en-US" sz="950" b="1" dirty="0">
                          <a:solidFill>
                            <a:srgbClr val="16253D"/>
                          </a:solidFill>
                        </a:rPr>
                        <a:t>Chatbot assistance</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50" dirty="0">
                          <a:solidFill>
                            <a:srgbClr val="16253D"/>
                          </a:solidFill>
                        </a:rPr>
                        <a:t>None</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50" b="1" dirty="0">
                          <a:solidFill>
                            <a:srgbClr val="B26A00"/>
                          </a:solidFill>
                        </a:rPr>
                        <a:t>Rule-based chatbot (preview level)</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8"/>
                  </a:ext>
                </a:extLst>
              </a:tr>
              <a:tr h="320497">
                <a:tc>
                  <a:txBody>
                    <a:bodyPr/>
                    <a:lstStyle/>
                    <a:p>
                      <a:pPr marL="0" indent="0">
                        <a:buNone/>
                      </a:pPr>
                      <a:r>
                        <a:rPr lang="en-US" sz="950" b="1" dirty="0">
                          <a:solidFill>
                            <a:srgbClr val="16253D"/>
                          </a:solidFill>
                        </a:rPr>
                        <a:t>Admin management</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dirty="0">
                          <a:solidFill>
                            <a:srgbClr val="16253D"/>
                          </a:solidFill>
                        </a:rPr>
                        <a:t>Manual registers</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50" b="1" dirty="0">
                          <a:solidFill>
                            <a:srgbClr val="B26A00"/>
                          </a:solidFill>
                        </a:rPr>
                        <a:t>Admin dashboard (not independently verified)</a:t>
                      </a:r>
                      <a:endParaRPr lang="en-US" sz="95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Text 4"/>
          <p:cNvSpPr txBox="1"/>
          <p:nvPr/>
        </p:nvSpPr>
        <p:spPr>
          <a:xfrm>
            <a:off x="457200" y="4480560"/>
            <a:ext cx="8229600" cy="228600"/>
          </a:xfrm>
          <a:prstGeom prst="rect">
            <a:avLst/>
          </a:prstGeom>
          <a:noFill/>
          <a:ln/>
        </p:spPr>
        <p:txBody>
          <a:bodyPr wrap="square" lIns="0" tIns="0" rIns="0" bIns="0" rtlCol="0" anchor="ctr"/>
          <a:lstStyle/>
          <a:p>
            <a:pPr marL="0" indent="0">
              <a:buNone/>
            </a:pPr>
            <a:r>
              <a:rPr lang="en-US" sz="900" i="1" dirty="0">
                <a:solidFill>
                  <a:srgbClr val="BCD6FF"/>
                </a:solidFill>
              </a:rPr>
              <a:t>Green: verified at tested stage.  Amber: designed or interface-level; full integration pending.</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Testing</a:t>
            </a:r>
            <a:endParaRPr lang="en-US" sz="2400" dirty="0"/>
          </a:p>
        </p:txBody>
      </p:sp>
      <p:sp>
        <p:nvSpPr>
          <p:cNvPr id="6" name="Shape 4"/>
          <p:cNvSpPr/>
          <p:nvPr/>
        </p:nvSpPr>
        <p:spPr>
          <a:xfrm>
            <a:off x="457200" y="960120"/>
            <a:ext cx="2286000" cy="822960"/>
          </a:xfrm>
          <a:prstGeom prst="roundRect">
            <a:avLst>
              <a:gd name="adj" fmla="val 8889"/>
            </a:avLst>
          </a:prstGeom>
          <a:solidFill>
            <a:srgbClr val="EEF3FB"/>
          </a:solidFill>
          <a:ln w="12700">
            <a:solidFill>
              <a:srgbClr val="D3E0F2"/>
            </a:solidFill>
            <a:prstDash val="solid"/>
          </a:ln>
        </p:spPr>
      </p:sp>
      <p:sp>
        <p:nvSpPr>
          <p:cNvPr id="7" name="Text 5"/>
          <p:cNvSpPr txBox="1"/>
          <p:nvPr/>
        </p:nvSpPr>
        <p:spPr>
          <a:xfrm>
            <a:off x="594360" y="1033272"/>
            <a:ext cx="2011680" cy="310896"/>
          </a:xfrm>
          <a:prstGeom prst="rect">
            <a:avLst/>
          </a:prstGeom>
          <a:noFill/>
          <a:ln/>
        </p:spPr>
        <p:txBody>
          <a:bodyPr wrap="square" lIns="0" tIns="0" rIns="0" bIns="0" rtlCol="0" anchor="ctr"/>
          <a:lstStyle/>
          <a:p>
            <a:pPr marL="0" indent="0">
              <a:buNone/>
            </a:pPr>
            <a:r>
              <a:rPr lang="en-US" sz="1150" b="1" dirty="0">
                <a:solidFill>
                  <a:srgbClr val="1F6FD1"/>
                </a:solidFill>
              </a:rPr>
              <a:t>Functional testing</a:t>
            </a:r>
            <a:endParaRPr lang="en-US" sz="1150" dirty="0"/>
          </a:p>
        </p:txBody>
      </p:sp>
      <p:sp>
        <p:nvSpPr>
          <p:cNvPr id="8" name="Shape 6"/>
          <p:cNvSpPr/>
          <p:nvPr/>
        </p:nvSpPr>
        <p:spPr>
          <a:xfrm>
            <a:off x="457200" y="1874520"/>
            <a:ext cx="2286000" cy="822960"/>
          </a:xfrm>
          <a:prstGeom prst="roundRect">
            <a:avLst>
              <a:gd name="adj" fmla="val 8889"/>
            </a:avLst>
          </a:prstGeom>
          <a:solidFill>
            <a:srgbClr val="EEF3FB"/>
          </a:solidFill>
          <a:ln w="12700">
            <a:solidFill>
              <a:srgbClr val="D3E0F2"/>
            </a:solidFill>
            <a:prstDash val="solid"/>
          </a:ln>
        </p:spPr>
      </p:sp>
      <p:sp>
        <p:nvSpPr>
          <p:cNvPr id="9" name="Text 7"/>
          <p:cNvSpPr txBox="1"/>
          <p:nvPr/>
        </p:nvSpPr>
        <p:spPr>
          <a:xfrm>
            <a:off x="594360" y="1947672"/>
            <a:ext cx="2011680" cy="310896"/>
          </a:xfrm>
          <a:prstGeom prst="rect">
            <a:avLst/>
          </a:prstGeom>
          <a:noFill/>
          <a:ln/>
        </p:spPr>
        <p:txBody>
          <a:bodyPr wrap="square" lIns="0" tIns="0" rIns="0" bIns="0" rtlCol="0" anchor="ctr"/>
          <a:lstStyle/>
          <a:p>
            <a:pPr marL="0" indent="0">
              <a:buNone/>
            </a:pPr>
            <a:r>
              <a:rPr lang="en-US" sz="1150" b="1" dirty="0">
                <a:solidFill>
                  <a:srgbClr val="1F6FD1"/>
                </a:solidFill>
              </a:rPr>
              <a:t>Usability testing</a:t>
            </a:r>
            <a:endParaRPr lang="en-US" sz="1150" dirty="0"/>
          </a:p>
        </p:txBody>
      </p:sp>
      <p:sp>
        <p:nvSpPr>
          <p:cNvPr id="10" name="Shape 8"/>
          <p:cNvSpPr/>
          <p:nvPr/>
        </p:nvSpPr>
        <p:spPr>
          <a:xfrm>
            <a:off x="457200" y="2788920"/>
            <a:ext cx="2286000" cy="822960"/>
          </a:xfrm>
          <a:prstGeom prst="roundRect">
            <a:avLst>
              <a:gd name="adj" fmla="val 8889"/>
            </a:avLst>
          </a:prstGeom>
          <a:solidFill>
            <a:srgbClr val="EEF3FB"/>
          </a:solidFill>
          <a:ln w="12700">
            <a:solidFill>
              <a:srgbClr val="D3E0F2"/>
            </a:solidFill>
            <a:prstDash val="solid"/>
          </a:ln>
        </p:spPr>
      </p:sp>
      <p:sp>
        <p:nvSpPr>
          <p:cNvPr id="11" name="Text 9"/>
          <p:cNvSpPr txBox="1"/>
          <p:nvPr/>
        </p:nvSpPr>
        <p:spPr>
          <a:xfrm>
            <a:off x="594360" y="2862072"/>
            <a:ext cx="2011680" cy="310896"/>
          </a:xfrm>
          <a:prstGeom prst="rect">
            <a:avLst/>
          </a:prstGeom>
          <a:noFill/>
          <a:ln/>
        </p:spPr>
        <p:txBody>
          <a:bodyPr wrap="square" lIns="0" tIns="0" rIns="0" bIns="0" rtlCol="0" anchor="ctr"/>
          <a:lstStyle/>
          <a:p>
            <a:pPr marL="0" indent="0">
              <a:buNone/>
            </a:pPr>
            <a:r>
              <a:rPr lang="en-US" sz="1150" b="1" dirty="0">
                <a:solidFill>
                  <a:srgbClr val="1F6FD1"/>
                </a:solidFill>
              </a:rPr>
              <a:t>Integration-path testing</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926080" y="914400"/>
          <a:ext cx="5760720" cy="1892808"/>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0">
                <a:tc>
                  <a:txBody>
                    <a:bodyPr/>
                    <a:lstStyle/>
                    <a:p>
                      <a:pPr marL="0" indent="0">
                        <a:buNone/>
                      </a:pPr>
                      <a:r>
                        <a:rPr lang="en-US" sz="900" b="1" dirty="0">
                          <a:solidFill>
                            <a:srgbClr val="FFFFFF"/>
                          </a:solidFill>
                        </a:rPr>
                        <a:t>Test Case</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900" b="1" dirty="0">
                          <a:solidFill>
                            <a:srgbClr val="FFFFFF"/>
                          </a:solidFill>
                        </a:rPr>
                        <a:t>Expected Result</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900" b="1" dirty="0">
                          <a:solidFill>
                            <a:srgbClr val="FFFFFF"/>
                          </a:solidFill>
                        </a:rPr>
                        <a:t>Actual Result</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tc>
                  <a:txBody>
                    <a:bodyPr/>
                    <a:lstStyle/>
                    <a:p>
                      <a:pPr marL="0" indent="0">
                        <a:buNone/>
                      </a:pPr>
                      <a:r>
                        <a:rPr lang="en-US" sz="900" b="1" dirty="0">
                          <a:solidFill>
                            <a:srgbClr val="FFFFFF"/>
                          </a:solidFill>
                        </a:rPr>
                        <a:t>Status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1F6FD1"/>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16253D"/>
                          </a:solidFill>
                        </a:rPr>
                        <a:t>Registration (valid data)</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dirty="0">
                          <a:solidFill>
                            <a:srgbClr val="16253D"/>
                          </a:solidFill>
                        </a:rPr>
                        <a:t>Account created</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dirty="0">
                          <a:solidFill>
                            <a:srgbClr val="16253D"/>
                          </a:solidFill>
                        </a:rPr>
                        <a:t>Account creation flow worked</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b="1" dirty="0">
                          <a:solidFill>
                            <a:srgbClr val="2E8B57"/>
                          </a:solidFill>
                        </a:rPr>
                        <a:t>Pass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16253D"/>
                          </a:solidFill>
                        </a:rPr>
                        <a:t>Login (registered user)</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dirty="0">
                          <a:solidFill>
                            <a:srgbClr val="16253D"/>
                          </a:solidFill>
                        </a:rPr>
                        <a:t>Authentication succeeds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dirty="0">
                          <a:solidFill>
                            <a:srgbClr val="16253D"/>
                          </a:solidFill>
                        </a:rPr>
                        <a:t>Login worked</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b="1" dirty="0">
                          <a:solidFill>
                            <a:srgbClr val="2E8B57"/>
                          </a:solidFill>
                        </a:rPr>
                        <a:t>Pass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16253D"/>
                          </a:solidFill>
                        </a:rPr>
                        <a:t>Medicine search</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dirty="0">
                          <a:solidFill>
                            <a:srgbClr val="16253D"/>
                          </a:solidFill>
                        </a:rPr>
                        <a:t>Matching medicines listed</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dirty="0">
                          <a:solidFill>
                            <a:srgbClr val="16253D"/>
                          </a:solidFill>
                        </a:rPr>
                        <a:t>Expected results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b="1" dirty="0">
                          <a:solidFill>
                            <a:srgbClr val="2E8B57"/>
                          </a:solidFill>
                        </a:rPr>
                        <a:t>Pass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b="1" dirty="0">
                          <a:solidFill>
                            <a:srgbClr val="16253D"/>
                          </a:solidFill>
                        </a:rPr>
                        <a:t>Category filtering</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dirty="0">
                          <a:solidFill>
                            <a:srgbClr val="16253D"/>
                          </a:solidFill>
                        </a:rPr>
                        <a:t>Filtered catalogue</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dirty="0">
                          <a:solidFill>
                            <a:srgbClr val="16253D"/>
                          </a:solidFill>
                        </a:rPr>
                        <a:t>Expected results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b="1" dirty="0">
                          <a:solidFill>
                            <a:srgbClr val="2E8B57"/>
                          </a:solidFill>
                        </a:rPr>
                        <a:t>Pass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4"/>
                  </a:ext>
                </a:extLst>
              </a:tr>
              <a:tr h="0">
                <a:tc>
                  <a:txBody>
                    <a:bodyPr/>
                    <a:lstStyle/>
                    <a:p>
                      <a:pPr marL="0" indent="0">
                        <a:buNone/>
                      </a:pPr>
                      <a:r>
                        <a:rPr lang="en-US" sz="900" b="1" dirty="0">
                          <a:solidFill>
                            <a:srgbClr val="16253D"/>
                          </a:solidFill>
                        </a:rPr>
                        <a:t>Prescription upload</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dirty="0">
                          <a:solidFill>
                            <a:srgbClr val="16253D"/>
                          </a:solidFill>
                        </a:rPr>
                        <a:t>Upload and display</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dirty="0">
                          <a:solidFill>
                            <a:srgbClr val="16253D"/>
                          </a:solidFill>
                        </a:rPr>
                        <a:t>Works at UI level</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b="1" dirty="0">
                          <a:solidFill>
                            <a:srgbClr val="B26A00"/>
                          </a:solidFill>
                        </a:rPr>
                        <a:t>Interface-level</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00" b="1" dirty="0">
                          <a:solidFill>
                            <a:srgbClr val="16253D"/>
                          </a:solidFill>
                        </a:rPr>
                        <a:t>Chatbot</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dirty="0">
                          <a:solidFill>
                            <a:srgbClr val="16253D"/>
                          </a:solidFill>
                        </a:rPr>
                        <a:t>Answers common queries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dirty="0">
                          <a:solidFill>
                            <a:srgbClr val="16253D"/>
                          </a:solidFill>
                        </a:rPr>
                        <a:t>Preview / quick replies</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b="1" dirty="0">
                          <a:solidFill>
                            <a:srgbClr val="B26A00"/>
                          </a:solidFill>
                        </a:rPr>
                        <a:t>Interface-level</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6"/>
                  </a:ext>
                </a:extLst>
              </a:tr>
              <a:tr h="0">
                <a:tc>
                  <a:txBody>
                    <a:bodyPr/>
                    <a:lstStyle/>
                    <a:p>
                      <a:pPr marL="0" indent="0">
                        <a:buNone/>
                      </a:pPr>
                      <a:r>
                        <a:rPr lang="en-US" sz="900" b="1" dirty="0">
                          <a:solidFill>
                            <a:srgbClr val="16253D"/>
                          </a:solidFill>
                        </a:rPr>
                        <a:t>AI verification (live)</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dirty="0">
                          <a:solidFill>
                            <a:srgbClr val="16253D"/>
                          </a:solidFill>
                        </a:rPr>
                        <a:t>OCR + Gemini result</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dirty="0">
                          <a:solidFill>
                            <a:srgbClr val="16253D"/>
                          </a:solidFill>
                        </a:rPr>
                        <a:t>Simulated response only</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tc>
                  <a:txBody>
                    <a:bodyPr/>
                    <a:lstStyle/>
                    <a:p>
                      <a:pPr marL="0" indent="0">
                        <a:buNone/>
                      </a:pPr>
                      <a:r>
                        <a:rPr lang="en-US" sz="900" b="1" dirty="0">
                          <a:solidFill>
                            <a:srgbClr val="E4572E"/>
                          </a:solidFill>
                        </a:rPr>
                        <a:t>Not tested</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900" b="1" dirty="0">
                          <a:solidFill>
                            <a:srgbClr val="16253D"/>
                          </a:solidFill>
                        </a:rPr>
                        <a:t>Admin functions, live payment</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dirty="0">
                          <a:solidFill>
                            <a:srgbClr val="16253D"/>
                          </a:solidFill>
                        </a:rPr>
                        <a:t>Work end to end</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dirty="0">
                          <a:solidFill>
                            <a:srgbClr val="16253D"/>
                          </a:solidFill>
                        </a:rPr>
                        <a:t>Not independently verified</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tc>
                  <a:txBody>
                    <a:bodyPr/>
                    <a:lstStyle/>
                    <a:p>
                      <a:pPr marL="0" indent="0">
                        <a:buNone/>
                      </a:pPr>
                      <a:r>
                        <a:rPr lang="en-US" sz="900" b="1" dirty="0">
                          <a:solidFill>
                            <a:srgbClr val="E4572E"/>
                          </a:solidFill>
                        </a:rPr>
                        <a:t>Not tested</a:t>
                      </a:r>
                      <a:endParaRPr lang="en-US" sz="900" dirty="0"/>
                    </a:p>
                  </a:txBody>
                  <a:tcPr marL="64008" marR="64008" marT="36576" marB="36576" anchor="ctr">
                    <a:lnL w="9525" cap="flat" cmpd="sng" algn="ctr">
                      <a:solidFill>
                        <a:srgbClr val="D3E0F2"/>
                      </a:solidFill>
                      <a:prstDash val="solid"/>
                      <a:round/>
                      <a:headEnd type="none" w="med" len="med"/>
                      <a:tailEnd type="none" w="med" len="med"/>
                    </a:lnL>
                    <a:lnR w="9525" cap="flat" cmpd="sng" algn="ctr">
                      <a:solidFill>
                        <a:srgbClr val="D3E0F2"/>
                      </a:solidFill>
                      <a:prstDash val="solid"/>
                      <a:round/>
                      <a:headEnd type="none" w="med" len="med"/>
                      <a:tailEnd type="none" w="med" len="med"/>
                    </a:lnR>
                    <a:lnT w="9525" cap="flat" cmpd="sng" algn="ctr">
                      <a:solidFill>
                        <a:srgbClr val="D3E0F2"/>
                      </a:solidFill>
                      <a:prstDash val="solid"/>
                      <a:round/>
                      <a:headEnd type="none" w="med" len="med"/>
                      <a:tailEnd type="none" w="med" len="med"/>
                    </a:lnT>
                    <a:lnB w="9525" cap="flat" cmpd="sng" algn="ctr">
                      <a:solidFill>
                        <a:srgbClr val="D3E0F2"/>
                      </a:solidFill>
                      <a:prstDash val="solid"/>
                      <a:round/>
                      <a:headEnd type="none" w="med" len="med"/>
                      <a:tailEnd type="none" w="med" len="med"/>
                    </a:lnB>
                    <a:solidFill>
                      <a:srgbClr val="EEF3FB"/>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Demo Video</a:t>
            </a:r>
            <a:endParaRPr lang="en-US" sz="2400" dirty="0"/>
          </a:p>
        </p:txBody>
      </p:sp>
      <p:sp>
        <p:nvSpPr>
          <p:cNvPr id="10" name="Shape 8"/>
          <p:cNvSpPr/>
          <p:nvPr/>
        </p:nvSpPr>
        <p:spPr>
          <a:xfrm>
            <a:off x="5760720" y="960120"/>
            <a:ext cx="2926080" cy="3291840"/>
          </a:xfrm>
          <a:prstGeom prst="roundRect">
            <a:avLst>
              <a:gd name="adj" fmla="val 2500"/>
            </a:avLst>
          </a:prstGeom>
          <a:solidFill>
            <a:srgbClr val="FFFFFF"/>
          </a:solidFill>
          <a:ln w="12700">
            <a:solidFill>
              <a:srgbClr val="D3E0F2"/>
            </a:solidFill>
            <a:prstDash val="solid"/>
          </a:ln>
        </p:spPr>
      </p:sp>
      <p:sp>
        <p:nvSpPr>
          <p:cNvPr id="11" name="Text 9"/>
          <p:cNvSpPr txBox="1"/>
          <p:nvPr/>
        </p:nvSpPr>
        <p:spPr>
          <a:xfrm>
            <a:off x="5897880" y="1033272"/>
            <a:ext cx="2651760" cy="310896"/>
          </a:xfrm>
          <a:prstGeom prst="rect">
            <a:avLst/>
          </a:prstGeom>
          <a:noFill/>
          <a:ln/>
        </p:spPr>
        <p:txBody>
          <a:bodyPr wrap="square" lIns="0" tIns="0" rIns="0" bIns="0" rtlCol="0" anchor="ctr"/>
          <a:lstStyle/>
          <a:p>
            <a:pPr marL="0" indent="0">
              <a:buNone/>
            </a:pPr>
            <a:r>
              <a:rPr lang="en-US" sz="1250" b="1" dirty="0">
                <a:solidFill>
                  <a:srgbClr val="1F6FD1"/>
                </a:solidFill>
              </a:rPr>
              <a:t>Suggested demo flow</a:t>
            </a:r>
            <a:endParaRPr lang="en-US" sz="1250" dirty="0"/>
          </a:p>
        </p:txBody>
      </p:sp>
      <p:sp>
        <p:nvSpPr>
          <p:cNvPr id="12" name="Text 10"/>
          <p:cNvSpPr txBox="1"/>
          <p:nvPr/>
        </p:nvSpPr>
        <p:spPr>
          <a:xfrm>
            <a:off x="5897880" y="1362456"/>
            <a:ext cx="2651760" cy="2834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6253D"/>
                </a:solidFill>
              </a:rPr>
              <a:t>Registration and login</a:t>
            </a:r>
            <a:endParaRPr lang="en-US" sz="1150" dirty="0"/>
          </a:p>
          <a:p>
            <a:pPr marL="342900" indent="-342900">
              <a:spcAft>
                <a:spcPts val="300"/>
              </a:spcAft>
              <a:buSzPct val="100000"/>
              <a:buChar char="•"/>
            </a:pPr>
            <a:r>
              <a:rPr lang="en-US" sz="1150" dirty="0">
                <a:solidFill>
                  <a:srgbClr val="16253D"/>
                </a:solidFill>
              </a:rPr>
              <a:t>Medicine search and filter</a:t>
            </a:r>
            <a:endParaRPr lang="en-US" sz="1150" dirty="0"/>
          </a:p>
          <a:p>
            <a:pPr marL="342900" indent="-342900">
              <a:spcAft>
                <a:spcPts val="300"/>
              </a:spcAft>
              <a:buSzPct val="100000"/>
              <a:buChar char="•"/>
            </a:pPr>
            <a:r>
              <a:rPr lang="en-US" sz="1150" dirty="0">
                <a:solidFill>
                  <a:srgbClr val="16253D"/>
                </a:solidFill>
              </a:rPr>
              <a:t>Prescription upload</a:t>
            </a:r>
            <a:endParaRPr lang="en-US" sz="1150" dirty="0"/>
          </a:p>
          <a:p>
            <a:pPr marL="342900" indent="-342900">
              <a:spcAft>
                <a:spcPts val="300"/>
              </a:spcAft>
              <a:buSzPct val="100000"/>
              <a:buChar char="•"/>
            </a:pPr>
            <a:r>
              <a:rPr lang="en-US" sz="1150" dirty="0">
                <a:solidFill>
                  <a:srgbClr val="16253D"/>
                </a:solidFill>
              </a:rPr>
              <a:t>Chatbot</a:t>
            </a:r>
            <a:endParaRPr lang="en-US" sz="1150" dirty="0"/>
          </a:p>
          <a:p>
            <a:pPr marL="342900" indent="-342900">
              <a:spcAft>
                <a:spcPts val="300"/>
              </a:spcAft>
              <a:buSzPct val="100000"/>
              <a:buChar char="•"/>
            </a:pPr>
            <a:r>
              <a:rPr lang="en-US" sz="1150" dirty="0">
                <a:solidFill>
                  <a:srgbClr val="16253D"/>
                </a:solidFill>
              </a:rPr>
              <a:t>Stock and expiry view</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Advantages</a:t>
            </a:r>
            <a:endParaRPr lang="en-US" sz="2400" dirty="0"/>
          </a:p>
        </p:txBody>
      </p:sp>
      <p:sp>
        <p:nvSpPr>
          <p:cNvPr id="6" name="Shape 4"/>
          <p:cNvSpPr/>
          <p:nvPr/>
        </p:nvSpPr>
        <p:spPr>
          <a:xfrm>
            <a:off x="457200" y="914400"/>
            <a:ext cx="4023360" cy="850392"/>
          </a:xfrm>
          <a:prstGeom prst="roundRect">
            <a:avLst>
              <a:gd name="adj" fmla="val 8602"/>
            </a:avLst>
          </a:prstGeom>
          <a:solidFill>
            <a:srgbClr val="FFFFFF"/>
          </a:solidFill>
          <a:ln w="12700">
            <a:solidFill>
              <a:srgbClr val="D3E0F2"/>
            </a:solidFill>
            <a:prstDash val="solid"/>
          </a:ln>
        </p:spPr>
      </p:sp>
      <p:sp>
        <p:nvSpPr>
          <p:cNvPr id="7" name="Text 5"/>
          <p:cNvSpPr txBox="1"/>
          <p:nvPr/>
        </p:nvSpPr>
        <p:spPr>
          <a:xfrm>
            <a:off x="594360" y="987552"/>
            <a:ext cx="3749040" cy="310896"/>
          </a:xfrm>
          <a:prstGeom prst="rect">
            <a:avLst/>
          </a:prstGeom>
          <a:noFill/>
          <a:ln/>
        </p:spPr>
        <p:txBody>
          <a:bodyPr wrap="square" lIns="0" tIns="0" rIns="0" bIns="0" rtlCol="0" anchor="ctr"/>
          <a:lstStyle/>
          <a:p>
            <a:pPr marL="0" indent="0">
              <a:buNone/>
            </a:pPr>
            <a:r>
              <a:rPr lang="en-US" sz="1200" b="1" dirty="0">
                <a:solidFill>
                  <a:srgbClr val="1F6FD1"/>
                </a:solidFill>
              </a:rPr>
              <a:t>Single platform</a:t>
            </a:r>
            <a:endParaRPr lang="en-US" sz="1200" dirty="0"/>
          </a:p>
        </p:txBody>
      </p:sp>
      <p:sp>
        <p:nvSpPr>
          <p:cNvPr id="8" name="Text 6"/>
          <p:cNvSpPr txBox="1"/>
          <p:nvPr/>
        </p:nvSpPr>
        <p:spPr>
          <a:xfrm>
            <a:off x="594360" y="1316736"/>
            <a:ext cx="3749040" cy="393192"/>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Customers and pharmacy on one system</a:t>
            </a:r>
            <a:endParaRPr lang="en-US" sz="1050" dirty="0"/>
          </a:p>
        </p:txBody>
      </p:sp>
      <p:sp>
        <p:nvSpPr>
          <p:cNvPr id="9" name="Shape 7"/>
          <p:cNvSpPr/>
          <p:nvPr/>
        </p:nvSpPr>
        <p:spPr>
          <a:xfrm>
            <a:off x="4663440" y="914400"/>
            <a:ext cx="4023360" cy="850392"/>
          </a:xfrm>
          <a:prstGeom prst="roundRect">
            <a:avLst>
              <a:gd name="adj" fmla="val 8602"/>
            </a:avLst>
          </a:prstGeom>
          <a:solidFill>
            <a:srgbClr val="FFFFFF"/>
          </a:solidFill>
          <a:ln w="12700">
            <a:solidFill>
              <a:srgbClr val="D3E0F2"/>
            </a:solidFill>
            <a:prstDash val="solid"/>
          </a:ln>
        </p:spPr>
      </p:sp>
      <p:sp>
        <p:nvSpPr>
          <p:cNvPr id="10" name="Text 8"/>
          <p:cNvSpPr txBox="1"/>
          <p:nvPr/>
        </p:nvSpPr>
        <p:spPr>
          <a:xfrm>
            <a:off x="4800600" y="987552"/>
            <a:ext cx="3749040" cy="310896"/>
          </a:xfrm>
          <a:prstGeom prst="rect">
            <a:avLst/>
          </a:prstGeom>
          <a:noFill/>
          <a:ln/>
        </p:spPr>
        <p:txBody>
          <a:bodyPr wrap="square" lIns="0" tIns="0" rIns="0" bIns="0" rtlCol="0" anchor="ctr"/>
          <a:lstStyle/>
          <a:p>
            <a:pPr marL="0" indent="0">
              <a:buNone/>
            </a:pPr>
            <a:r>
              <a:rPr lang="en-US" sz="1200" b="1" dirty="0">
                <a:solidFill>
                  <a:srgbClr val="1F6FD1"/>
                </a:solidFill>
              </a:rPr>
              <a:t>Online availability</a:t>
            </a:r>
            <a:endParaRPr lang="en-US" sz="1200" dirty="0"/>
          </a:p>
        </p:txBody>
      </p:sp>
      <p:sp>
        <p:nvSpPr>
          <p:cNvPr id="11" name="Text 9"/>
          <p:cNvSpPr txBox="1"/>
          <p:nvPr/>
        </p:nvSpPr>
        <p:spPr>
          <a:xfrm>
            <a:off x="4800600" y="1316736"/>
            <a:ext cx="3749040" cy="393192"/>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Search medicines without visiting</a:t>
            </a:r>
            <a:endParaRPr lang="en-US" sz="1050" dirty="0"/>
          </a:p>
        </p:txBody>
      </p:sp>
      <p:sp>
        <p:nvSpPr>
          <p:cNvPr id="12" name="Shape 10"/>
          <p:cNvSpPr/>
          <p:nvPr/>
        </p:nvSpPr>
        <p:spPr>
          <a:xfrm>
            <a:off x="457200" y="1856232"/>
            <a:ext cx="4023360" cy="850392"/>
          </a:xfrm>
          <a:prstGeom prst="roundRect">
            <a:avLst>
              <a:gd name="adj" fmla="val 8602"/>
            </a:avLst>
          </a:prstGeom>
          <a:solidFill>
            <a:srgbClr val="FFFFFF"/>
          </a:solidFill>
          <a:ln w="12700">
            <a:solidFill>
              <a:srgbClr val="D3E0F2"/>
            </a:solidFill>
            <a:prstDash val="solid"/>
          </a:ln>
        </p:spPr>
      </p:sp>
      <p:sp>
        <p:nvSpPr>
          <p:cNvPr id="13" name="Text 11"/>
          <p:cNvSpPr txBox="1"/>
          <p:nvPr/>
        </p:nvSpPr>
        <p:spPr>
          <a:xfrm>
            <a:off x="594360" y="1929384"/>
            <a:ext cx="3749040" cy="310896"/>
          </a:xfrm>
          <a:prstGeom prst="rect">
            <a:avLst/>
          </a:prstGeom>
          <a:noFill/>
          <a:ln/>
        </p:spPr>
        <p:txBody>
          <a:bodyPr wrap="square" lIns="0" tIns="0" rIns="0" bIns="0" rtlCol="0" anchor="ctr"/>
          <a:lstStyle/>
          <a:p>
            <a:pPr marL="0" indent="0">
              <a:buNone/>
            </a:pPr>
            <a:r>
              <a:rPr lang="en-US" sz="1200" b="1" dirty="0">
                <a:solidFill>
                  <a:srgbClr val="1F6FD1"/>
                </a:solidFill>
              </a:rPr>
              <a:t>AI-assisted verification</a:t>
            </a:r>
            <a:endParaRPr lang="en-US" sz="1200" dirty="0"/>
          </a:p>
        </p:txBody>
      </p:sp>
      <p:sp>
        <p:nvSpPr>
          <p:cNvPr id="14" name="Text 12"/>
          <p:cNvSpPr txBox="1"/>
          <p:nvPr/>
        </p:nvSpPr>
        <p:spPr>
          <a:xfrm>
            <a:off x="594360" y="2258568"/>
            <a:ext cx="3749040" cy="393192"/>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OCR + Gemini, with admin review</a:t>
            </a:r>
            <a:endParaRPr lang="en-US" sz="1050" dirty="0"/>
          </a:p>
        </p:txBody>
      </p:sp>
      <p:sp>
        <p:nvSpPr>
          <p:cNvPr id="15" name="Shape 13"/>
          <p:cNvSpPr/>
          <p:nvPr/>
        </p:nvSpPr>
        <p:spPr>
          <a:xfrm>
            <a:off x="4663440" y="1856232"/>
            <a:ext cx="4023360" cy="850392"/>
          </a:xfrm>
          <a:prstGeom prst="roundRect">
            <a:avLst>
              <a:gd name="adj" fmla="val 8602"/>
            </a:avLst>
          </a:prstGeom>
          <a:solidFill>
            <a:srgbClr val="FFFFFF"/>
          </a:solidFill>
          <a:ln w="12700">
            <a:solidFill>
              <a:srgbClr val="D3E0F2"/>
            </a:solidFill>
            <a:prstDash val="solid"/>
          </a:ln>
        </p:spPr>
      </p:sp>
      <p:sp>
        <p:nvSpPr>
          <p:cNvPr id="16" name="Text 14"/>
          <p:cNvSpPr txBox="1"/>
          <p:nvPr/>
        </p:nvSpPr>
        <p:spPr>
          <a:xfrm>
            <a:off x="4800600" y="1929384"/>
            <a:ext cx="3749040" cy="310896"/>
          </a:xfrm>
          <a:prstGeom prst="rect">
            <a:avLst/>
          </a:prstGeom>
          <a:noFill/>
          <a:ln/>
        </p:spPr>
        <p:txBody>
          <a:bodyPr wrap="square" lIns="0" tIns="0" rIns="0" bIns="0" rtlCol="0" anchor="ctr"/>
          <a:lstStyle/>
          <a:p>
            <a:pPr marL="0" indent="0">
              <a:buNone/>
            </a:pPr>
            <a:r>
              <a:rPr lang="en-US" sz="1200" b="1" dirty="0">
                <a:solidFill>
                  <a:srgbClr val="1F6FD1"/>
                </a:solidFill>
              </a:rPr>
              <a:t>Central stock</a:t>
            </a:r>
            <a:endParaRPr lang="en-US" sz="1200" dirty="0"/>
          </a:p>
        </p:txBody>
      </p:sp>
      <p:sp>
        <p:nvSpPr>
          <p:cNvPr id="17" name="Text 15"/>
          <p:cNvSpPr txBox="1"/>
          <p:nvPr/>
        </p:nvSpPr>
        <p:spPr>
          <a:xfrm>
            <a:off x="4800600" y="2258568"/>
            <a:ext cx="3749040" cy="393192"/>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Organised medicine records</a:t>
            </a:r>
            <a:endParaRPr lang="en-US" sz="1050" dirty="0"/>
          </a:p>
        </p:txBody>
      </p:sp>
      <p:sp>
        <p:nvSpPr>
          <p:cNvPr id="18" name="Shape 16"/>
          <p:cNvSpPr/>
          <p:nvPr/>
        </p:nvSpPr>
        <p:spPr>
          <a:xfrm>
            <a:off x="457200" y="2798064"/>
            <a:ext cx="4023360" cy="850392"/>
          </a:xfrm>
          <a:prstGeom prst="roundRect">
            <a:avLst>
              <a:gd name="adj" fmla="val 8602"/>
            </a:avLst>
          </a:prstGeom>
          <a:solidFill>
            <a:srgbClr val="FFFFFF"/>
          </a:solidFill>
          <a:ln w="12700">
            <a:solidFill>
              <a:srgbClr val="D3E0F2"/>
            </a:solidFill>
            <a:prstDash val="solid"/>
          </a:ln>
        </p:spPr>
      </p:sp>
      <p:sp>
        <p:nvSpPr>
          <p:cNvPr id="19" name="Text 17"/>
          <p:cNvSpPr txBox="1"/>
          <p:nvPr/>
        </p:nvSpPr>
        <p:spPr>
          <a:xfrm>
            <a:off x="594360" y="2871216"/>
            <a:ext cx="3749040" cy="310896"/>
          </a:xfrm>
          <a:prstGeom prst="rect">
            <a:avLst/>
          </a:prstGeom>
          <a:noFill/>
          <a:ln/>
        </p:spPr>
        <p:txBody>
          <a:bodyPr wrap="square" lIns="0" tIns="0" rIns="0" bIns="0" rtlCol="0" anchor="ctr"/>
          <a:lstStyle/>
          <a:p>
            <a:pPr marL="0" indent="0">
              <a:buNone/>
            </a:pPr>
            <a:r>
              <a:rPr lang="en-US" sz="1200" b="1" dirty="0">
                <a:solidFill>
                  <a:srgbClr val="1F6FD1"/>
                </a:solidFill>
              </a:rPr>
              <a:t>Expiry tracking</a:t>
            </a:r>
            <a:endParaRPr lang="en-US" sz="1200" dirty="0"/>
          </a:p>
        </p:txBody>
      </p:sp>
      <p:sp>
        <p:nvSpPr>
          <p:cNvPr id="20" name="Text 18"/>
          <p:cNvSpPr txBox="1"/>
          <p:nvPr/>
        </p:nvSpPr>
        <p:spPr>
          <a:xfrm>
            <a:off x="594360" y="3200400"/>
            <a:ext cx="3749040" cy="393192"/>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Helps reduce medicine wastage</a:t>
            </a:r>
            <a:endParaRPr lang="en-US" sz="1050" dirty="0"/>
          </a:p>
        </p:txBody>
      </p:sp>
      <p:sp>
        <p:nvSpPr>
          <p:cNvPr id="21" name="Shape 19"/>
          <p:cNvSpPr/>
          <p:nvPr/>
        </p:nvSpPr>
        <p:spPr>
          <a:xfrm>
            <a:off x="4663440" y="2798064"/>
            <a:ext cx="4023360" cy="850392"/>
          </a:xfrm>
          <a:prstGeom prst="roundRect">
            <a:avLst>
              <a:gd name="adj" fmla="val 8602"/>
            </a:avLst>
          </a:prstGeom>
          <a:solidFill>
            <a:srgbClr val="FFFFFF"/>
          </a:solidFill>
          <a:ln w="12700">
            <a:solidFill>
              <a:srgbClr val="D3E0F2"/>
            </a:solidFill>
            <a:prstDash val="solid"/>
          </a:ln>
        </p:spPr>
      </p:sp>
      <p:sp>
        <p:nvSpPr>
          <p:cNvPr id="22" name="Text 20"/>
          <p:cNvSpPr txBox="1"/>
          <p:nvPr/>
        </p:nvSpPr>
        <p:spPr>
          <a:xfrm>
            <a:off x="4800600" y="2871216"/>
            <a:ext cx="3749040" cy="310896"/>
          </a:xfrm>
          <a:prstGeom prst="rect">
            <a:avLst/>
          </a:prstGeom>
          <a:noFill/>
          <a:ln/>
        </p:spPr>
        <p:txBody>
          <a:bodyPr wrap="square" lIns="0" tIns="0" rIns="0" bIns="0" rtlCol="0" anchor="ctr"/>
          <a:lstStyle/>
          <a:p>
            <a:pPr marL="0" indent="0">
              <a:buNone/>
            </a:pPr>
            <a:r>
              <a:rPr lang="en-US" sz="1200" b="1" dirty="0">
                <a:solidFill>
                  <a:srgbClr val="1F6FD1"/>
                </a:solidFill>
              </a:rPr>
              <a:t>Chatbot support</a:t>
            </a:r>
            <a:endParaRPr lang="en-US" sz="1200" dirty="0"/>
          </a:p>
        </p:txBody>
      </p:sp>
      <p:sp>
        <p:nvSpPr>
          <p:cNvPr id="23" name="Text 21"/>
          <p:cNvSpPr txBox="1"/>
          <p:nvPr/>
        </p:nvSpPr>
        <p:spPr>
          <a:xfrm>
            <a:off x="4800600" y="3200400"/>
            <a:ext cx="3749040" cy="393192"/>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Handles routine queries</a:t>
            </a:r>
            <a:endParaRPr lang="en-US" sz="1050" dirty="0"/>
          </a:p>
        </p:txBody>
      </p:sp>
      <p:sp>
        <p:nvSpPr>
          <p:cNvPr id="24" name="Shape 22"/>
          <p:cNvSpPr/>
          <p:nvPr/>
        </p:nvSpPr>
        <p:spPr>
          <a:xfrm>
            <a:off x="457200" y="3739896"/>
            <a:ext cx="4023360" cy="850392"/>
          </a:xfrm>
          <a:prstGeom prst="roundRect">
            <a:avLst>
              <a:gd name="adj" fmla="val 8602"/>
            </a:avLst>
          </a:prstGeom>
          <a:solidFill>
            <a:srgbClr val="FFFFFF"/>
          </a:solidFill>
          <a:ln w="12700">
            <a:solidFill>
              <a:srgbClr val="D3E0F2"/>
            </a:solidFill>
            <a:prstDash val="solid"/>
          </a:ln>
        </p:spPr>
      </p:sp>
      <p:sp>
        <p:nvSpPr>
          <p:cNvPr id="25" name="Text 23"/>
          <p:cNvSpPr txBox="1"/>
          <p:nvPr/>
        </p:nvSpPr>
        <p:spPr>
          <a:xfrm>
            <a:off x="594360" y="3813048"/>
            <a:ext cx="3749040" cy="310896"/>
          </a:xfrm>
          <a:prstGeom prst="rect">
            <a:avLst/>
          </a:prstGeom>
          <a:noFill/>
          <a:ln/>
        </p:spPr>
        <p:txBody>
          <a:bodyPr wrap="square" lIns="0" tIns="0" rIns="0" bIns="0" rtlCol="0" anchor="ctr"/>
          <a:lstStyle/>
          <a:p>
            <a:pPr marL="0" indent="0">
              <a:buNone/>
            </a:pPr>
            <a:r>
              <a:rPr lang="en-US" sz="1200" b="1" dirty="0">
                <a:solidFill>
                  <a:srgbClr val="1F6FD1"/>
                </a:solidFill>
              </a:rPr>
              <a:t>Modular architecture</a:t>
            </a:r>
            <a:endParaRPr lang="en-US" sz="1200" dirty="0"/>
          </a:p>
        </p:txBody>
      </p:sp>
      <p:sp>
        <p:nvSpPr>
          <p:cNvPr id="26" name="Text 24"/>
          <p:cNvSpPr txBox="1"/>
          <p:nvPr/>
        </p:nvSpPr>
        <p:spPr>
          <a:xfrm>
            <a:off x="594360" y="4142232"/>
            <a:ext cx="3749040" cy="393192"/>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Easy to maintain and extend</a:t>
            </a:r>
            <a:endParaRPr lang="en-US" sz="1050" dirty="0"/>
          </a:p>
        </p:txBody>
      </p:sp>
      <p:sp>
        <p:nvSpPr>
          <p:cNvPr id="27" name="Shape 25"/>
          <p:cNvSpPr/>
          <p:nvPr/>
        </p:nvSpPr>
        <p:spPr>
          <a:xfrm>
            <a:off x="4663440" y="3739896"/>
            <a:ext cx="4023360" cy="850392"/>
          </a:xfrm>
          <a:prstGeom prst="roundRect">
            <a:avLst>
              <a:gd name="adj" fmla="val 8602"/>
            </a:avLst>
          </a:prstGeom>
          <a:solidFill>
            <a:srgbClr val="FFFFFF"/>
          </a:solidFill>
          <a:ln w="12700">
            <a:solidFill>
              <a:srgbClr val="D3E0F2"/>
            </a:solidFill>
            <a:prstDash val="solid"/>
          </a:ln>
        </p:spPr>
      </p:sp>
      <p:sp>
        <p:nvSpPr>
          <p:cNvPr id="28" name="Text 26"/>
          <p:cNvSpPr txBox="1"/>
          <p:nvPr/>
        </p:nvSpPr>
        <p:spPr>
          <a:xfrm>
            <a:off x="4800600" y="3813048"/>
            <a:ext cx="3749040" cy="310896"/>
          </a:xfrm>
          <a:prstGeom prst="rect">
            <a:avLst/>
          </a:prstGeom>
          <a:noFill/>
          <a:ln/>
        </p:spPr>
        <p:txBody>
          <a:bodyPr wrap="square" lIns="0" tIns="0" rIns="0" bIns="0" rtlCol="0" anchor="ctr"/>
          <a:lstStyle/>
          <a:p>
            <a:pPr marL="0" indent="0">
              <a:buNone/>
            </a:pPr>
            <a:r>
              <a:rPr lang="en-US" sz="1200" b="1" dirty="0">
                <a:solidFill>
                  <a:srgbClr val="1F6FD1"/>
                </a:solidFill>
              </a:rPr>
              <a:t>Low-cost stack</a:t>
            </a:r>
            <a:endParaRPr lang="en-US" sz="1200" dirty="0"/>
          </a:p>
        </p:txBody>
      </p:sp>
      <p:sp>
        <p:nvSpPr>
          <p:cNvPr id="29" name="Text 27"/>
          <p:cNvSpPr txBox="1"/>
          <p:nvPr/>
        </p:nvSpPr>
        <p:spPr>
          <a:xfrm>
            <a:off x="4800600" y="4142232"/>
            <a:ext cx="3749040" cy="393192"/>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Open-source tools suit small pharmacies</a:t>
            </a:r>
            <a:endParaRPr lang="en-US" sz="1050" dirty="0"/>
          </a:p>
        </p:txBody>
      </p:sp>
      <p:sp>
        <p:nvSpPr>
          <p:cNvPr id="30"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Limitations</a:t>
            </a:r>
            <a:endParaRPr lang="en-US" sz="2400" dirty="0"/>
          </a:p>
        </p:txBody>
      </p:sp>
      <p:sp>
        <p:nvSpPr>
          <p:cNvPr id="6" name="Shape 4"/>
          <p:cNvSpPr/>
          <p:nvPr/>
        </p:nvSpPr>
        <p:spPr>
          <a:xfrm>
            <a:off x="457200" y="960120"/>
            <a:ext cx="4023360" cy="1097280"/>
          </a:xfrm>
          <a:prstGeom prst="roundRect">
            <a:avLst>
              <a:gd name="adj" fmla="val 6667"/>
            </a:avLst>
          </a:prstGeom>
          <a:solidFill>
            <a:srgbClr val="FFFFFF"/>
          </a:solidFill>
          <a:ln w="12700">
            <a:solidFill>
              <a:srgbClr val="D3E0F2"/>
            </a:solidFill>
            <a:prstDash val="solid"/>
          </a:ln>
        </p:spPr>
      </p:sp>
      <p:sp>
        <p:nvSpPr>
          <p:cNvPr id="7" name="Text 5"/>
          <p:cNvSpPr txBox="1"/>
          <p:nvPr/>
        </p:nvSpPr>
        <p:spPr>
          <a:xfrm>
            <a:off x="594360" y="1033272"/>
            <a:ext cx="3749040" cy="310896"/>
          </a:xfrm>
          <a:prstGeom prst="rect">
            <a:avLst/>
          </a:prstGeom>
          <a:noFill/>
          <a:ln/>
        </p:spPr>
        <p:txBody>
          <a:bodyPr wrap="square" lIns="0" tIns="0" rIns="0" bIns="0" rtlCol="0" anchor="ctr"/>
          <a:lstStyle/>
          <a:p>
            <a:pPr marL="0" indent="0">
              <a:buNone/>
            </a:pPr>
            <a:r>
              <a:rPr lang="en-US" sz="1200" b="1" dirty="0">
                <a:solidFill>
                  <a:srgbClr val="E4572E"/>
                </a:solidFill>
              </a:rPr>
              <a:t>Image quality</a:t>
            </a:r>
            <a:endParaRPr lang="en-US" sz="1200" dirty="0"/>
          </a:p>
        </p:txBody>
      </p:sp>
      <p:sp>
        <p:nvSpPr>
          <p:cNvPr id="8" name="Text 6"/>
          <p:cNvSpPr txBox="1"/>
          <p:nvPr/>
        </p:nvSpPr>
        <p:spPr>
          <a:xfrm>
            <a:off x="594360" y="1362456"/>
            <a:ext cx="3749040" cy="64008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OCR accuracy depends on clear images; handwriting is harder</a:t>
            </a:r>
            <a:endParaRPr lang="en-US" sz="1050" dirty="0"/>
          </a:p>
        </p:txBody>
      </p:sp>
      <p:sp>
        <p:nvSpPr>
          <p:cNvPr id="9" name="Shape 7"/>
          <p:cNvSpPr/>
          <p:nvPr/>
        </p:nvSpPr>
        <p:spPr>
          <a:xfrm>
            <a:off x="4663440" y="960120"/>
            <a:ext cx="4023360" cy="1097280"/>
          </a:xfrm>
          <a:prstGeom prst="roundRect">
            <a:avLst>
              <a:gd name="adj" fmla="val 6667"/>
            </a:avLst>
          </a:prstGeom>
          <a:solidFill>
            <a:srgbClr val="FFFFFF"/>
          </a:solidFill>
          <a:ln w="12700">
            <a:solidFill>
              <a:srgbClr val="D3E0F2"/>
            </a:solidFill>
            <a:prstDash val="solid"/>
          </a:ln>
        </p:spPr>
      </p:sp>
      <p:sp>
        <p:nvSpPr>
          <p:cNvPr id="10" name="Text 8"/>
          <p:cNvSpPr txBox="1"/>
          <p:nvPr/>
        </p:nvSpPr>
        <p:spPr>
          <a:xfrm>
            <a:off x="4800600" y="1033272"/>
            <a:ext cx="3749040" cy="310896"/>
          </a:xfrm>
          <a:prstGeom prst="rect">
            <a:avLst/>
          </a:prstGeom>
          <a:noFill/>
          <a:ln/>
        </p:spPr>
        <p:txBody>
          <a:bodyPr wrap="square" lIns="0" tIns="0" rIns="0" bIns="0" rtlCol="0" anchor="ctr"/>
          <a:lstStyle/>
          <a:p>
            <a:pPr marL="0" indent="0">
              <a:buNone/>
            </a:pPr>
            <a:r>
              <a:rPr lang="en-US" sz="1200" b="1" dirty="0">
                <a:solidFill>
                  <a:srgbClr val="E4572E"/>
                </a:solidFill>
              </a:rPr>
              <a:t>Integration pending</a:t>
            </a:r>
            <a:endParaRPr lang="en-US" sz="1200" dirty="0"/>
          </a:p>
        </p:txBody>
      </p:sp>
      <p:sp>
        <p:nvSpPr>
          <p:cNvPr id="11" name="Text 9"/>
          <p:cNvSpPr txBox="1"/>
          <p:nvPr/>
        </p:nvSpPr>
        <p:spPr>
          <a:xfrm>
            <a:off x="4800600" y="1362456"/>
            <a:ext cx="3749040" cy="64008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Live AI, chatbot backend and admin functions need further testing</a:t>
            </a:r>
            <a:endParaRPr lang="en-US" sz="1050" dirty="0"/>
          </a:p>
        </p:txBody>
      </p:sp>
      <p:sp>
        <p:nvSpPr>
          <p:cNvPr id="12" name="Shape 10"/>
          <p:cNvSpPr/>
          <p:nvPr/>
        </p:nvSpPr>
        <p:spPr>
          <a:xfrm>
            <a:off x="457200" y="2148840"/>
            <a:ext cx="4023360" cy="1097280"/>
          </a:xfrm>
          <a:prstGeom prst="roundRect">
            <a:avLst>
              <a:gd name="adj" fmla="val 6667"/>
            </a:avLst>
          </a:prstGeom>
          <a:solidFill>
            <a:srgbClr val="FFFFFF"/>
          </a:solidFill>
          <a:ln w="12700">
            <a:solidFill>
              <a:srgbClr val="D3E0F2"/>
            </a:solidFill>
            <a:prstDash val="solid"/>
          </a:ln>
        </p:spPr>
      </p:sp>
      <p:sp>
        <p:nvSpPr>
          <p:cNvPr id="13" name="Text 11"/>
          <p:cNvSpPr txBox="1"/>
          <p:nvPr/>
        </p:nvSpPr>
        <p:spPr>
          <a:xfrm>
            <a:off x="594360" y="2221992"/>
            <a:ext cx="3749040" cy="310896"/>
          </a:xfrm>
          <a:prstGeom prst="rect">
            <a:avLst/>
          </a:prstGeom>
          <a:noFill/>
          <a:ln/>
        </p:spPr>
        <p:txBody>
          <a:bodyPr wrap="square" lIns="0" tIns="0" rIns="0" bIns="0" rtlCol="0" anchor="ctr"/>
          <a:lstStyle/>
          <a:p>
            <a:pPr marL="0" indent="0">
              <a:buNone/>
            </a:pPr>
            <a:r>
              <a:rPr lang="en-US" sz="1200" b="1" dirty="0">
                <a:solidFill>
                  <a:srgbClr val="E4572E"/>
                </a:solidFill>
              </a:rPr>
              <a:t>AI is support only</a:t>
            </a:r>
            <a:endParaRPr lang="en-US" sz="1200" dirty="0"/>
          </a:p>
        </p:txBody>
      </p:sp>
      <p:sp>
        <p:nvSpPr>
          <p:cNvPr id="14" name="Text 12"/>
          <p:cNvSpPr txBox="1"/>
          <p:nvPr/>
        </p:nvSpPr>
        <p:spPr>
          <a:xfrm>
            <a:off x="594360" y="2551176"/>
            <a:ext cx="3749040" cy="64008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Cannot replace a pharmacist; doubtful cases need admin review</a:t>
            </a:r>
            <a:endParaRPr lang="en-US" sz="1050" dirty="0"/>
          </a:p>
        </p:txBody>
      </p:sp>
      <p:sp>
        <p:nvSpPr>
          <p:cNvPr id="15" name="Shape 13"/>
          <p:cNvSpPr/>
          <p:nvPr/>
        </p:nvSpPr>
        <p:spPr>
          <a:xfrm>
            <a:off x="4663440" y="2148840"/>
            <a:ext cx="4023360" cy="1097280"/>
          </a:xfrm>
          <a:prstGeom prst="roundRect">
            <a:avLst>
              <a:gd name="adj" fmla="val 6667"/>
            </a:avLst>
          </a:prstGeom>
          <a:solidFill>
            <a:srgbClr val="FFFFFF"/>
          </a:solidFill>
          <a:ln w="12700">
            <a:solidFill>
              <a:srgbClr val="D3E0F2"/>
            </a:solidFill>
            <a:prstDash val="solid"/>
          </a:ln>
        </p:spPr>
      </p:sp>
      <p:sp>
        <p:nvSpPr>
          <p:cNvPr id="16" name="Text 14"/>
          <p:cNvSpPr txBox="1"/>
          <p:nvPr/>
        </p:nvSpPr>
        <p:spPr>
          <a:xfrm>
            <a:off x="4800600" y="2221992"/>
            <a:ext cx="3749040" cy="310896"/>
          </a:xfrm>
          <a:prstGeom prst="rect">
            <a:avLst/>
          </a:prstGeom>
          <a:noFill/>
          <a:ln/>
        </p:spPr>
        <p:txBody>
          <a:bodyPr wrap="square" lIns="0" tIns="0" rIns="0" bIns="0" rtlCol="0" anchor="ctr"/>
          <a:lstStyle/>
          <a:p>
            <a:pPr marL="0" indent="0">
              <a:buNone/>
            </a:pPr>
            <a:r>
              <a:rPr lang="en-US" sz="1200" b="1" dirty="0">
                <a:solidFill>
                  <a:srgbClr val="E4572E"/>
                </a:solidFill>
              </a:rPr>
              <a:t>Scalability</a:t>
            </a:r>
            <a:endParaRPr lang="en-US" sz="1200" dirty="0"/>
          </a:p>
        </p:txBody>
      </p:sp>
      <p:sp>
        <p:nvSpPr>
          <p:cNvPr id="17" name="Text 15"/>
          <p:cNvSpPr txBox="1"/>
          <p:nvPr/>
        </p:nvSpPr>
        <p:spPr>
          <a:xfrm>
            <a:off x="4800600" y="2551176"/>
            <a:ext cx="3749040" cy="64008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SQLite may not suit many simultaneous users</a:t>
            </a:r>
            <a:endParaRPr lang="en-US" sz="1050" dirty="0"/>
          </a:p>
        </p:txBody>
      </p:sp>
      <p:sp>
        <p:nvSpPr>
          <p:cNvPr id="18" name="Shape 16"/>
          <p:cNvSpPr/>
          <p:nvPr/>
        </p:nvSpPr>
        <p:spPr>
          <a:xfrm>
            <a:off x="457200" y="3337560"/>
            <a:ext cx="4023360" cy="1097280"/>
          </a:xfrm>
          <a:prstGeom prst="roundRect">
            <a:avLst>
              <a:gd name="adj" fmla="val 6667"/>
            </a:avLst>
          </a:prstGeom>
          <a:solidFill>
            <a:srgbClr val="FFFFFF"/>
          </a:solidFill>
          <a:ln w="12700">
            <a:solidFill>
              <a:srgbClr val="D3E0F2"/>
            </a:solidFill>
            <a:prstDash val="solid"/>
          </a:ln>
        </p:spPr>
      </p:sp>
      <p:sp>
        <p:nvSpPr>
          <p:cNvPr id="19" name="Text 17"/>
          <p:cNvSpPr txBox="1"/>
          <p:nvPr/>
        </p:nvSpPr>
        <p:spPr>
          <a:xfrm>
            <a:off x="594360" y="3410712"/>
            <a:ext cx="3749040" cy="310896"/>
          </a:xfrm>
          <a:prstGeom prst="rect">
            <a:avLst/>
          </a:prstGeom>
          <a:noFill/>
          <a:ln/>
        </p:spPr>
        <p:txBody>
          <a:bodyPr wrap="square" lIns="0" tIns="0" rIns="0" bIns="0" rtlCol="0" anchor="ctr"/>
          <a:lstStyle/>
          <a:p>
            <a:pPr marL="0" indent="0">
              <a:buNone/>
            </a:pPr>
            <a:r>
              <a:rPr lang="en-US" sz="1200" b="1" dirty="0">
                <a:solidFill>
                  <a:srgbClr val="E4572E"/>
                </a:solidFill>
              </a:rPr>
              <a:t>Internet dependency</a:t>
            </a:r>
            <a:endParaRPr lang="en-US" sz="1200" dirty="0"/>
          </a:p>
        </p:txBody>
      </p:sp>
      <p:sp>
        <p:nvSpPr>
          <p:cNvPr id="20" name="Text 18"/>
          <p:cNvSpPr txBox="1"/>
          <p:nvPr/>
        </p:nvSpPr>
        <p:spPr>
          <a:xfrm>
            <a:off x="594360" y="3739896"/>
            <a:ext cx="3749040" cy="64008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Online features and Gemini API need connectivity</a:t>
            </a:r>
            <a:endParaRPr lang="en-US" sz="1050" dirty="0"/>
          </a:p>
        </p:txBody>
      </p:sp>
      <p:sp>
        <p:nvSpPr>
          <p:cNvPr id="21" name="Shape 19"/>
          <p:cNvSpPr/>
          <p:nvPr/>
        </p:nvSpPr>
        <p:spPr>
          <a:xfrm>
            <a:off x="4663440" y="3337560"/>
            <a:ext cx="4023360" cy="1097280"/>
          </a:xfrm>
          <a:prstGeom prst="roundRect">
            <a:avLst>
              <a:gd name="adj" fmla="val 6667"/>
            </a:avLst>
          </a:prstGeom>
          <a:solidFill>
            <a:srgbClr val="FFFFFF"/>
          </a:solidFill>
          <a:ln w="12700">
            <a:solidFill>
              <a:srgbClr val="D3E0F2"/>
            </a:solidFill>
            <a:prstDash val="solid"/>
          </a:ln>
        </p:spPr>
      </p:sp>
      <p:sp>
        <p:nvSpPr>
          <p:cNvPr id="22" name="Text 20"/>
          <p:cNvSpPr txBox="1"/>
          <p:nvPr/>
        </p:nvSpPr>
        <p:spPr>
          <a:xfrm>
            <a:off x="4800600" y="3410712"/>
            <a:ext cx="3749040" cy="310896"/>
          </a:xfrm>
          <a:prstGeom prst="rect">
            <a:avLst/>
          </a:prstGeom>
          <a:noFill/>
          <a:ln/>
        </p:spPr>
        <p:txBody>
          <a:bodyPr wrap="square" lIns="0" tIns="0" rIns="0" bIns="0" rtlCol="0" anchor="ctr"/>
          <a:lstStyle/>
          <a:p>
            <a:pPr marL="0" indent="0">
              <a:buNone/>
            </a:pPr>
            <a:r>
              <a:rPr lang="en-US" sz="1200" b="1" dirty="0">
                <a:solidFill>
                  <a:srgbClr val="E4572E"/>
                </a:solidFill>
              </a:rPr>
              <a:t>Security &amp; testing</a:t>
            </a:r>
            <a:endParaRPr lang="en-US" sz="1200" dirty="0"/>
          </a:p>
        </p:txBody>
      </p:sp>
      <p:sp>
        <p:nvSpPr>
          <p:cNvPr id="23" name="Text 21"/>
          <p:cNvSpPr txBox="1"/>
          <p:nvPr/>
        </p:nvSpPr>
        <p:spPr>
          <a:xfrm>
            <a:off x="4800600" y="3739896"/>
            <a:ext cx="3749040" cy="64008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Needs stronger data protection and real-world testing</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Conclusion</a:t>
            </a:r>
            <a:endParaRPr lang="en-US" sz="2400" dirty="0"/>
          </a:p>
        </p:txBody>
      </p:sp>
      <p:sp>
        <p:nvSpPr>
          <p:cNvPr id="6" name="Shape 4"/>
          <p:cNvSpPr/>
          <p:nvPr/>
        </p:nvSpPr>
        <p:spPr>
          <a:xfrm>
            <a:off x="457200" y="960120"/>
            <a:ext cx="8229600" cy="914400"/>
          </a:xfrm>
          <a:prstGeom prst="roundRect">
            <a:avLst>
              <a:gd name="adj" fmla="val 10000"/>
            </a:avLst>
          </a:prstGeom>
          <a:solidFill>
            <a:srgbClr val="12408A"/>
          </a:solidFill>
          <a:ln w="19050">
            <a:solidFill>
              <a:srgbClr val="1F6FD1"/>
            </a:solidFill>
            <a:prstDash val="solid"/>
          </a:ln>
        </p:spPr>
      </p:sp>
      <p:sp>
        <p:nvSpPr>
          <p:cNvPr id="7" name="Text 5"/>
          <p:cNvSpPr txBox="1"/>
          <p:nvPr/>
        </p:nvSpPr>
        <p:spPr>
          <a:xfrm>
            <a:off x="731520" y="960120"/>
            <a:ext cx="7680960" cy="9144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MediSmart establishes the foundation of a smart pharmacy and prescription system on one web platform.</a:t>
            </a:r>
            <a:endParaRPr lang="en-US" sz="1600" dirty="0"/>
          </a:p>
        </p:txBody>
      </p:sp>
      <p:sp>
        <p:nvSpPr>
          <p:cNvPr id="8" name="Shape 6"/>
          <p:cNvSpPr/>
          <p:nvPr/>
        </p:nvSpPr>
        <p:spPr>
          <a:xfrm>
            <a:off x="457200" y="2103120"/>
            <a:ext cx="2651760" cy="2468880"/>
          </a:xfrm>
          <a:prstGeom prst="roundRect">
            <a:avLst>
              <a:gd name="adj" fmla="val 2963"/>
            </a:avLst>
          </a:prstGeom>
          <a:solidFill>
            <a:srgbClr val="FFFFFF"/>
          </a:solidFill>
          <a:ln w="12700">
            <a:solidFill>
              <a:srgbClr val="D3E0F2"/>
            </a:solidFill>
            <a:prstDash val="solid"/>
          </a:ln>
        </p:spPr>
      </p:sp>
      <p:sp>
        <p:nvSpPr>
          <p:cNvPr id="9" name="Text 7"/>
          <p:cNvSpPr txBox="1"/>
          <p:nvPr/>
        </p:nvSpPr>
        <p:spPr>
          <a:xfrm>
            <a:off x="594360" y="2176272"/>
            <a:ext cx="2377440" cy="310896"/>
          </a:xfrm>
          <a:prstGeom prst="rect">
            <a:avLst/>
          </a:prstGeom>
          <a:noFill/>
          <a:ln/>
        </p:spPr>
        <p:txBody>
          <a:bodyPr wrap="square" lIns="0" tIns="0" rIns="0" bIns="0" rtlCol="0" anchor="ctr"/>
          <a:lstStyle/>
          <a:p>
            <a:pPr marL="0" indent="0">
              <a:buNone/>
            </a:pPr>
            <a:r>
              <a:rPr lang="en-US" sz="1250" b="1" dirty="0">
                <a:solidFill>
                  <a:srgbClr val="2E8B57"/>
                </a:solidFill>
              </a:rPr>
              <a:t>Achieved</a:t>
            </a:r>
            <a:endParaRPr lang="en-US" sz="1250" dirty="0"/>
          </a:p>
        </p:txBody>
      </p:sp>
      <p:sp>
        <p:nvSpPr>
          <p:cNvPr id="10" name="Text 8"/>
          <p:cNvSpPr txBox="1"/>
          <p:nvPr/>
        </p:nvSpPr>
        <p:spPr>
          <a:xfrm>
            <a:off x="594360" y="2505456"/>
            <a:ext cx="2377440" cy="20116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6253D"/>
                </a:solidFill>
              </a:rPr>
              <a:t>Six functional modules designed</a:t>
            </a:r>
            <a:endParaRPr lang="en-US" sz="1050" dirty="0"/>
          </a:p>
          <a:p>
            <a:pPr marL="342900" indent="-342900">
              <a:spcAft>
                <a:spcPts val="300"/>
              </a:spcAft>
              <a:buSzPct val="100000"/>
              <a:buChar char="•"/>
            </a:pPr>
            <a:r>
              <a:rPr lang="en-US" sz="1050" dirty="0">
                <a:solidFill>
                  <a:srgbClr val="16253D"/>
                </a:solidFill>
              </a:rPr>
              <a:t>Core pages built (~80% front-end)</a:t>
            </a:r>
            <a:endParaRPr lang="en-US" sz="1050" dirty="0"/>
          </a:p>
          <a:p>
            <a:pPr marL="342900" indent="-342900">
              <a:spcAft>
                <a:spcPts val="300"/>
              </a:spcAft>
              <a:buSzPct val="100000"/>
              <a:buChar char="•"/>
            </a:pPr>
            <a:r>
              <a:rPr lang="en-US" sz="1050" dirty="0">
                <a:solidFill>
                  <a:srgbClr val="16253D"/>
                </a:solidFill>
              </a:rPr>
              <a:t>Registration, login, search, filtering tested</a:t>
            </a:r>
            <a:endParaRPr lang="en-US" sz="1050" dirty="0"/>
          </a:p>
        </p:txBody>
      </p:sp>
      <p:sp>
        <p:nvSpPr>
          <p:cNvPr id="11" name="Shape 9"/>
          <p:cNvSpPr/>
          <p:nvPr/>
        </p:nvSpPr>
        <p:spPr>
          <a:xfrm>
            <a:off x="3246120" y="2103120"/>
            <a:ext cx="2651760" cy="2468880"/>
          </a:xfrm>
          <a:prstGeom prst="roundRect">
            <a:avLst>
              <a:gd name="adj" fmla="val 2963"/>
            </a:avLst>
          </a:prstGeom>
          <a:solidFill>
            <a:srgbClr val="FFFFFF"/>
          </a:solidFill>
          <a:ln w="12700">
            <a:solidFill>
              <a:srgbClr val="D3E0F2"/>
            </a:solidFill>
            <a:prstDash val="solid"/>
          </a:ln>
        </p:spPr>
      </p:sp>
      <p:sp>
        <p:nvSpPr>
          <p:cNvPr id="12" name="Text 10"/>
          <p:cNvSpPr txBox="1"/>
          <p:nvPr/>
        </p:nvSpPr>
        <p:spPr>
          <a:xfrm>
            <a:off x="3383280" y="2176272"/>
            <a:ext cx="2377440" cy="310896"/>
          </a:xfrm>
          <a:prstGeom prst="rect">
            <a:avLst/>
          </a:prstGeom>
          <a:noFill/>
          <a:ln/>
        </p:spPr>
        <p:txBody>
          <a:bodyPr wrap="square" lIns="0" tIns="0" rIns="0" bIns="0" rtlCol="0" anchor="ctr"/>
          <a:lstStyle/>
          <a:p>
            <a:pPr marL="0" indent="0">
              <a:buNone/>
            </a:pPr>
            <a:r>
              <a:rPr lang="en-US" sz="1250" b="1" dirty="0">
                <a:solidFill>
                  <a:srgbClr val="B26A00"/>
                </a:solidFill>
              </a:rPr>
              <a:t>Still pending</a:t>
            </a:r>
            <a:endParaRPr lang="en-US" sz="1250" dirty="0"/>
          </a:p>
        </p:txBody>
      </p:sp>
      <p:sp>
        <p:nvSpPr>
          <p:cNvPr id="13" name="Text 11"/>
          <p:cNvSpPr txBox="1"/>
          <p:nvPr/>
        </p:nvSpPr>
        <p:spPr>
          <a:xfrm>
            <a:off x="3383280" y="2505456"/>
            <a:ext cx="2377440" cy="20116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6253D"/>
                </a:solidFill>
              </a:rPr>
              <a:t>Live OCR + Gemini integration</a:t>
            </a:r>
            <a:endParaRPr lang="en-US" sz="1050" dirty="0"/>
          </a:p>
          <a:p>
            <a:pPr marL="342900" indent="-342900">
              <a:spcAft>
                <a:spcPts val="300"/>
              </a:spcAft>
              <a:buSzPct val="100000"/>
              <a:buChar char="•"/>
            </a:pPr>
            <a:r>
              <a:rPr lang="en-US" sz="1050" dirty="0">
                <a:solidFill>
                  <a:srgbClr val="16253D"/>
                </a:solidFill>
              </a:rPr>
              <a:t>Full backend and admin testing</a:t>
            </a:r>
            <a:endParaRPr lang="en-US" sz="1050" dirty="0"/>
          </a:p>
          <a:p>
            <a:pPr marL="342900" indent="-342900">
              <a:spcAft>
                <a:spcPts val="300"/>
              </a:spcAft>
              <a:buSzPct val="100000"/>
              <a:buChar char="•"/>
            </a:pPr>
            <a:r>
              <a:rPr lang="en-US" sz="1050" dirty="0">
                <a:solidFill>
                  <a:srgbClr val="16253D"/>
                </a:solidFill>
              </a:rPr>
              <a:t>Live payment</a:t>
            </a:r>
            <a:endParaRPr lang="en-US" sz="1050" dirty="0"/>
          </a:p>
        </p:txBody>
      </p:sp>
      <p:sp>
        <p:nvSpPr>
          <p:cNvPr id="14" name="Shape 12"/>
          <p:cNvSpPr/>
          <p:nvPr/>
        </p:nvSpPr>
        <p:spPr>
          <a:xfrm>
            <a:off x="6035040" y="2103120"/>
            <a:ext cx="2651760" cy="2468880"/>
          </a:xfrm>
          <a:prstGeom prst="roundRect">
            <a:avLst>
              <a:gd name="adj" fmla="val 2963"/>
            </a:avLst>
          </a:prstGeom>
          <a:solidFill>
            <a:srgbClr val="FFFFFF"/>
          </a:solidFill>
          <a:ln w="12700">
            <a:solidFill>
              <a:srgbClr val="D3E0F2"/>
            </a:solidFill>
            <a:prstDash val="solid"/>
          </a:ln>
        </p:spPr>
      </p:sp>
      <p:sp>
        <p:nvSpPr>
          <p:cNvPr id="15" name="Text 13"/>
          <p:cNvSpPr txBox="1"/>
          <p:nvPr/>
        </p:nvSpPr>
        <p:spPr>
          <a:xfrm>
            <a:off x="6172200" y="2176272"/>
            <a:ext cx="2377440" cy="310896"/>
          </a:xfrm>
          <a:prstGeom prst="rect">
            <a:avLst/>
          </a:prstGeom>
          <a:noFill/>
          <a:ln/>
        </p:spPr>
        <p:txBody>
          <a:bodyPr wrap="square" lIns="0" tIns="0" rIns="0" bIns="0" rtlCol="0" anchor="ctr"/>
          <a:lstStyle/>
          <a:p>
            <a:pPr marL="0" indent="0">
              <a:buNone/>
            </a:pPr>
            <a:r>
              <a:rPr lang="en-US" sz="1250" b="1" dirty="0">
                <a:solidFill>
                  <a:srgbClr val="1F6FD1"/>
                </a:solidFill>
              </a:rPr>
              <a:t>Takeaway</a:t>
            </a:r>
            <a:endParaRPr lang="en-US" sz="1250" dirty="0"/>
          </a:p>
        </p:txBody>
      </p:sp>
      <p:sp>
        <p:nvSpPr>
          <p:cNvPr id="16" name="Text 14"/>
          <p:cNvSpPr txBox="1"/>
          <p:nvPr/>
        </p:nvSpPr>
        <p:spPr>
          <a:xfrm>
            <a:off x="6172200" y="2505456"/>
            <a:ext cx="2377440" cy="2011680"/>
          </a:xfrm>
          <a:prstGeom prst="rect">
            <a:avLst/>
          </a:prstGeom>
          <a:noFill/>
          <a:ln/>
        </p:spPr>
        <p:txBody>
          <a:bodyPr wrap="square" lIns="0" tIns="0" rIns="0" bIns="0" rtlCol="0" anchor="t"/>
          <a:lstStyle/>
          <a:p>
            <a:pPr marL="0" indent="0">
              <a:spcAft>
                <a:spcPts val="300"/>
              </a:spcAft>
              <a:buNone/>
            </a:pPr>
            <a:r>
              <a:rPr lang="en-US" sz="1050" dirty="0">
                <a:solidFill>
                  <a:srgbClr val="16253D"/>
                </a:solidFill>
              </a:rPr>
              <a:t>Modular design, AI-assisted verification with human review, and a clear path to complete integration.</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Future Scope</a:t>
            </a:r>
            <a:endParaRPr lang="en-US" sz="2400" dirty="0"/>
          </a:p>
        </p:txBody>
      </p:sp>
      <p:sp>
        <p:nvSpPr>
          <p:cNvPr id="6" name="Shape 4"/>
          <p:cNvSpPr/>
          <p:nvPr/>
        </p:nvSpPr>
        <p:spPr>
          <a:xfrm>
            <a:off x="6675120" y="411480"/>
            <a:ext cx="2011680" cy="219456"/>
          </a:xfrm>
          <a:prstGeom prst="roundRect">
            <a:avLst>
              <a:gd name="adj" fmla="val 50000"/>
            </a:avLst>
          </a:prstGeom>
          <a:solidFill>
            <a:srgbClr val="F2A541"/>
          </a:solidFill>
          <a:ln/>
        </p:spPr>
      </p:sp>
      <p:sp>
        <p:nvSpPr>
          <p:cNvPr id="7" name="Text 5"/>
          <p:cNvSpPr txBox="1"/>
          <p:nvPr/>
        </p:nvSpPr>
        <p:spPr>
          <a:xfrm>
            <a:off x="6675120" y="411480"/>
            <a:ext cx="2011680" cy="219456"/>
          </a:xfrm>
          <a:prstGeom prst="rect">
            <a:avLst/>
          </a:prstGeom>
          <a:noFill/>
          <a:ln/>
        </p:spPr>
        <p:txBody>
          <a:bodyPr wrap="square" lIns="0" tIns="0" rIns="0" bIns="0" rtlCol="0" anchor="ctr"/>
          <a:lstStyle/>
          <a:p>
            <a:pPr marL="0" indent="0" algn="ctr">
              <a:buNone/>
            </a:pPr>
            <a:r>
              <a:rPr lang="en-US" sz="850" b="1" dirty="0">
                <a:solidFill>
                  <a:srgbClr val="FFFFFF"/>
                </a:solidFill>
              </a:rPr>
              <a:t>Planned – not implemented</a:t>
            </a:r>
            <a:endParaRPr lang="en-US" sz="850" dirty="0"/>
          </a:p>
        </p:txBody>
      </p:sp>
      <p:sp>
        <p:nvSpPr>
          <p:cNvPr id="8" name="Shape 6"/>
          <p:cNvSpPr/>
          <p:nvPr/>
        </p:nvSpPr>
        <p:spPr>
          <a:xfrm>
            <a:off x="457200" y="914400"/>
            <a:ext cx="4023360" cy="658368"/>
          </a:xfrm>
          <a:prstGeom prst="roundRect">
            <a:avLst>
              <a:gd name="adj" fmla="val 11111"/>
            </a:avLst>
          </a:prstGeom>
          <a:solidFill>
            <a:srgbClr val="EEF3FB"/>
          </a:solidFill>
          <a:ln w="12700">
            <a:solidFill>
              <a:srgbClr val="D3E0F2"/>
            </a:solidFill>
            <a:prstDash val="solid"/>
          </a:ln>
        </p:spPr>
      </p:sp>
      <p:sp>
        <p:nvSpPr>
          <p:cNvPr id="9" name="Text 7"/>
          <p:cNvSpPr txBox="1"/>
          <p:nvPr/>
        </p:nvSpPr>
        <p:spPr>
          <a:xfrm>
            <a:off x="594360" y="98755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Advanced AI prescription verification (handwritten and printed)</a:t>
            </a:r>
            <a:endParaRPr lang="en-US" sz="1050" dirty="0"/>
          </a:p>
        </p:txBody>
      </p:sp>
      <p:sp>
        <p:nvSpPr>
          <p:cNvPr id="10" name="Shape 8"/>
          <p:cNvSpPr/>
          <p:nvPr/>
        </p:nvSpPr>
        <p:spPr>
          <a:xfrm>
            <a:off x="4663440" y="914400"/>
            <a:ext cx="4023360" cy="658368"/>
          </a:xfrm>
          <a:prstGeom prst="roundRect">
            <a:avLst>
              <a:gd name="adj" fmla="val 11111"/>
            </a:avLst>
          </a:prstGeom>
          <a:solidFill>
            <a:srgbClr val="EEF3FB"/>
          </a:solidFill>
          <a:ln w="12700">
            <a:solidFill>
              <a:srgbClr val="D3E0F2"/>
            </a:solidFill>
            <a:prstDash val="solid"/>
          </a:ln>
        </p:spPr>
      </p:sp>
      <p:sp>
        <p:nvSpPr>
          <p:cNvPr id="11" name="Text 9"/>
          <p:cNvSpPr txBox="1"/>
          <p:nvPr/>
        </p:nvSpPr>
        <p:spPr>
          <a:xfrm>
            <a:off x="4800600" y="98755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Dynamic chatbot with real-time responses</a:t>
            </a:r>
            <a:endParaRPr lang="en-US" sz="1050" dirty="0"/>
          </a:p>
        </p:txBody>
      </p:sp>
      <p:sp>
        <p:nvSpPr>
          <p:cNvPr id="12" name="Shape 10"/>
          <p:cNvSpPr/>
          <p:nvPr/>
        </p:nvSpPr>
        <p:spPr>
          <a:xfrm>
            <a:off x="457200" y="1645920"/>
            <a:ext cx="4023360" cy="658368"/>
          </a:xfrm>
          <a:prstGeom prst="roundRect">
            <a:avLst>
              <a:gd name="adj" fmla="val 11111"/>
            </a:avLst>
          </a:prstGeom>
          <a:solidFill>
            <a:srgbClr val="EEF3FB"/>
          </a:solidFill>
          <a:ln w="12700">
            <a:solidFill>
              <a:srgbClr val="D3E0F2"/>
            </a:solidFill>
            <a:prstDash val="solid"/>
          </a:ln>
        </p:spPr>
      </p:sp>
      <p:sp>
        <p:nvSpPr>
          <p:cNvPr id="13" name="Text 11"/>
          <p:cNvSpPr txBox="1"/>
          <p:nvPr/>
        </p:nvSpPr>
        <p:spPr>
          <a:xfrm>
            <a:off x="594360" y="171907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Online payment integration</a:t>
            </a:r>
            <a:endParaRPr lang="en-US" sz="1050" dirty="0"/>
          </a:p>
        </p:txBody>
      </p:sp>
      <p:sp>
        <p:nvSpPr>
          <p:cNvPr id="14" name="Shape 12"/>
          <p:cNvSpPr/>
          <p:nvPr/>
        </p:nvSpPr>
        <p:spPr>
          <a:xfrm>
            <a:off x="4663440" y="1645920"/>
            <a:ext cx="4023360" cy="658368"/>
          </a:xfrm>
          <a:prstGeom prst="roundRect">
            <a:avLst>
              <a:gd name="adj" fmla="val 11111"/>
            </a:avLst>
          </a:prstGeom>
          <a:solidFill>
            <a:srgbClr val="EEF3FB"/>
          </a:solidFill>
          <a:ln w="12700">
            <a:solidFill>
              <a:srgbClr val="D3E0F2"/>
            </a:solidFill>
            <a:prstDash val="solid"/>
          </a:ln>
        </p:spPr>
      </p:sp>
      <p:sp>
        <p:nvSpPr>
          <p:cNvPr id="15" name="Text 13"/>
          <p:cNvSpPr txBox="1"/>
          <p:nvPr/>
        </p:nvSpPr>
        <p:spPr>
          <a:xfrm>
            <a:off x="4800600" y="171907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Delivery tracking</a:t>
            </a:r>
            <a:endParaRPr lang="en-US" sz="1050" dirty="0"/>
          </a:p>
        </p:txBody>
      </p:sp>
      <p:sp>
        <p:nvSpPr>
          <p:cNvPr id="16" name="Shape 14"/>
          <p:cNvSpPr/>
          <p:nvPr/>
        </p:nvSpPr>
        <p:spPr>
          <a:xfrm>
            <a:off x="457200" y="2377440"/>
            <a:ext cx="4023360" cy="658368"/>
          </a:xfrm>
          <a:prstGeom prst="roundRect">
            <a:avLst>
              <a:gd name="adj" fmla="val 11111"/>
            </a:avLst>
          </a:prstGeom>
          <a:solidFill>
            <a:srgbClr val="EEF3FB"/>
          </a:solidFill>
          <a:ln w="12700">
            <a:solidFill>
              <a:srgbClr val="D3E0F2"/>
            </a:solidFill>
            <a:prstDash val="solid"/>
          </a:ln>
        </p:spPr>
      </p:sp>
      <p:sp>
        <p:nvSpPr>
          <p:cNvPr id="17" name="Text 15"/>
          <p:cNvSpPr txBox="1"/>
          <p:nvPr/>
        </p:nvSpPr>
        <p:spPr>
          <a:xfrm>
            <a:off x="594360" y="245059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Mobile application</a:t>
            </a:r>
            <a:endParaRPr lang="en-US" sz="1050" dirty="0"/>
          </a:p>
        </p:txBody>
      </p:sp>
      <p:sp>
        <p:nvSpPr>
          <p:cNvPr id="18" name="Shape 16"/>
          <p:cNvSpPr/>
          <p:nvPr/>
        </p:nvSpPr>
        <p:spPr>
          <a:xfrm>
            <a:off x="4663440" y="2377440"/>
            <a:ext cx="4023360" cy="658368"/>
          </a:xfrm>
          <a:prstGeom prst="roundRect">
            <a:avLst>
              <a:gd name="adj" fmla="val 11111"/>
            </a:avLst>
          </a:prstGeom>
          <a:solidFill>
            <a:srgbClr val="EEF3FB"/>
          </a:solidFill>
          <a:ln w="12700">
            <a:solidFill>
              <a:srgbClr val="D3E0F2"/>
            </a:solidFill>
            <a:prstDash val="solid"/>
          </a:ln>
        </p:spPr>
      </p:sp>
      <p:sp>
        <p:nvSpPr>
          <p:cNvPr id="19" name="Text 17"/>
          <p:cNvSpPr txBox="1"/>
          <p:nvPr/>
        </p:nvSpPr>
        <p:spPr>
          <a:xfrm>
            <a:off x="4800600" y="245059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Automatic stock updates, low-stock and expiry alerts</a:t>
            </a:r>
            <a:endParaRPr lang="en-US" sz="1050" dirty="0"/>
          </a:p>
        </p:txBody>
      </p:sp>
      <p:sp>
        <p:nvSpPr>
          <p:cNvPr id="20" name="Shape 18"/>
          <p:cNvSpPr/>
          <p:nvPr/>
        </p:nvSpPr>
        <p:spPr>
          <a:xfrm>
            <a:off x="457200" y="3108960"/>
            <a:ext cx="4023360" cy="658368"/>
          </a:xfrm>
          <a:prstGeom prst="roundRect">
            <a:avLst>
              <a:gd name="adj" fmla="val 11111"/>
            </a:avLst>
          </a:prstGeom>
          <a:solidFill>
            <a:srgbClr val="EEF3FB"/>
          </a:solidFill>
          <a:ln w="12700">
            <a:solidFill>
              <a:srgbClr val="D3E0F2"/>
            </a:solidFill>
            <a:prstDash val="solid"/>
          </a:ln>
        </p:spPr>
      </p:sp>
      <p:sp>
        <p:nvSpPr>
          <p:cNvPr id="21" name="Text 19"/>
          <p:cNvSpPr txBox="1"/>
          <p:nvPr/>
        </p:nvSpPr>
        <p:spPr>
          <a:xfrm>
            <a:off x="594360" y="318211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Hospital system integration</a:t>
            </a:r>
            <a:endParaRPr lang="en-US" sz="1050" dirty="0"/>
          </a:p>
        </p:txBody>
      </p:sp>
      <p:sp>
        <p:nvSpPr>
          <p:cNvPr id="22" name="Shape 20"/>
          <p:cNvSpPr/>
          <p:nvPr/>
        </p:nvSpPr>
        <p:spPr>
          <a:xfrm>
            <a:off x="4663440" y="3108960"/>
            <a:ext cx="4023360" cy="658368"/>
          </a:xfrm>
          <a:prstGeom prst="roundRect">
            <a:avLst>
              <a:gd name="adj" fmla="val 11111"/>
            </a:avLst>
          </a:prstGeom>
          <a:solidFill>
            <a:srgbClr val="EEF3FB"/>
          </a:solidFill>
          <a:ln w="12700">
            <a:solidFill>
              <a:srgbClr val="D3E0F2"/>
            </a:solidFill>
            <a:prstDash val="solid"/>
          </a:ln>
        </p:spPr>
      </p:sp>
      <p:sp>
        <p:nvSpPr>
          <p:cNvPr id="23" name="Text 21"/>
          <p:cNvSpPr txBox="1"/>
          <p:nvPr/>
        </p:nvSpPr>
        <p:spPr>
          <a:xfrm>
            <a:off x="4800600" y="318211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Enhanced security and encryption</a:t>
            </a:r>
            <a:endParaRPr lang="en-US" sz="1050" dirty="0"/>
          </a:p>
        </p:txBody>
      </p:sp>
      <p:sp>
        <p:nvSpPr>
          <p:cNvPr id="24" name="Shape 22"/>
          <p:cNvSpPr/>
          <p:nvPr/>
        </p:nvSpPr>
        <p:spPr>
          <a:xfrm>
            <a:off x="457200" y="3840480"/>
            <a:ext cx="4023360" cy="658368"/>
          </a:xfrm>
          <a:prstGeom prst="roundRect">
            <a:avLst>
              <a:gd name="adj" fmla="val 11111"/>
            </a:avLst>
          </a:prstGeom>
          <a:solidFill>
            <a:srgbClr val="EEF3FB"/>
          </a:solidFill>
          <a:ln w="12700">
            <a:solidFill>
              <a:srgbClr val="D3E0F2"/>
            </a:solidFill>
            <a:prstDash val="solid"/>
          </a:ln>
        </p:spPr>
      </p:sp>
      <p:sp>
        <p:nvSpPr>
          <p:cNvPr id="25" name="Text 23"/>
          <p:cNvSpPr txBox="1"/>
          <p:nvPr/>
        </p:nvSpPr>
        <p:spPr>
          <a:xfrm>
            <a:off x="594360" y="391363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Multi-branch pharmacy support</a:t>
            </a:r>
            <a:endParaRPr lang="en-US" sz="1050" dirty="0"/>
          </a:p>
        </p:txBody>
      </p:sp>
      <p:sp>
        <p:nvSpPr>
          <p:cNvPr id="26" name="Shape 24"/>
          <p:cNvSpPr/>
          <p:nvPr/>
        </p:nvSpPr>
        <p:spPr>
          <a:xfrm>
            <a:off x="4663440" y="3840480"/>
            <a:ext cx="4023360" cy="658368"/>
          </a:xfrm>
          <a:prstGeom prst="roundRect">
            <a:avLst>
              <a:gd name="adj" fmla="val 11111"/>
            </a:avLst>
          </a:prstGeom>
          <a:solidFill>
            <a:srgbClr val="EEF3FB"/>
          </a:solidFill>
          <a:ln w="12700">
            <a:solidFill>
              <a:srgbClr val="D3E0F2"/>
            </a:solidFill>
            <a:prstDash val="solid"/>
          </a:ln>
        </p:spPr>
      </p:sp>
      <p:sp>
        <p:nvSpPr>
          <p:cNvPr id="27" name="Text 25"/>
          <p:cNvSpPr txBox="1"/>
          <p:nvPr/>
        </p:nvSpPr>
        <p:spPr>
          <a:xfrm>
            <a:off x="4800600" y="3913632"/>
            <a:ext cx="3749040" cy="310896"/>
          </a:xfrm>
          <a:prstGeom prst="rect">
            <a:avLst/>
          </a:prstGeom>
          <a:noFill/>
          <a:ln/>
        </p:spPr>
        <p:txBody>
          <a:bodyPr wrap="square" lIns="0" tIns="0" rIns="0" bIns="0" rtlCol="0" anchor="ctr"/>
          <a:lstStyle/>
          <a:p>
            <a:pPr marL="0" indent="0">
              <a:buNone/>
            </a:pPr>
            <a:r>
              <a:rPr lang="en-US" sz="1050" b="1" dirty="0">
                <a:solidFill>
                  <a:srgbClr val="1F6FD1"/>
                </a:solidFill>
              </a:rPr>
              <a:t>Performance and scalability upgrade</a:t>
            </a:r>
            <a:endParaRPr lang="en-US" sz="1050" dirty="0"/>
          </a:p>
        </p:txBody>
      </p:sp>
      <p:sp>
        <p:nvSpPr>
          <p:cNvPr id="28"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icon"/>
          <p:cNvSpPr/>
          <p:nvPr/>
        </p:nvSpPr>
        <p:spPr>
          <a:xfrm>
            <a:off x="457200" y="301752"/>
            <a:ext cx="384048" cy="384048"/>
          </a:xfrm>
          <a:prstGeom prst="ellipse">
            <a:avLst/>
          </a:prstGeom>
          <a:solidFill>
            <a:srgbClr val="1F6FD1"/>
          </a:solidFill>
          <a:ln/>
        </p:spPr>
      </p:sp>
      <p:sp>
        <p:nvSpPr>
          <p:cNvPr id="3" name="Shape 1"/>
          <p:cNvSpPr/>
          <p:nvPr/>
        </p:nvSpPr>
        <p:spPr>
          <a:xfrm>
            <a:off x="612648" y="384048"/>
            <a:ext cx="73152" cy="219456"/>
          </a:xfrm>
          <a:prstGeom prst="rect">
            <a:avLst/>
          </a:prstGeom>
          <a:solidFill>
            <a:srgbClr val="FFFFFF"/>
          </a:solidFill>
          <a:ln/>
        </p:spPr>
      </p:sp>
      <p:sp>
        <p:nvSpPr>
          <p:cNvPr id="4" name="Shape 2"/>
          <p:cNvSpPr/>
          <p:nvPr/>
        </p:nvSpPr>
        <p:spPr>
          <a:xfrm>
            <a:off x="539496" y="457200"/>
            <a:ext cx="219456" cy="73152"/>
          </a:xfrm>
          <a:prstGeom prst="rect">
            <a:avLst/>
          </a:prstGeom>
          <a:solidFill>
            <a:srgbClr val="FFFFFF"/>
          </a:solidFill>
          <a:ln/>
        </p:spPr>
      </p:sp>
      <p:sp>
        <p:nvSpPr>
          <p:cNvPr id="5" name="Text 4"/>
          <p:cNvSpPr>
            <a:spLocks noGrp="1"/>
          </p:cNvSpPr>
          <p:nvPr>
            <p:ph type="title" idx="104" hasCustomPrompt="1"/>
          </p:nvPr>
        </p:nvSpPr>
        <p:spPr>
          <a:xfrm>
            <a:off x="914400" y="256032"/>
            <a:ext cx="7772400" cy="548640"/>
          </a:xfrm>
          <a:prstGeom prst="rect">
            <a:avLst/>
          </a:prstGeom>
          <a:noFill/>
          <a:ln/>
        </p:spPr>
        <p:txBody>
          <a:bodyPr wrap="square" lIns="0" tIns="0" rIns="0" bIns="0" rtlCol="0" anchor="ctr"/>
          <a:lstStyle/>
          <a:p>
            <a:pPr marL="0" indent="0" algn="l">
              <a:buNone/>
            </a:pPr>
            <a:r>
              <a:rPr lang="en-US" sz="2400" b="1" dirty="0">
                <a:solidFill>
                  <a:srgbClr val="FFFFFF"/>
                </a:solidFill>
                <a:latin typeface="Georgia" pitchFamily="34" charset="0"/>
                <a:ea typeface="Georgia" pitchFamily="34" charset="-122"/>
                <a:cs typeface="Georgia" pitchFamily="34" charset="-120"/>
              </a:rPr>
              <a:t>References</a:t>
            </a:r>
            <a:endParaRPr lang="en-US" sz="2400" dirty="0"/>
          </a:p>
        </p:txBody>
      </p:sp>
      <p:sp>
        <p:nvSpPr>
          <p:cNvPr id="6" name="Text 4"/>
          <p:cNvSpPr txBox="1"/>
          <p:nvPr/>
        </p:nvSpPr>
        <p:spPr>
          <a:xfrm>
            <a:off x="320040" y="937260"/>
            <a:ext cx="7271886" cy="2804561"/>
          </a:xfrm>
          <a:prstGeom prst="rect">
            <a:avLst/>
          </a:prstGeom>
          <a:noFill/>
          <a:ln/>
        </p:spPr>
        <p:txBody>
          <a:bodyPr wrap="square" lIns="0" tIns="0" rIns="0" bIns="0" rtlCol="0" anchor="t"/>
          <a:lstStyle/>
          <a:p>
            <a:pPr>
              <a:spcAft>
                <a:spcPts val="500"/>
              </a:spcAft>
            </a:pPr>
            <a:endParaRPr lang="en-US" sz="1050" dirty="0">
              <a:solidFill>
                <a:schemeClr val="bg1"/>
              </a:solidFill>
            </a:endParaRPr>
          </a:p>
          <a:p>
            <a:pPr>
              <a:spcAft>
                <a:spcPts val="500"/>
              </a:spcAft>
            </a:pPr>
            <a:r>
              <a:rPr lang="en-US" sz="1050" dirty="0">
                <a:solidFill>
                  <a:schemeClr val="bg1"/>
                </a:solidFill>
              </a:rPr>
              <a:t>[1] “</a:t>
            </a:r>
            <a:r>
              <a:rPr lang="en-US" sz="1050" dirty="0" err="1">
                <a:solidFill>
                  <a:schemeClr val="bg1"/>
                </a:solidFill>
              </a:rPr>
              <a:t>PharmaGo</a:t>
            </a:r>
            <a:r>
              <a:rPr lang="en-US" sz="1050" dirty="0">
                <a:solidFill>
                  <a:schemeClr val="bg1"/>
                </a:solidFill>
              </a:rPr>
              <a:t>—An Online Pharmaceutical Ordering Platform,” in Proc. 3rd Int. Conf. Advancements in Computing (ICAC), 2021.</a:t>
            </a:r>
          </a:p>
          <a:p>
            <a:pPr>
              <a:spcAft>
                <a:spcPts val="500"/>
              </a:spcAft>
            </a:pPr>
            <a:r>
              <a:rPr lang="en-US" sz="1050" dirty="0">
                <a:solidFill>
                  <a:schemeClr val="bg1"/>
                </a:solidFill>
              </a:rPr>
              <a:t>[2] “Medical Prescription Recognition using Machine Learning,” IEEE Conf. Publication, 2021.</a:t>
            </a:r>
          </a:p>
          <a:p>
            <a:pPr>
              <a:spcAft>
                <a:spcPts val="500"/>
              </a:spcAft>
            </a:pPr>
            <a:r>
              <a:rPr lang="en-US" sz="1050" dirty="0">
                <a:solidFill>
                  <a:schemeClr val="bg1"/>
                </a:solidFill>
              </a:rPr>
              <a:t>[3] “Medical Handwritten Prescription Recognition Using CRNN,” in Proc. Int. Conf. Computer, Information and Telecommunication Systems (CITS), 2019.</a:t>
            </a:r>
          </a:p>
          <a:p>
            <a:pPr>
              <a:spcAft>
                <a:spcPts val="500"/>
              </a:spcAft>
            </a:pPr>
            <a:r>
              <a:rPr lang="en-US" sz="1050" dirty="0">
                <a:solidFill>
                  <a:schemeClr val="bg1"/>
                </a:solidFill>
              </a:rPr>
              <a:t>[4] “Doctor’s Handwritten Prescription Recognition System in Multi-Language Using Deep Learning,” in Proc. ICPECTS, 2022.</a:t>
            </a:r>
          </a:p>
          <a:p>
            <a:pPr>
              <a:spcAft>
                <a:spcPts val="500"/>
              </a:spcAft>
            </a:pPr>
            <a:r>
              <a:rPr lang="en-US" sz="1050" dirty="0">
                <a:solidFill>
                  <a:schemeClr val="bg1"/>
                </a:solidFill>
              </a:rPr>
              <a:t>[5] “Intelligent System for Decision-Making in Hospital Pharmacy,” in Proc. IEEE 4th Eurasia Conf. Biomedical Eng., Healthcare and Sustainability (ECBIOS), 2022.</a:t>
            </a:r>
          </a:p>
          <a:p>
            <a:pPr>
              <a:spcAft>
                <a:spcPts val="500"/>
              </a:spcAft>
            </a:pPr>
            <a:r>
              <a:rPr lang="en-US" sz="1050" dirty="0">
                <a:solidFill>
                  <a:schemeClr val="bg1"/>
                </a:solidFill>
              </a:rPr>
              <a:t>[6] “Extraction and Classification of Medicines from Handwritten Medical Prescriptions,” in Proc. 18th Int. Conf. Emerging Technologies (ICET), 2023.</a:t>
            </a:r>
          </a:p>
          <a:p>
            <a:pPr>
              <a:spcAft>
                <a:spcPts val="500"/>
              </a:spcAft>
            </a:pPr>
            <a:r>
              <a:rPr lang="en-US" sz="1050" dirty="0">
                <a:solidFill>
                  <a:schemeClr val="bg1"/>
                </a:solidFill>
              </a:rPr>
              <a:t>[7] “A Deep Neural Network Approach with Pioneering Local Dataset to Recognize Doctor’s Handwritten Prescription in Bangladesh,” in Proc. </a:t>
            </a:r>
            <a:r>
              <a:rPr lang="en-US" sz="1050" dirty="0" err="1">
                <a:solidFill>
                  <a:schemeClr val="bg1"/>
                </a:solidFill>
              </a:rPr>
              <a:t>iCACCESS</a:t>
            </a:r>
            <a:r>
              <a:rPr lang="en-US" sz="1050" dirty="0">
                <a:solidFill>
                  <a:schemeClr val="bg1"/>
                </a:solidFill>
              </a:rPr>
              <a:t>, 2024.</a:t>
            </a:r>
          </a:p>
          <a:p>
            <a:pPr>
              <a:spcAft>
                <a:spcPts val="500"/>
              </a:spcAft>
            </a:pPr>
            <a:r>
              <a:rPr lang="en-US" sz="1050" dirty="0">
                <a:solidFill>
                  <a:schemeClr val="bg1"/>
                </a:solidFill>
              </a:rPr>
              <a:t>[8] “Enhancing Patient Safety with Machine Learning: Automating the Interpretation of Handwritten Medical Prescriptions,” in Proc. 4th Int. Conf. Ubiquitous Computing and Intelligent Information Systems (ICUIS), 2024.</a:t>
            </a:r>
          </a:p>
          <a:p>
            <a:pPr>
              <a:spcAft>
                <a:spcPts val="500"/>
              </a:spcAft>
            </a:pPr>
            <a:r>
              <a:rPr lang="en-US" sz="1050" dirty="0">
                <a:solidFill>
                  <a:schemeClr val="bg1"/>
                </a:solidFill>
              </a:rPr>
              <a:t>[9] “OCR-Based Extraction of Expiry Dates and Batch Numbers in Medicine Packaging for Error-Free Data Entry,” in Proc. 7th Int. Conf. Circuit Power and Computing Technologies (ICCPCT), 2024.</a:t>
            </a:r>
          </a:p>
          <a:p>
            <a:pPr>
              <a:spcAft>
                <a:spcPts val="500"/>
              </a:spcAft>
            </a:pPr>
            <a:r>
              <a:rPr lang="en-US" sz="1050" dirty="0">
                <a:solidFill>
                  <a:schemeClr val="bg1"/>
                </a:solidFill>
              </a:rPr>
              <a:t>[10] “A Deep Learning-Driven OCR Framework for Medical Prescription Analysis Using Hybrid Preprocessing and Multi-Model Architecture,” in Proc. 2nd Int. Conf. Circuits, Power and Intelligent Systems (CCPIS), 2025.</a:t>
            </a:r>
          </a:p>
          <a:p>
            <a:pPr>
              <a:spcAft>
                <a:spcPts val="400"/>
              </a:spcAft>
            </a:pPr>
            <a:endParaRPr lang="en-US" sz="900" dirty="0">
              <a:solidFill>
                <a:schemeClr val="bg1"/>
              </a:solidFill>
            </a:endParaRPr>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DC3FF"/>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1463040"/>
            <a:ext cx="804672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3" name="Text 1"/>
          <p:cNvSpPr txBox="1"/>
          <p:nvPr/>
        </p:nvSpPr>
        <p:spPr>
          <a:xfrm>
            <a:off x="548640" y="2468880"/>
            <a:ext cx="8046720" cy="365760"/>
          </a:xfrm>
          <a:prstGeom prst="rect">
            <a:avLst/>
          </a:prstGeom>
          <a:noFill/>
          <a:ln/>
        </p:spPr>
        <p:txBody>
          <a:bodyPr wrap="square" lIns="0" tIns="0" rIns="0" bIns="0" rtlCol="0" anchor="ctr"/>
          <a:lstStyle/>
          <a:p>
            <a:pPr marL="0" indent="0" algn="ctr">
              <a:buNone/>
            </a:pPr>
            <a:r>
              <a:rPr lang="en-US" sz="1600" dirty="0">
                <a:solidFill>
                  <a:srgbClr val="D6E6FA"/>
                </a:solidFill>
              </a:rPr>
              <a:t>MediSmart – Smart Pharmacy &amp; Prescription System</a:t>
            </a:r>
            <a:endParaRPr lang="en-US" sz="1600" dirty="0"/>
          </a:p>
        </p:txBody>
      </p:sp>
      <p:sp>
        <p:nvSpPr>
          <p:cNvPr id="4" name="Text 2"/>
          <p:cNvSpPr txBox="1"/>
          <p:nvPr/>
        </p:nvSpPr>
        <p:spPr>
          <a:xfrm>
            <a:off x="3581400" y="3017520"/>
            <a:ext cx="7315200" cy="365760"/>
          </a:xfrm>
          <a:prstGeom prst="rect">
            <a:avLst/>
          </a:prstGeom>
          <a:noFill/>
          <a:ln/>
        </p:spPr>
        <p:txBody>
          <a:bodyPr wrap="square" lIns="0" tIns="0" rIns="0" bIns="0" rtlCol="0" anchor="ctr"/>
          <a:lstStyle/>
          <a:p>
            <a:pPr marL="0" indent="0">
              <a:buNone/>
            </a:pPr>
            <a:r>
              <a:rPr lang="en-US" sz="1400" b="1" dirty="0">
                <a:solidFill>
                  <a:srgbClr val="9CC3F5"/>
                </a:solidFill>
              </a:rPr>
              <a:t>Questions &amp; Discussion</a:t>
            </a:r>
            <a:endParaRPr lang="en-US" sz="1400" dirty="0"/>
          </a:p>
        </p:txBody>
      </p:sp>
      <p:sp>
        <p:nvSpPr>
          <p:cNvPr id="5" name="Text 3"/>
          <p:cNvSpPr txBox="1"/>
          <p:nvPr/>
        </p:nvSpPr>
        <p:spPr>
          <a:xfrm>
            <a:off x="548640" y="4297680"/>
            <a:ext cx="8046720" cy="274320"/>
          </a:xfrm>
          <a:prstGeom prst="rect">
            <a:avLst/>
          </a:prstGeom>
          <a:noFill/>
          <a:ln/>
        </p:spPr>
        <p:txBody>
          <a:bodyPr wrap="square" lIns="0" tIns="0" rIns="0" bIns="0" rtlCol="0" anchor="ctr"/>
          <a:lstStyle/>
          <a:p>
            <a:pPr marL="0" indent="0">
              <a:buNone/>
            </a:pPr>
            <a:r>
              <a:rPr lang="en-US" sz="1100" dirty="0">
                <a:solidFill>
                  <a:srgbClr val="FFFFFF"/>
                </a:solidFill>
              </a:rPr>
              <a:t>                                                                    Anjana Jayan · MCA(S3) · 2025-27 . Guide: Mr. Eldhose K Paul</a:t>
            </a:r>
            <a:endParaRPr lang="en-US" sz="1100" dirty="0"/>
          </a:p>
        </p:txBody>
      </p:sp>
    </p:spTree>
  </p:cSld>
  <p:clrMapOvr>
    <a:masterClrMapping/>
  </p:clrMapOvr>
</p:sld>
</file>

<file path=ppt/theme/theme1.xml><?xml version="1.0" encoding="utf-8"?>
<a:theme xmlns:a="http://schemas.openxmlformats.org/drawingml/2006/main" name="MediSmart">
  <a:themeElements>
    <a:clrScheme name="MediSmart">
      <a:dk1>
        <a:srgbClr val="16253D"/>
      </a:dk1>
      <a:lt1>
        <a:srgbClr val="FFFFFF"/>
      </a:lt1>
      <a:dk2>
        <a:srgbClr val="12356B"/>
      </a:dk2>
      <a:lt2>
        <a:srgbClr val="EEF3FB"/>
      </a:lt2>
      <a:accent1>
        <a:srgbClr val="1F6FD1"/>
      </a:accent1>
      <a:accent2>
        <a:srgbClr val="F2A541"/>
      </a:accent2>
      <a:accent3>
        <a:srgbClr val="E4572E"/>
      </a:accent3>
      <a:accent4>
        <a:srgbClr val="5B6B80"/>
      </a:accent4>
      <a:accent5>
        <a:srgbClr val="9CC3F5"/>
      </a:accent5>
      <a:accent6>
        <a:srgbClr val="2E8B57"/>
      </a:accent6>
      <a:hlink>
        <a:srgbClr val="1F6FD1"/>
      </a:hlink>
      <a:folHlink>
        <a:srgbClr val="5B6B80"/>
      </a:folHlink>
    </a:clrScheme>
    <a:fontScheme name="MediSmar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2223</Words>
  <Application>Microsoft Office PowerPoint</Application>
  <PresentationFormat>On-screen Show (16:9)</PresentationFormat>
  <Paragraphs>459</Paragraphs>
  <Slides>36</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Georgia</vt:lpstr>
      <vt:lpstr>Times New Roman</vt:lpstr>
      <vt:lpstr>MediSmart</vt:lpstr>
      <vt:lpstr>PowerPoint Presentation</vt:lpstr>
      <vt:lpstr>Introduction</vt:lpstr>
      <vt:lpstr>Abstract</vt:lpstr>
      <vt:lpstr>Problem Definition</vt:lpstr>
      <vt:lpstr>Objectives</vt:lpstr>
      <vt:lpstr>Existing System</vt:lpstr>
      <vt:lpstr>Proposed System</vt:lpstr>
      <vt:lpstr>Scope of the Project</vt:lpstr>
      <vt:lpstr>Literature Review</vt:lpstr>
      <vt:lpstr>Technologies Used</vt:lpstr>
      <vt:lpstr>Software &amp; Hardware Requirements</vt:lpstr>
      <vt:lpstr>System Architecture</vt:lpstr>
      <vt:lpstr>DFD Level 0</vt:lpstr>
      <vt:lpstr>DFD Level 1 – User </vt:lpstr>
      <vt:lpstr>DFD Level 1 – Admin </vt:lpstr>
      <vt:lpstr>Use Case Diagram </vt:lpstr>
      <vt:lpstr>Class Diagram </vt:lpstr>
      <vt:lpstr>State Diagram </vt:lpstr>
      <vt:lpstr>Activity Diagram </vt:lpstr>
      <vt:lpstr>Sequence Diagram </vt:lpstr>
      <vt:lpstr>Module Description</vt:lpstr>
      <vt:lpstr>Methodology</vt:lpstr>
      <vt:lpstr>Implementation</vt:lpstr>
      <vt:lpstr>Results / Analysis</vt:lpstr>
      <vt:lpstr>Screenshots </vt:lpstr>
      <vt:lpstr>PowerPoint Presentation</vt:lpstr>
      <vt:lpstr>PowerPoint Presentation</vt:lpstr>
      <vt:lpstr>Comparison with Existing System</vt:lpstr>
      <vt:lpstr>Testing</vt:lpstr>
      <vt:lpstr>Demo Video</vt:lpstr>
      <vt:lpstr>Advantages</vt:lpstr>
      <vt:lpstr>Limitations</vt:lpstr>
      <vt:lpstr>Conclusion</vt:lpstr>
      <vt:lpstr>Future Scope</vt:lpstr>
      <vt:lpstr>References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MediSmart – Final Presentation</dc:title>
  <dc:subject>PptxGenJS Presentation</dc:subject>
  <dc:creator>PptxGenJS</dc:creator>
  <cp:lastModifiedBy>anjanajayan237@gmail.com</cp:lastModifiedBy>
  <cp:revision>13</cp:revision>
  <dcterms:created xsi:type="dcterms:W3CDTF">2026-10-04T12:39:58Z</dcterms:created>
  <dcterms:modified xsi:type="dcterms:W3CDTF">2026-10-14T14:07:39Z</dcterms:modified>
</cp:coreProperties>
</file>